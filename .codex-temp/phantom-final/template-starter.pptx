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1402cbcc234909" /><Relationship Type="http://schemas.openxmlformats.org/officeDocument/2006/relationships/extended-properties" Target="/docProps/app.xml" Id="Rf7ea4aa9cdba4bc2" /><Relationship Type="http://schemas.openxmlformats.org/officeDocument/2006/relationships/officeDocument" Target="/ppt/presentation.xml" Id="R19a0f8cebc06475a" /></Relationships>
</file>

<file path=ppt/presentation.xml><?xml version="1.0" encoding="utf-8"?>
<p:presentation xmlns:p="http://schemas.openxmlformats.org/presentationml/2006/main">
  <p:sldMasterIdLst>
    <p:sldMasterId xmlns:r="http://schemas.openxmlformats.org/officeDocument/2006/relationships" id="2147483648" r:id="R58c31eee18904fcc"/>
  </p:sldMasterIdLst>
  <p:notesMasterIdLst>
    <p:notesMasterId xmlns:r="http://schemas.openxmlformats.org/officeDocument/2006/relationships" r:id="Rf8d27ad8e0e14018"/>
  </p:notesMasterIdLst>
  <p:sldIdLst>
    <p:sldId xmlns:r="http://schemas.openxmlformats.org/officeDocument/2006/relationships" id="256" r:id="Rf290ca21b8cb4abd"/>
    <p:sldId xmlns:r="http://schemas.openxmlformats.org/officeDocument/2006/relationships" id="257" r:id="R68cddaa42e99495d"/>
    <p:sldId xmlns:r="http://schemas.openxmlformats.org/officeDocument/2006/relationships" id="258" r:id="R189d60ae89594d50"/>
    <p:sldId xmlns:r="http://schemas.openxmlformats.org/officeDocument/2006/relationships" id="259" r:id="R8d51ca80659f4e74"/>
    <p:sldId xmlns:r="http://schemas.openxmlformats.org/officeDocument/2006/relationships" id="260" r:id="R7b49d6e09a414fc8"/>
    <p:sldId xmlns:r="http://schemas.openxmlformats.org/officeDocument/2006/relationships" id="261" r:id="Re206745ca6064dc0"/>
    <p:sldId xmlns:r="http://schemas.openxmlformats.org/officeDocument/2006/relationships" id="262" r:id="R3c48169f5c9d41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a3ee57f72446e" /><Relationship Type="http://schemas.openxmlformats.org/officeDocument/2006/relationships/slideMaster" Target="/ppt/slideMasters/slideMaster1.xml" Id="R58c31eee18904fcc" /><Relationship Type="http://schemas.openxmlformats.org/officeDocument/2006/relationships/notesMaster" Target="/ppt/notesMasters/notesMaster1.xml" Id="Rf8d27ad8e0e14018" /><Relationship Type="http://schemas.openxmlformats.org/officeDocument/2006/relationships/presProps" Target="/ppt/presProps.xml" Id="R4ad37d45c49a40fd" /><Relationship Type="http://schemas.openxmlformats.org/officeDocument/2006/relationships/tableStyles" Target="/ppt/tableStyles.xml" Id="Rdfa7242046c6482b" /><Relationship Type="http://schemas.openxmlformats.org/officeDocument/2006/relationships/slide" Target="/ppt/slides/slide1.xml" Id="Rf290ca21b8cb4abd" /><Relationship Type="http://schemas.openxmlformats.org/officeDocument/2006/relationships/slide" Target="/ppt/slides/slide2.xml" Id="R68cddaa42e99495d" /><Relationship Type="http://schemas.openxmlformats.org/officeDocument/2006/relationships/slide" Target="/ppt/slides/slide3.xml" Id="R189d60ae89594d50" /><Relationship Type="http://schemas.openxmlformats.org/officeDocument/2006/relationships/slide" Target="/ppt/slides/slide4.xml" Id="R8d51ca80659f4e74" /><Relationship Type="http://schemas.openxmlformats.org/officeDocument/2006/relationships/slide" Target="/ppt/slides/slide5.xml" Id="R7b49d6e09a414fc8" /><Relationship Type="http://schemas.openxmlformats.org/officeDocument/2006/relationships/slide" Target="/ppt/slides/slide6.xml" Id="Re206745ca6064dc0" /><Relationship Type="http://schemas.openxmlformats.org/officeDocument/2006/relationships/slide" Target="/ppt/slides/slide7.xml" Id="R3c48169f5c9d41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e48de9e4ad40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e4170d183a433e" /><Relationship Type="http://schemas.openxmlformats.org/officeDocument/2006/relationships/notesMaster" Target="/ppt/notesMasters/notesMaster1.xml" Id="R70722feca423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b090946ba74285" /><Relationship Type="http://schemas.openxmlformats.org/officeDocument/2006/relationships/notesMaster" Target="/ppt/notesMasters/notesMaster1.xml" Id="R0773238b348740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07083722544558" /><Relationship Type="http://schemas.openxmlformats.org/officeDocument/2006/relationships/notesMaster" Target="/ppt/notesMasters/notesMaster1.xml" Id="Re95547f2cde54f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bb24db5d7748f8" /><Relationship Type="http://schemas.openxmlformats.org/officeDocument/2006/relationships/notesMaster" Target="/ppt/notesMasters/notesMaster1.xml" Id="Racec1813f23748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9254f0ab541cd" /><Relationship Type="http://schemas.openxmlformats.org/officeDocument/2006/relationships/notesMaster" Target="/ppt/notesMasters/notesMaster1.xml" Id="Re6024433f03449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14dcba72bc43a4" /><Relationship Type="http://schemas.openxmlformats.org/officeDocument/2006/relationships/notesMaster" Target="/ppt/notesMasters/notesMaster1.xml" Id="R2590ccbec1d343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359bbf0a374bf5" /><Relationship Type="http://schemas.openxmlformats.org/officeDocument/2006/relationships/notesMaster" Target="/ppt/notesMasters/notesMaster1.xml" Id="R35e38aef141f44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Team Phantom and PrepPilot. State that the selected track is Gen AI and Problem Statement 2 is an AI mock interview platform. Preview the product’s differentiators: resume-aware setup, locked Voice/Text modes, adaptive conversations and measurable improvement.</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PrepPilot begins before the interview room. A PDF resume is stored privately and converted into an editable candidate profile. The candidate then configures role, experience level, interview type, any duration from 5 to 180 minutes, job description and a required interview mode. The selected mode is persisted and cannot be changed mid-interview.</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PrepPilot begins before the interview room. A PDF resume is stored privately and converted into an editable candidate profile. The candidate then configures role, experience level, interview type, any duration from 5 to 180 minutes, job description and a required interview mode. The selected mode is persisted and cannot be changed mid-interview.</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implemented modes. Voice uses the existing browser recorder, Groq transcription and text-to-speech. Text displays the introduction and waits for Begin Interview. In both modes the AI gives a real introduction, the timer begins afterward, and the session ends with a closing message before report generation. Tab and fullscreen safeguards protect session integrity.</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adaptive loop works. The model receives the previous answer, resume, interview type, history and remaining seconds. It changes behavior at the beginning, middle, final five minutes and final minute. Short answers invite deeper follow-ups; detailed answers move the interview onward. Each answer is scored on Technical Accuracy, Clarity, Relevance, Problem Solving and Communication. The report then drives priority areas, quick wins, ordered study steps and practice prompts.</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adaptive loop works. The model receives the previous answer, resume, interview type, history and remaining seconds. It changes behavior at the beginning, middle, final five minutes and final minute. Short answers invite deeper follow-ups; detailed answers move the interview onward. Each answer is scored on Technical Accuracy, Clarity, Relevance, Problem Solving and Communication. The report then drives priority areas, quick wins, ordered study steps and practice prompts.</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implementation. The UI is React on TanStack Start. Typed server functions create, begin, submit and end interviews, protected by CSRF middleware. Groq handles the primary LLM and Whisper transcription, with OpenRouter as a text-generation fallback. Supabase provides authentication, Postgres and private resume storage with row-level security. Mode is stored inside the interview context, while evaluations, reports and roadmaps are persisted separately.</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6f56c9027a4e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b0663c23514f53" /><Relationship Type="http://schemas.openxmlformats.org/officeDocument/2006/relationships/slideLayout" Target="/ppt/slideLayouts/slideLayout1.xml" Id="Re6e47ab594d443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e47ab594d443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1ab23e92414864" /><Relationship Type="http://schemas.openxmlformats.org/officeDocument/2006/relationships/notesSlide" Target="/ppt/notesSlides/notesSlide1.xml" Id="R4988cc5b003d4e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a9bb5f6400431d" /><Relationship Type="http://schemas.openxmlformats.org/officeDocument/2006/relationships/notesSlide" Target="/ppt/notesSlides/notesSlide2.xml" Id="Ra481aea6b81740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423702cd314b7a" /><Relationship Type="http://schemas.openxmlformats.org/officeDocument/2006/relationships/notesSlide" Target="/ppt/notesSlides/notesSlide3.xml" Id="R0f74b25d6bc746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d15acd91da46eb" /><Relationship Type="http://schemas.openxmlformats.org/officeDocument/2006/relationships/notesSlide" Target="/ppt/notesSlides/notesSlide4.xml" Id="R98cd2fb52ba74c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6587e827bf4bd5" /><Relationship Type="http://schemas.openxmlformats.org/officeDocument/2006/relationships/notesSlide" Target="/ppt/notesSlides/notesSlide5.xml" Id="Rba39574d78f140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e34d21e6664ee2" /><Relationship Type="http://schemas.openxmlformats.org/officeDocument/2006/relationships/notesSlide" Target="/ppt/notesSlides/notesSlide6.xml" Id="Rf876bf90c09c44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bf3f832e4243d2" /><Relationship Type="http://schemas.openxmlformats.org/officeDocument/2006/relationships/notesSlide" Target="/ppt/notesSlides/notesSlide7.xml" Id="R0d48a9744e7e43a9" /></Relationships>
</file>

<file path=ppt/slides/slide1.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225078-3C8B-478E-B62E-9F67426E730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oundRect">
            <a:avLst>
              <a:gd name="adj" fmla="val 50000"/>
            </a:avLst>
          </a:prstGeom>
          <a:solidFill xmlns:a="http://schemas.openxmlformats.org/drawingml/2006/main">
            <a:srgbClr val="19B8A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0B3F3F-D6DC-4C86-B6F7-5E954F406620}"/>
              </a:ext>
            </a:extLst>
          </p:cNvPr>
          <p:cNvSpPr>
            <a:spLocks xmlns:a="http://schemas.openxmlformats.org/drawingml/2006/main" noGrp="1"/>
          </p:cNvSpPr>
          <p:nvPr/>
        </p:nvSpPr>
        <p:spPr>
          <a:xfrm xmlns:a="http://schemas.openxmlformats.org/drawingml/2006/main">
            <a:off x="666750" y="5524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68D9D0"/>
                </a:solidFill>
                <a:latin typeface="Aptos"/>
                <a:ea typeface="Aptos"/>
                <a:cs typeface="Aptos"/>
              </a:defRPr>
            </a:pPr>
            <a:r>
              <a:rPr sz="1350" b="1">
                <a:solidFill>
                  <a:srgbClr val="68D9D0"/>
                </a:solidFill>
                <a:latin typeface="Aptos"/>
                <a:ea typeface="Aptos"/>
                <a:cs typeface="Aptos"/>
              </a:rPr>
              <a:t>GEN AI · PROBLEM STATEMENT 2</a:t>
            </a:r>
          </a:p>
        </p:txBody>
      </p:sp>
      <p:sp>
        <p:nvSpPr>
          <p:cNvPr id="3" name="">
            <a:extLst xmlns:a="http://schemas.openxmlformats.org/drawingml/2006/main">
              <a:ext uri="{FF2B5EF4-FFF2-40B4-BE49-F238E27FC236}">
                <a16:creationId xmlns:a16="http://schemas.microsoft.com/office/drawing/2014/main" id="{15CBB8FD-A7BE-423F-98EF-4BC816A36980}"/>
              </a:ext>
            </a:extLst>
          </p:cNvPr>
          <p:cNvSpPr>
            <a:spLocks xmlns:a="http://schemas.openxmlformats.org/drawingml/2006/main" noGrp="1"/>
          </p:cNvSpPr>
          <p:nvPr/>
        </p:nvSpPr>
        <p:spPr>
          <a:xfrm xmlns:a="http://schemas.openxmlformats.org/drawingml/2006/main">
            <a:off x="666750" y="1676400"/>
            <a:ext cx="685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951"/>
          </a:bodyPr>
          <a:lstStyle xmlns:a="http://schemas.openxmlformats.org/drawingml/2006/main"/>
          <a:p xmlns:a="http://schemas.openxmlformats.org/drawingml/2006/main">
            <a:pPr algn="l">
              <a:buNone/>
              <a:defRPr sz="6150" b="1">
                <a:solidFill>
                  <a:srgbClr val="FFFFFF"/>
                </a:solidFill>
                <a:latin typeface="Aptos"/>
                <a:ea typeface="Aptos"/>
                <a:cs typeface="Aptos"/>
              </a:defRPr>
            </a:pPr>
            <a:r>
              <a:rPr sz="6150" b="1">
                <a:solidFill>
                  <a:srgbClr val="FFFFFF"/>
                </a:solidFill>
                <a:latin typeface="Aptos"/>
                <a:ea typeface="Aptos"/>
                <a:cs typeface="Aptos"/>
              </a:rPr>
              <a:t>PrepPilot</a:t>
            </a:r>
          </a:p>
        </p:txBody>
      </p:sp>
      <p:sp>
        <p:nvSpPr>
          <p:cNvPr id="4" name="">
            <a:extLst xmlns:a="http://schemas.openxmlformats.org/drawingml/2006/main">
              <a:ext uri="{FF2B5EF4-FFF2-40B4-BE49-F238E27FC236}">
                <a16:creationId xmlns:a16="http://schemas.microsoft.com/office/drawing/2014/main" id="{3B13ED0B-6732-4CC0-9D43-B572F1CAE713}"/>
              </a:ext>
            </a:extLst>
          </p:cNvPr>
          <p:cNvSpPr>
            <a:spLocks xmlns:a="http://schemas.openxmlformats.org/drawingml/2006/main" noGrp="1"/>
          </p:cNvSpPr>
          <p:nvPr/>
        </p:nvSpPr>
        <p:spPr>
          <a:xfrm xmlns:a="http://schemas.openxmlformats.org/drawingml/2006/main">
            <a:off x="704850" y="285750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0">
                <a:solidFill>
                  <a:srgbClr val="68D9D0"/>
                </a:solidFill>
                <a:latin typeface="Aptos"/>
                <a:ea typeface="Aptos"/>
                <a:cs typeface="Aptos"/>
              </a:defRPr>
            </a:pPr>
            <a:r>
              <a:rPr sz="2400" b="0">
                <a:solidFill>
                  <a:srgbClr val="68D9D0"/>
                </a:solidFill>
                <a:latin typeface="Aptos"/>
                <a:ea typeface="Aptos"/>
                <a:cs typeface="Aptos"/>
              </a:rPr>
              <a:t>From resume to ready.</a:t>
            </a:r>
          </a:p>
        </p:txBody>
      </p:sp>
      <p:sp>
        <p:nvSpPr>
          <p:cNvPr id="5" name="">
            <a:extLst xmlns:a="http://schemas.openxmlformats.org/drawingml/2006/main">
              <a:ext uri="{FF2B5EF4-FFF2-40B4-BE49-F238E27FC236}">
                <a16:creationId xmlns:a16="http://schemas.microsoft.com/office/drawing/2014/main" id="{22BFC63A-1A1B-457F-B4AE-B04B00BF6C93}"/>
              </a:ext>
            </a:extLst>
          </p:cNvPr>
          <p:cNvSpPr>
            <a:spLocks xmlns:a="http://schemas.openxmlformats.org/drawingml/2006/main" noGrp="1"/>
          </p:cNvSpPr>
          <p:nvPr/>
        </p:nvSpPr>
        <p:spPr>
          <a:xfrm xmlns:a="http://schemas.openxmlformats.org/drawingml/2006/main">
            <a:off x="704850" y="361950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950" b="0">
                <a:solidFill>
                  <a:srgbClr val="C7D5DC"/>
                </a:solidFill>
                <a:latin typeface="Aptos"/>
                <a:ea typeface="Aptos"/>
                <a:cs typeface="Aptos"/>
              </a:defRPr>
            </a:pPr>
            <a:r>
              <a:rPr sz="1950" b="0">
                <a:solidFill>
                  <a:srgbClr val="C7D5DC"/>
                </a:solidFill>
                <a:latin typeface="Aptos"/>
                <a:ea typeface="Aptos"/>
                <a:cs typeface="Aptos"/>
              </a:rPr>
              <a:t>Resume-aware · Voice/Text · Adaptive · Measurable</a:t>
            </a:r>
          </a:p>
        </p:txBody>
      </p:sp>
      <p:cxnSp>
        <p:nvCxnSpPr>
          <p:cNvPr id="36" name=""/>
          <p:cNvCxnSpPr/>
          <p:nvPr/>
        </p:nvCxnSpPr>
        <p:spPr>
          <a:xfrm xmlns:a="http://schemas.openxmlformats.org/drawingml/2006/main">
            <a:off x="8382000" y="1047750"/>
            <a:ext cx="0" cy="4762500"/>
          </a:xfrm>
          <a:prstGeom xmlns:a="http://schemas.openxmlformats.org/drawingml/2006/main" prst="straightConnector1">
            <a:avLst/>
          </a:prstGeom>
          <a:ln xmlns:a="http://schemas.openxmlformats.org/drawingml/2006/main" w="19050">
            <a:solidFill>
              <a:srgbClr val="274557"/>
            </a:solidFill>
            <a:prstDash val="solid"/>
          </a:ln>
        </p:spPr>
      </p:cxnSp>
      <p:sp>
        <p:nvSpPr>
          <p:cNvPr id="7" name="">
            <a:extLst xmlns:a="http://schemas.openxmlformats.org/drawingml/2006/main">
              <a:ext uri="{FF2B5EF4-FFF2-40B4-BE49-F238E27FC236}">
                <a16:creationId xmlns:a16="http://schemas.microsoft.com/office/drawing/2014/main" id="{841DD792-F899-45E2-99C6-C4BE2EB91607}"/>
              </a:ext>
            </a:extLst>
          </p:cNvPr>
          <p:cNvSpPr>
            <a:spLocks xmlns:a="http://schemas.openxmlformats.org/drawingml/2006/main" noGrp="1"/>
          </p:cNvSpPr>
          <p:nvPr/>
        </p:nvSpPr>
        <p:spPr>
          <a:xfrm xmlns:a="http://schemas.openxmlformats.org/drawingml/2006/main">
            <a:off x="8858250" y="1428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TEAM</a:t>
            </a:r>
          </a:p>
        </p:txBody>
      </p:sp>
      <p:sp>
        <p:nvSpPr>
          <p:cNvPr id="8" name="">
            <a:extLst xmlns:a="http://schemas.openxmlformats.org/drawingml/2006/main">
              <a:ext uri="{FF2B5EF4-FFF2-40B4-BE49-F238E27FC236}">
                <a16:creationId xmlns:a16="http://schemas.microsoft.com/office/drawing/2014/main" id="{79666CF8-812C-4D49-998E-58EC90704EB8}"/>
              </a:ext>
            </a:extLst>
          </p:cNvPr>
          <p:cNvSpPr>
            <a:spLocks xmlns:a="http://schemas.openxmlformats.org/drawingml/2006/main" noGrp="1"/>
          </p:cNvSpPr>
          <p:nvPr/>
        </p:nvSpPr>
        <p:spPr>
          <a:xfrm xmlns:a="http://schemas.openxmlformats.org/drawingml/2006/main">
            <a:off x="8858250" y="180975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561"/>
          </a:bodyPr>
          <a:lstStyle xmlns:a="http://schemas.openxmlformats.org/drawingml/2006/main"/>
          <a:p xmlns:a="http://schemas.openxmlformats.org/drawingml/2006/main">
            <a:pPr algn="l">
              <a:buNone/>
              <a:defRPr sz="2850" b="1">
                <a:solidFill>
                  <a:srgbClr val="FFFFFF"/>
                </a:solidFill>
                <a:latin typeface="Aptos"/>
                <a:ea typeface="Aptos"/>
                <a:cs typeface="Aptos"/>
              </a:defRPr>
            </a:pPr>
            <a:r>
              <a:rPr sz="2850" b="1">
                <a:solidFill>
                  <a:srgbClr val="FFFFFF"/>
                </a:solidFill>
                <a:latin typeface="Aptos"/>
                <a:ea typeface="Aptos"/>
                <a:cs typeface="Aptos"/>
              </a:rPr>
              <a:t>PHANTOM</a:t>
            </a:r>
          </a:p>
        </p:txBody>
      </p:sp>
      <p:sp>
        <p:nvSpPr>
          <p:cNvPr id="9" name="">
            <a:extLst xmlns:a="http://schemas.openxmlformats.org/drawingml/2006/main">
              <a:ext uri="{FF2B5EF4-FFF2-40B4-BE49-F238E27FC236}">
                <a16:creationId xmlns:a16="http://schemas.microsoft.com/office/drawing/2014/main" id="{925691CC-2BCE-4514-8644-527850CF41C0}"/>
              </a:ext>
            </a:extLst>
          </p:cNvPr>
          <p:cNvSpPr>
            <a:spLocks xmlns:a="http://schemas.openxmlformats.org/drawingml/2006/main" noGrp="1"/>
          </p:cNvSpPr>
          <p:nvPr/>
        </p:nvSpPr>
        <p:spPr>
          <a:xfrm xmlns:a="http://schemas.openxmlformats.org/drawingml/2006/main">
            <a:off x="8858250" y="3143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0">
                <a:solidFill>
                  <a:srgbClr val="68D9D0"/>
                </a:solidFill>
                <a:latin typeface="Aptos"/>
                <a:ea typeface="Aptos"/>
                <a:cs typeface="Aptos"/>
              </a:defRPr>
            </a:pPr>
            <a:r>
              <a:rPr sz="1275" b="0">
                <a:solidFill>
                  <a:srgbClr val="68D9D0"/>
                </a:solidFill>
                <a:latin typeface="Aptos"/>
                <a:ea typeface="Aptos"/>
                <a:cs typeface="Aptos"/>
              </a:rPr>
              <a:t>Team Leader</a:t>
            </a:r>
          </a:p>
        </p:txBody>
      </p:sp>
      <p:sp>
        <p:nvSpPr>
          <p:cNvPr id="10" name="">
            <a:extLst xmlns:a="http://schemas.openxmlformats.org/drawingml/2006/main">
              <a:ext uri="{FF2B5EF4-FFF2-40B4-BE49-F238E27FC236}">
                <a16:creationId xmlns:a16="http://schemas.microsoft.com/office/drawing/2014/main" id="{664FE65C-0C24-45B6-9E32-C2A521B34BFE}"/>
              </a:ext>
            </a:extLst>
          </p:cNvPr>
          <p:cNvSpPr>
            <a:spLocks xmlns:a="http://schemas.openxmlformats.org/drawingml/2006/main" noGrp="1"/>
          </p:cNvSpPr>
          <p:nvPr/>
        </p:nvSpPr>
        <p:spPr>
          <a:xfrm xmlns:a="http://schemas.openxmlformats.org/drawingml/2006/main">
            <a:off x="8858250" y="3476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Suhani Mahajan</a:t>
            </a:r>
          </a:p>
        </p:txBody>
      </p:sp>
      <p:sp>
        <p:nvSpPr>
          <p:cNvPr id="11" name="">
            <a:extLst xmlns:a="http://schemas.openxmlformats.org/drawingml/2006/main">
              <a:ext uri="{FF2B5EF4-FFF2-40B4-BE49-F238E27FC236}">
                <a16:creationId xmlns:a16="http://schemas.microsoft.com/office/drawing/2014/main" id="{E308AD31-FCFB-4E6F-A89D-C3B14BA667A8}"/>
              </a:ext>
            </a:extLst>
          </p:cNvPr>
          <p:cNvSpPr>
            <a:spLocks xmlns:a="http://schemas.openxmlformats.org/drawingml/2006/main" noGrp="1"/>
          </p:cNvSpPr>
          <p:nvPr/>
        </p:nvSpPr>
        <p:spPr>
          <a:xfrm xmlns:a="http://schemas.openxmlformats.org/drawingml/2006/main">
            <a:off x="8858250" y="4286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0">
                <a:solidFill>
                  <a:srgbClr val="68D9D0"/>
                </a:solidFill>
                <a:latin typeface="Aptos"/>
                <a:ea typeface="Aptos"/>
                <a:cs typeface="Aptos"/>
              </a:defRPr>
            </a:pPr>
            <a:r>
              <a:rPr sz="1275" b="0">
                <a:solidFill>
                  <a:srgbClr val="68D9D0"/>
                </a:solidFill>
                <a:latin typeface="Aptos"/>
                <a:ea typeface="Aptos"/>
                <a:cs typeface="Aptos"/>
              </a:rPr>
              <a:t>Team Member</a:t>
            </a:r>
          </a:p>
        </p:txBody>
      </p:sp>
      <p:sp>
        <p:nvSpPr>
          <p:cNvPr id="12" name="">
            <a:extLst xmlns:a="http://schemas.openxmlformats.org/drawingml/2006/main">
              <a:ext uri="{FF2B5EF4-FFF2-40B4-BE49-F238E27FC236}">
                <a16:creationId xmlns:a16="http://schemas.microsoft.com/office/drawing/2014/main" id="{4D0D0510-D95D-427A-A3D2-7D15008B6EC8}"/>
              </a:ext>
            </a:extLst>
          </p:cNvPr>
          <p:cNvSpPr>
            <a:spLocks xmlns:a="http://schemas.openxmlformats.org/drawingml/2006/main" noGrp="1"/>
          </p:cNvSpPr>
          <p:nvPr/>
        </p:nvSpPr>
        <p:spPr>
          <a:xfrm xmlns:a="http://schemas.openxmlformats.org/drawingml/2006/main">
            <a:off x="8858250" y="4619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Divyam Madan</a:t>
            </a:r>
          </a:p>
        </p:txBody>
      </p:sp>
    </p:spTree>
    <p:extLst>
      <p:ext uri="{BB962C8B-B14F-4D97-AF65-F5344CB8AC3E}">
        <p14:creationId xmlns:p14="http://schemas.microsoft.com/office/powerpoint/2010/main" val="1499703517"/>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5CD6F7-C1CC-4A38-B878-C982272BCFAF}"/>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7BF25245-102F-4BE5-BE39-8298E2EF7DF4}"/>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Setup makes every interview candidate-specific</a:t>
            </a:r>
          </a:p>
        </p:txBody>
      </p:sp>
      <p:sp>
        <p:nvSpPr>
          <p:cNvPr id="3" name="">
            <a:extLst xmlns:a="http://schemas.openxmlformats.org/drawingml/2006/main">
              <a:ext uri="{FF2B5EF4-FFF2-40B4-BE49-F238E27FC236}">
                <a16:creationId xmlns:a16="http://schemas.microsoft.com/office/drawing/2014/main" id="{C5BBAE0D-1679-4F31-A3AD-D41ED4FBF3C9}"/>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2EFE8F9-8375-4994-A32A-3BA58AC2B122}"/>
              </a:ext>
            </a:extLst>
          </p:cNvPr>
          <p:cNvSpPr>
            <a:spLocks xmlns:a="http://schemas.openxmlformats.org/drawingml/2006/main" noGrp="1"/>
          </p:cNvSpPr>
          <p:nvPr/>
        </p:nvSpPr>
        <p:spPr>
          <a:xfrm xmlns:a="http://schemas.openxmlformats.org/drawingml/2006/main">
            <a:off x="533400" y="16383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250" b="0">
                <a:solidFill>
                  <a:srgbClr val="10212E"/>
                </a:solidFill>
                <a:latin typeface="Aptos"/>
                <a:ea typeface="Aptos"/>
                <a:cs typeface="Aptos"/>
              </a:defRPr>
            </a:pPr>
            <a:r>
              <a:rPr sz="2250" b="0">
                <a:solidFill>
                  <a:srgbClr val="10212E"/>
                </a:solidFill>
                <a:latin typeface="Aptos"/>
                <a:ea typeface="Aptos"/>
                <a:cs typeface="Aptos"/>
              </a:rPr>
              <a:t>PrepPilot combines resume intelligence with a required, fully configurable interview setup.</a:t>
            </a:r>
          </a:p>
        </p:txBody>
      </p:sp>
      <p:cxnSp>
        <p:nvCxnSpPr>
          <p:cNvPr id="39" name=""/>
          <p:cNvCxnSpPr/>
          <p:nvPr/>
        </p:nvCxnSpPr>
        <p:spPr>
          <a:xfrm xmlns:a="http://schemas.openxmlformats.org/drawingml/2006/main">
            <a:off x="40386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cxnSp>
        <p:nvCxnSpPr>
          <p:cNvPr id="40" name=""/>
          <p:cNvCxnSpPr/>
          <p:nvPr/>
        </p:nvCxnSpPr>
        <p:spPr>
          <a:xfrm xmlns:a="http://schemas.openxmlformats.org/drawingml/2006/main">
            <a:off x="77724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sp>
        <p:nvSpPr>
          <p:cNvPr id="7" name="">
            <a:extLst xmlns:a="http://schemas.openxmlformats.org/drawingml/2006/main">
              <a:ext uri="{FF2B5EF4-FFF2-40B4-BE49-F238E27FC236}">
                <a16:creationId xmlns:a16="http://schemas.microsoft.com/office/drawing/2014/main" id="{01210D17-5090-4D52-8BED-469223730833}"/>
              </a:ext>
            </a:extLst>
          </p:cNvPr>
          <p:cNvSpPr>
            <a:spLocks xmlns:a="http://schemas.openxmlformats.org/drawingml/2006/main" noGrp="1"/>
          </p:cNvSpPr>
          <p:nvPr/>
        </p:nvSpPr>
        <p:spPr>
          <a:xfrm xmlns:a="http://schemas.openxmlformats.org/drawingml/2006/main">
            <a:off x="5334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2B92B409-3C5A-41CA-BB45-B8AD840A7D08}"/>
              </a:ext>
            </a:extLst>
          </p:cNvPr>
          <p:cNvSpPr>
            <a:spLocks xmlns:a="http://schemas.openxmlformats.org/drawingml/2006/main" noGrp="1"/>
          </p:cNvSpPr>
          <p:nvPr/>
        </p:nvSpPr>
        <p:spPr>
          <a:xfrm xmlns:a="http://schemas.openxmlformats.org/drawingml/2006/main">
            <a:off x="5334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95"/>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Resume intelligence</a:t>
            </a:r>
          </a:p>
        </p:txBody>
      </p:sp>
      <p:sp>
        <p:nvSpPr>
          <p:cNvPr id="9" name="">
            <a:extLst xmlns:a="http://schemas.openxmlformats.org/drawingml/2006/main">
              <a:ext uri="{FF2B5EF4-FFF2-40B4-BE49-F238E27FC236}">
                <a16:creationId xmlns:a16="http://schemas.microsoft.com/office/drawing/2014/main" id="{348C120B-4929-4352-B9CD-E3CDFAC8FB4E}"/>
              </a:ext>
            </a:extLst>
          </p:cNvPr>
          <p:cNvSpPr>
            <a:spLocks xmlns:a="http://schemas.openxmlformats.org/drawingml/2006/main" noGrp="1"/>
          </p:cNvSpPr>
          <p:nvPr/>
        </p:nvSpPr>
        <p:spPr>
          <a:xfrm xmlns:a="http://schemas.openxmlformats.org/drawingml/2006/main">
            <a:off x="5334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PDF upload → private storage → editable profile of skills, projects, education and experience.</a:t>
            </a:r>
          </a:p>
        </p:txBody>
      </p:sp>
      <p:sp>
        <p:nvSpPr>
          <p:cNvPr id="10" name="">
            <a:extLst xmlns:a="http://schemas.openxmlformats.org/drawingml/2006/main">
              <a:ext uri="{FF2B5EF4-FFF2-40B4-BE49-F238E27FC236}">
                <a16:creationId xmlns:a16="http://schemas.microsoft.com/office/drawing/2014/main" id="{124AB78B-71D5-4E29-817B-4C608DEE50C5}"/>
              </a:ext>
            </a:extLst>
          </p:cNvPr>
          <p:cNvSpPr>
            <a:spLocks xmlns:a="http://schemas.openxmlformats.org/drawingml/2006/main" noGrp="1"/>
          </p:cNvSpPr>
          <p:nvPr/>
        </p:nvSpPr>
        <p:spPr>
          <a:xfrm xmlns:a="http://schemas.openxmlformats.org/drawingml/2006/main">
            <a:off x="42672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F86654AC-0FCC-4633-9813-E27141765BAB}"/>
              </a:ext>
            </a:extLst>
          </p:cNvPr>
          <p:cNvSpPr>
            <a:spLocks xmlns:a="http://schemas.openxmlformats.org/drawingml/2006/main" noGrp="1"/>
          </p:cNvSpPr>
          <p:nvPr/>
        </p:nvSpPr>
        <p:spPr>
          <a:xfrm xmlns:a="http://schemas.openxmlformats.org/drawingml/2006/main">
            <a:off x="42672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Interview setup</a:t>
            </a:r>
          </a:p>
        </p:txBody>
      </p:sp>
      <p:sp>
        <p:nvSpPr>
          <p:cNvPr id="12" name="">
            <a:extLst xmlns:a="http://schemas.openxmlformats.org/drawingml/2006/main">
              <a:ext uri="{FF2B5EF4-FFF2-40B4-BE49-F238E27FC236}">
                <a16:creationId xmlns:a16="http://schemas.microsoft.com/office/drawing/2014/main" id="{66B55126-15A1-4967-A3B6-B20341682B54}"/>
              </a:ext>
            </a:extLst>
          </p:cNvPr>
          <p:cNvSpPr>
            <a:spLocks xmlns:a="http://schemas.openxmlformats.org/drawingml/2006/main" noGrp="1"/>
          </p:cNvSpPr>
          <p:nvPr/>
        </p:nvSpPr>
        <p:spPr>
          <a:xfrm xmlns:a="http://schemas.openxmlformats.org/drawingml/2006/main">
            <a:off x="42672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Role, experience level, interview type, 5–180 minute duration, job description and review.</a:t>
            </a:r>
          </a:p>
        </p:txBody>
      </p:sp>
      <p:sp>
        <p:nvSpPr>
          <p:cNvPr id="13" name="">
            <a:extLst xmlns:a="http://schemas.openxmlformats.org/drawingml/2006/main">
              <a:ext uri="{FF2B5EF4-FFF2-40B4-BE49-F238E27FC236}">
                <a16:creationId xmlns:a16="http://schemas.microsoft.com/office/drawing/2014/main" id="{D3F28AFD-B5AA-4B41-8B04-6AC88CFE1BF0}"/>
              </a:ext>
            </a:extLst>
          </p:cNvPr>
          <p:cNvSpPr>
            <a:spLocks xmlns:a="http://schemas.openxmlformats.org/drawingml/2006/main" noGrp="1"/>
          </p:cNvSpPr>
          <p:nvPr/>
        </p:nvSpPr>
        <p:spPr>
          <a:xfrm xmlns:a="http://schemas.openxmlformats.org/drawingml/2006/main">
            <a:off x="80010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002BD5AC-81A9-417C-A115-E2FF70D4541E}"/>
              </a:ext>
            </a:extLst>
          </p:cNvPr>
          <p:cNvSpPr>
            <a:spLocks xmlns:a="http://schemas.openxmlformats.org/drawingml/2006/main" noGrp="1"/>
          </p:cNvSpPr>
          <p:nvPr/>
        </p:nvSpPr>
        <p:spPr>
          <a:xfrm xmlns:a="http://schemas.openxmlformats.org/drawingml/2006/main">
            <a:off x="80010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Mode selection</a:t>
            </a:r>
          </a:p>
        </p:txBody>
      </p:sp>
      <p:sp>
        <p:nvSpPr>
          <p:cNvPr id="15" name="">
            <a:extLst xmlns:a="http://schemas.openxmlformats.org/drawingml/2006/main">
              <a:ext uri="{FF2B5EF4-FFF2-40B4-BE49-F238E27FC236}">
                <a16:creationId xmlns:a16="http://schemas.microsoft.com/office/drawing/2014/main" id="{FCC636BD-835B-4CA3-B8A5-4D796B2EF128}"/>
              </a:ext>
            </a:extLst>
          </p:cNvPr>
          <p:cNvSpPr>
            <a:spLocks xmlns:a="http://schemas.openxmlformats.org/drawingml/2006/main" noGrp="1"/>
          </p:cNvSpPr>
          <p:nvPr/>
        </p:nvSpPr>
        <p:spPr>
          <a:xfrm xmlns:a="http://schemas.openxmlformats.org/drawingml/2006/main">
            <a:off x="80010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Voice or Text is required, stored in session context and locked after the interview launches.</a:t>
            </a:r>
          </a:p>
        </p:txBody>
      </p:sp>
      <p:sp>
        <p:nvSpPr>
          <p:cNvPr id="16" name="">
            <a:extLst xmlns:a="http://schemas.openxmlformats.org/drawingml/2006/main">
              <a:ext uri="{FF2B5EF4-FFF2-40B4-BE49-F238E27FC236}">
                <a16:creationId xmlns:a16="http://schemas.microsoft.com/office/drawing/2014/main" id="{25C9BA71-4238-4E6B-AD35-47F2853A654A}"/>
              </a:ext>
            </a:extLst>
          </p:cNvPr>
          <p:cNvSpPr>
            <a:spLocks xmlns:a="http://schemas.openxmlformats.org/drawingml/2006/main" noGrp="1"/>
          </p:cNvSpPr>
          <p:nvPr/>
        </p:nvSpPr>
        <p:spPr>
          <a:xfrm xmlns:a="http://schemas.openxmlformats.org/drawingml/2006/main">
            <a:off x="533400" y="5924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That configuration becomes context for every adaptive question.</a:t>
            </a:r>
          </a:p>
        </p:txBody>
      </p:sp>
    </p:spTree>
    <p:extLst>
      <p:ext uri="{BB962C8B-B14F-4D97-AF65-F5344CB8AC3E}">
        <p14:creationId xmlns:p14="http://schemas.microsoft.com/office/powerpoint/2010/main" val="2098206243"/>
      </p:ext>
    </p:extLst>
  </p:cSld>
</p:sld>
</file>

<file path=ppt/slides/slide3.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5CD6F7-C1CC-4A38-B878-C982272BCFAF}"/>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7BF25245-102F-4BE5-BE39-8298E2EF7DF4}"/>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Setup makes every interview candidate-specific</a:t>
            </a:r>
          </a:p>
        </p:txBody>
      </p:sp>
      <p:sp>
        <p:nvSpPr>
          <p:cNvPr id="3" name="">
            <a:extLst xmlns:a="http://schemas.openxmlformats.org/drawingml/2006/main">
              <a:ext uri="{FF2B5EF4-FFF2-40B4-BE49-F238E27FC236}">
                <a16:creationId xmlns:a16="http://schemas.microsoft.com/office/drawing/2014/main" id="{C5BBAE0D-1679-4F31-A3AD-D41ED4FBF3C9}"/>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2EFE8F9-8375-4994-A32A-3BA58AC2B122}"/>
              </a:ext>
            </a:extLst>
          </p:cNvPr>
          <p:cNvSpPr>
            <a:spLocks xmlns:a="http://schemas.openxmlformats.org/drawingml/2006/main" noGrp="1"/>
          </p:cNvSpPr>
          <p:nvPr/>
        </p:nvSpPr>
        <p:spPr>
          <a:xfrm xmlns:a="http://schemas.openxmlformats.org/drawingml/2006/main">
            <a:off x="533400" y="16383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250" b="0">
                <a:solidFill>
                  <a:srgbClr val="10212E"/>
                </a:solidFill>
                <a:latin typeface="Aptos"/>
                <a:ea typeface="Aptos"/>
                <a:cs typeface="Aptos"/>
              </a:defRPr>
            </a:pPr>
            <a:r>
              <a:rPr sz="2250" b="0">
                <a:solidFill>
                  <a:srgbClr val="10212E"/>
                </a:solidFill>
                <a:latin typeface="Aptos"/>
                <a:ea typeface="Aptos"/>
                <a:cs typeface="Aptos"/>
              </a:rPr>
              <a:t>PrepPilot combines resume intelligence with a required, fully configurable interview setup.</a:t>
            </a:r>
          </a:p>
        </p:txBody>
      </p:sp>
      <p:cxnSp>
        <p:nvCxnSpPr>
          <p:cNvPr id="39" name=""/>
          <p:cNvCxnSpPr/>
          <p:nvPr/>
        </p:nvCxnSpPr>
        <p:spPr>
          <a:xfrm xmlns:a="http://schemas.openxmlformats.org/drawingml/2006/main">
            <a:off x="40386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cxnSp>
        <p:nvCxnSpPr>
          <p:cNvPr id="40" name=""/>
          <p:cNvCxnSpPr/>
          <p:nvPr/>
        </p:nvCxnSpPr>
        <p:spPr>
          <a:xfrm xmlns:a="http://schemas.openxmlformats.org/drawingml/2006/main">
            <a:off x="77724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sp>
        <p:nvSpPr>
          <p:cNvPr id="7" name="">
            <a:extLst xmlns:a="http://schemas.openxmlformats.org/drawingml/2006/main">
              <a:ext uri="{FF2B5EF4-FFF2-40B4-BE49-F238E27FC236}">
                <a16:creationId xmlns:a16="http://schemas.microsoft.com/office/drawing/2014/main" id="{01210D17-5090-4D52-8BED-469223730833}"/>
              </a:ext>
            </a:extLst>
          </p:cNvPr>
          <p:cNvSpPr>
            <a:spLocks xmlns:a="http://schemas.openxmlformats.org/drawingml/2006/main" noGrp="1"/>
          </p:cNvSpPr>
          <p:nvPr/>
        </p:nvSpPr>
        <p:spPr>
          <a:xfrm xmlns:a="http://schemas.openxmlformats.org/drawingml/2006/main">
            <a:off x="5334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2B92B409-3C5A-41CA-BB45-B8AD840A7D08}"/>
              </a:ext>
            </a:extLst>
          </p:cNvPr>
          <p:cNvSpPr>
            <a:spLocks xmlns:a="http://schemas.openxmlformats.org/drawingml/2006/main" noGrp="1"/>
          </p:cNvSpPr>
          <p:nvPr/>
        </p:nvSpPr>
        <p:spPr>
          <a:xfrm xmlns:a="http://schemas.openxmlformats.org/drawingml/2006/main">
            <a:off x="5334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95"/>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Resume intelligence</a:t>
            </a:r>
          </a:p>
        </p:txBody>
      </p:sp>
      <p:sp>
        <p:nvSpPr>
          <p:cNvPr id="9" name="">
            <a:extLst xmlns:a="http://schemas.openxmlformats.org/drawingml/2006/main">
              <a:ext uri="{FF2B5EF4-FFF2-40B4-BE49-F238E27FC236}">
                <a16:creationId xmlns:a16="http://schemas.microsoft.com/office/drawing/2014/main" id="{348C120B-4929-4352-B9CD-E3CDFAC8FB4E}"/>
              </a:ext>
            </a:extLst>
          </p:cNvPr>
          <p:cNvSpPr>
            <a:spLocks xmlns:a="http://schemas.openxmlformats.org/drawingml/2006/main" noGrp="1"/>
          </p:cNvSpPr>
          <p:nvPr/>
        </p:nvSpPr>
        <p:spPr>
          <a:xfrm xmlns:a="http://schemas.openxmlformats.org/drawingml/2006/main">
            <a:off x="5334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PDF upload → private storage → editable profile of skills, projects, education and experience.</a:t>
            </a:r>
          </a:p>
        </p:txBody>
      </p:sp>
      <p:sp>
        <p:nvSpPr>
          <p:cNvPr id="10" name="">
            <a:extLst xmlns:a="http://schemas.openxmlformats.org/drawingml/2006/main">
              <a:ext uri="{FF2B5EF4-FFF2-40B4-BE49-F238E27FC236}">
                <a16:creationId xmlns:a16="http://schemas.microsoft.com/office/drawing/2014/main" id="{124AB78B-71D5-4E29-817B-4C608DEE50C5}"/>
              </a:ext>
            </a:extLst>
          </p:cNvPr>
          <p:cNvSpPr>
            <a:spLocks xmlns:a="http://schemas.openxmlformats.org/drawingml/2006/main" noGrp="1"/>
          </p:cNvSpPr>
          <p:nvPr/>
        </p:nvSpPr>
        <p:spPr>
          <a:xfrm xmlns:a="http://schemas.openxmlformats.org/drawingml/2006/main">
            <a:off x="42672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F86654AC-0FCC-4633-9813-E27141765BAB}"/>
              </a:ext>
            </a:extLst>
          </p:cNvPr>
          <p:cNvSpPr>
            <a:spLocks xmlns:a="http://schemas.openxmlformats.org/drawingml/2006/main" noGrp="1"/>
          </p:cNvSpPr>
          <p:nvPr/>
        </p:nvSpPr>
        <p:spPr>
          <a:xfrm xmlns:a="http://schemas.openxmlformats.org/drawingml/2006/main">
            <a:off x="42672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Interview setup</a:t>
            </a:r>
          </a:p>
        </p:txBody>
      </p:sp>
      <p:sp>
        <p:nvSpPr>
          <p:cNvPr id="12" name="">
            <a:extLst xmlns:a="http://schemas.openxmlformats.org/drawingml/2006/main">
              <a:ext uri="{FF2B5EF4-FFF2-40B4-BE49-F238E27FC236}">
                <a16:creationId xmlns:a16="http://schemas.microsoft.com/office/drawing/2014/main" id="{66B55126-15A1-4967-A3B6-B20341682B54}"/>
              </a:ext>
            </a:extLst>
          </p:cNvPr>
          <p:cNvSpPr>
            <a:spLocks xmlns:a="http://schemas.openxmlformats.org/drawingml/2006/main" noGrp="1"/>
          </p:cNvSpPr>
          <p:nvPr/>
        </p:nvSpPr>
        <p:spPr>
          <a:xfrm xmlns:a="http://schemas.openxmlformats.org/drawingml/2006/main">
            <a:off x="42672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Role, experience level, interview type, 5–180 minute duration, job description and review.</a:t>
            </a:r>
          </a:p>
        </p:txBody>
      </p:sp>
      <p:sp>
        <p:nvSpPr>
          <p:cNvPr id="13" name="">
            <a:extLst xmlns:a="http://schemas.openxmlformats.org/drawingml/2006/main">
              <a:ext uri="{FF2B5EF4-FFF2-40B4-BE49-F238E27FC236}">
                <a16:creationId xmlns:a16="http://schemas.microsoft.com/office/drawing/2014/main" id="{D3F28AFD-B5AA-4B41-8B04-6AC88CFE1BF0}"/>
              </a:ext>
            </a:extLst>
          </p:cNvPr>
          <p:cNvSpPr>
            <a:spLocks xmlns:a="http://schemas.openxmlformats.org/drawingml/2006/main" noGrp="1"/>
          </p:cNvSpPr>
          <p:nvPr/>
        </p:nvSpPr>
        <p:spPr>
          <a:xfrm xmlns:a="http://schemas.openxmlformats.org/drawingml/2006/main">
            <a:off x="80010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002BD5AC-81A9-417C-A115-E2FF70D4541E}"/>
              </a:ext>
            </a:extLst>
          </p:cNvPr>
          <p:cNvSpPr>
            <a:spLocks xmlns:a="http://schemas.openxmlformats.org/drawingml/2006/main" noGrp="1"/>
          </p:cNvSpPr>
          <p:nvPr/>
        </p:nvSpPr>
        <p:spPr>
          <a:xfrm xmlns:a="http://schemas.openxmlformats.org/drawingml/2006/main">
            <a:off x="80010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Mode selection</a:t>
            </a:r>
          </a:p>
        </p:txBody>
      </p:sp>
      <p:sp>
        <p:nvSpPr>
          <p:cNvPr id="15" name="">
            <a:extLst xmlns:a="http://schemas.openxmlformats.org/drawingml/2006/main">
              <a:ext uri="{FF2B5EF4-FFF2-40B4-BE49-F238E27FC236}">
                <a16:creationId xmlns:a16="http://schemas.microsoft.com/office/drawing/2014/main" id="{FCC636BD-835B-4CA3-B8A5-4D796B2EF128}"/>
              </a:ext>
            </a:extLst>
          </p:cNvPr>
          <p:cNvSpPr>
            <a:spLocks xmlns:a="http://schemas.openxmlformats.org/drawingml/2006/main" noGrp="1"/>
          </p:cNvSpPr>
          <p:nvPr/>
        </p:nvSpPr>
        <p:spPr>
          <a:xfrm xmlns:a="http://schemas.openxmlformats.org/drawingml/2006/main">
            <a:off x="80010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Voice or Text is required, stored in session context and locked after the interview launches.</a:t>
            </a:r>
          </a:p>
        </p:txBody>
      </p:sp>
      <p:sp>
        <p:nvSpPr>
          <p:cNvPr id="16" name="">
            <a:extLst xmlns:a="http://schemas.openxmlformats.org/drawingml/2006/main">
              <a:ext uri="{FF2B5EF4-FFF2-40B4-BE49-F238E27FC236}">
                <a16:creationId xmlns:a16="http://schemas.microsoft.com/office/drawing/2014/main" id="{25C9BA71-4238-4E6B-AD35-47F2853A654A}"/>
              </a:ext>
            </a:extLst>
          </p:cNvPr>
          <p:cNvSpPr>
            <a:spLocks xmlns:a="http://schemas.openxmlformats.org/drawingml/2006/main" noGrp="1"/>
          </p:cNvSpPr>
          <p:nvPr/>
        </p:nvSpPr>
        <p:spPr>
          <a:xfrm xmlns:a="http://schemas.openxmlformats.org/drawingml/2006/main">
            <a:off x="533400" y="5924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That configuration becomes context for every adaptive question.</a:t>
            </a:r>
          </a:p>
        </p:txBody>
      </p:sp>
    </p:spTree>
    <p:extLst>
      <p:ext uri="{BB962C8B-B14F-4D97-AF65-F5344CB8AC3E}">
        <p14:creationId xmlns:p14="http://schemas.microsoft.com/office/powerpoint/2010/main" val="20982062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4A2AC1-15C7-4B66-9FCE-063A7B150BEB}"/>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4610D81A-045B-4C50-9297-94BC9316EFC5}"/>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Voice and Text use one adaptive interview engine</a:t>
            </a:r>
          </a:p>
        </p:txBody>
      </p:sp>
      <p:sp>
        <p:nvSpPr>
          <p:cNvPr id="3" name="">
            <a:extLst xmlns:a="http://schemas.openxmlformats.org/drawingml/2006/main">
              <a:ext uri="{FF2B5EF4-FFF2-40B4-BE49-F238E27FC236}">
                <a16:creationId xmlns:a16="http://schemas.microsoft.com/office/drawing/2014/main" id="{3D3D312F-D3E8-49B2-9E13-FE15C2A9464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B9AE4F19-BE18-4472-B487-9CD2D7EAD8BC}"/>
              </a:ext>
            </a:extLst>
          </p:cNvPr>
          <p:cNvSpPr>
            <a:spLocks xmlns:a="http://schemas.openxmlformats.org/drawingml/2006/main" noGrp="1"/>
          </p:cNvSpPr>
          <p:nvPr/>
        </p:nvSpPr>
        <p:spPr>
          <a:xfrm xmlns:a="http://schemas.openxmlformats.org/drawingml/2006/main">
            <a:off x="533400" y="18097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950" b="1">
                <a:solidFill>
                  <a:srgbClr val="19B8A5"/>
                </a:solidFill>
                <a:latin typeface="Aptos"/>
                <a:ea typeface="Aptos"/>
                <a:cs typeface="Aptos"/>
              </a:defRPr>
            </a:pPr>
            <a:r>
              <a:rPr sz="1950" b="1">
                <a:solidFill>
                  <a:srgbClr val="19B8A5"/>
                </a:solidFill>
                <a:latin typeface="Aptos"/>
                <a:ea typeface="Aptos"/>
                <a:cs typeface="Aptos"/>
              </a:rPr>
              <a:t>Two modes, one AI engine</a:t>
            </a:r>
          </a:p>
        </p:txBody>
      </p:sp>
      <p:sp>
        <p:nvSpPr>
          <p:cNvPr id="5" name="">
            <a:extLst xmlns:a="http://schemas.openxmlformats.org/drawingml/2006/main">
              <a:ext uri="{FF2B5EF4-FFF2-40B4-BE49-F238E27FC236}">
                <a16:creationId xmlns:a16="http://schemas.microsoft.com/office/drawing/2014/main" id="{71EBAA0D-532F-4DCB-800D-FF258A671F96}"/>
              </a:ext>
            </a:extLst>
          </p:cNvPr>
          <p:cNvSpPr>
            <a:spLocks xmlns:a="http://schemas.openxmlformats.org/drawingml/2006/main" noGrp="1"/>
          </p:cNvSpPr>
          <p:nvPr/>
        </p:nvSpPr>
        <p:spPr>
          <a:xfrm xmlns:a="http://schemas.openxmlformats.org/drawingml/2006/main">
            <a:off x="533400" y="23812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150" b="1">
                <a:solidFill>
                  <a:srgbClr val="10212E"/>
                </a:solidFill>
                <a:latin typeface="Aptos"/>
                <a:ea typeface="Aptos"/>
                <a:cs typeface="Aptos"/>
              </a:defRPr>
            </a:pPr>
            <a:r>
              <a:rPr sz="3150" b="1">
                <a:solidFill>
                  <a:srgbClr val="10212E"/>
                </a:solidFill>
                <a:latin typeface="Aptos"/>
                <a:ea typeface="Aptos"/>
                <a:cs typeface="Aptos"/>
              </a:rPr>
              <a:t>A natural interview from introduction to closing.</a:t>
            </a:r>
          </a:p>
        </p:txBody>
      </p:sp>
      <p:sp>
        <p:nvSpPr>
          <p:cNvPr id="6" name="">
            <a:extLst xmlns:a="http://schemas.openxmlformats.org/drawingml/2006/main">
              <a:ext uri="{FF2B5EF4-FFF2-40B4-BE49-F238E27FC236}">
                <a16:creationId xmlns:a16="http://schemas.microsoft.com/office/drawing/2014/main" id="{46B05042-C04C-45F0-9259-9EB247846F1A}"/>
              </a:ext>
            </a:extLst>
          </p:cNvPr>
          <p:cNvSpPr>
            <a:spLocks xmlns:a="http://schemas.openxmlformats.org/drawingml/2006/main" noGrp="1"/>
          </p:cNvSpPr>
          <p:nvPr/>
        </p:nvSpPr>
        <p:spPr>
          <a:xfrm xmlns:a="http://schemas.openxmlformats.org/drawingml/2006/main">
            <a:off x="533400" y="40957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650" b="0">
                <a:solidFill>
                  <a:srgbClr val="5D7080"/>
                </a:solidFill>
                <a:latin typeface="Aptos"/>
                <a:ea typeface="Aptos"/>
                <a:cs typeface="Aptos"/>
              </a:defRPr>
            </a:pPr>
            <a:r>
              <a:rPr sz="1650" b="0">
                <a:solidFill>
                  <a:srgbClr val="5D7080"/>
                </a:solidFill>
                <a:latin typeface="Aptos"/>
                <a:ea typeface="Aptos"/>
                <a:cs typeface="Aptos"/>
              </a:rPr>
              <a:t>Voice speaks the introduction with TTS; Text waits for Begin Interview. The timer starts only after the introduction.</a:t>
            </a:r>
          </a:p>
        </p:txBody>
      </p:sp>
      <p:cxnSp>
        <p:nvCxnSpPr>
          <p:cNvPr id="44" name=""/>
          <p:cNvCxnSpPr/>
          <p:nvPr/>
        </p:nvCxnSpPr>
        <p:spPr>
          <a:xfrm xmlns:a="http://schemas.openxmlformats.org/drawingml/2006/main">
            <a:off x="6191250" y="2095500"/>
            <a:ext cx="0" cy="3429000"/>
          </a:xfrm>
          <a:prstGeom xmlns:a="http://schemas.openxmlformats.org/drawingml/2006/main" prst="straightConnector1">
            <a:avLst/>
          </a:prstGeom>
          <a:ln xmlns:a="http://schemas.openxmlformats.org/drawingml/2006/main" w="19050">
            <a:solidFill>
              <a:srgbClr val="C9D9DC"/>
            </a:solidFill>
            <a:prstDash val="solid"/>
          </a:ln>
        </p:spPr>
      </p:cxnSp>
      <p:sp>
        <p:nvSpPr>
          <p:cNvPr id="8" name="">
            <a:extLst xmlns:a="http://schemas.openxmlformats.org/drawingml/2006/main">
              <a:ext uri="{FF2B5EF4-FFF2-40B4-BE49-F238E27FC236}">
                <a16:creationId xmlns:a16="http://schemas.microsoft.com/office/drawing/2014/main" id="{D3B24727-4608-467B-8723-DF01F7E642B2}"/>
              </a:ext>
            </a:extLst>
          </p:cNvPr>
          <p:cNvSpPr>
            <a:spLocks xmlns:a="http://schemas.openxmlformats.org/drawingml/2006/main" noGrp="1"/>
          </p:cNvSpPr>
          <p:nvPr/>
        </p:nvSpPr>
        <p:spPr>
          <a:xfrm xmlns:a="http://schemas.openxmlformats.org/drawingml/2006/main">
            <a:off x="6762750" y="1809750"/>
            <a:ext cx="4476750" cy="1095375"/>
          </a:xfrm>
          <a:prstGeom xmlns:a="http://schemas.openxmlformats.org/drawingml/2006/main" prst="roundRect">
            <a:avLst>
              <a:gd name="adj" fmla="val 10435"/>
            </a:avLst>
          </a:prstGeom>
          <a:solidFill xmlns:a="http://schemas.openxmlformats.org/drawingml/2006/main">
            <a:srgbClr val="DDF7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A04EBB-4811-4274-849B-F46C31265588}"/>
              </a:ext>
            </a:extLst>
          </p:cNvPr>
          <p:cNvSpPr>
            <a:spLocks xmlns:a="http://schemas.openxmlformats.org/drawingml/2006/main" noGrp="1"/>
          </p:cNvSpPr>
          <p:nvPr/>
        </p:nvSpPr>
        <p:spPr>
          <a:xfrm xmlns:a="http://schemas.openxmlformats.org/drawingml/2006/main">
            <a:off x="7067550" y="2000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VOICE MODE</a:t>
            </a:r>
          </a:p>
        </p:txBody>
      </p:sp>
      <p:sp>
        <p:nvSpPr>
          <p:cNvPr id="10" name="">
            <a:extLst xmlns:a="http://schemas.openxmlformats.org/drawingml/2006/main">
              <a:ext uri="{FF2B5EF4-FFF2-40B4-BE49-F238E27FC236}">
                <a16:creationId xmlns:a16="http://schemas.microsoft.com/office/drawing/2014/main" id="{5B2DA56A-E310-479E-9DC5-A0DAD2604BA5}"/>
              </a:ext>
            </a:extLst>
          </p:cNvPr>
          <p:cNvSpPr>
            <a:spLocks xmlns:a="http://schemas.openxmlformats.org/drawingml/2006/main" noGrp="1"/>
          </p:cNvSpPr>
          <p:nvPr/>
        </p:nvSpPr>
        <p:spPr>
          <a:xfrm xmlns:a="http://schemas.openxmlformats.org/drawingml/2006/main">
            <a:off x="7067550" y="23336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875" b="1">
                <a:solidFill>
                  <a:srgbClr val="10212E"/>
                </a:solidFill>
                <a:latin typeface="Aptos"/>
                <a:ea typeface="Aptos"/>
                <a:cs typeface="Aptos"/>
              </a:defRPr>
            </a:pPr>
            <a:r>
              <a:rPr sz="1875" b="1">
                <a:solidFill>
                  <a:srgbClr val="10212E"/>
                </a:solidFill>
                <a:latin typeface="Aptos"/>
                <a:ea typeface="Aptos"/>
                <a:cs typeface="Aptos"/>
              </a:rPr>
              <a:t>TTS intro · mic · Groq STT</a:t>
            </a:r>
          </a:p>
        </p:txBody>
      </p:sp>
      <p:sp>
        <p:nvSpPr>
          <p:cNvPr id="11" name="">
            <a:extLst xmlns:a="http://schemas.openxmlformats.org/drawingml/2006/main">
              <a:ext uri="{FF2B5EF4-FFF2-40B4-BE49-F238E27FC236}">
                <a16:creationId xmlns:a16="http://schemas.microsoft.com/office/drawing/2014/main" id="{DC604C5C-89C0-4A57-A2F8-1B64CDBD7278}"/>
              </a:ext>
            </a:extLst>
          </p:cNvPr>
          <p:cNvSpPr>
            <a:spLocks xmlns:a="http://schemas.openxmlformats.org/drawingml/2006/main" noGrp="1"/>
          </p:cNvSpPr>
          <p:nvPr/>
        </p:nvSpPr>
        <p:spPr>
          <a:xfrm xmlns:a="http://schemas.openxmlformats.org/drawingml/2006/main">
            <a:off x="6762750" y="3238500"/>
            <a:ext cx="4476750" cy="1095375"/>
          </a:xfrm>
          <a:prstGeom xmlns:a="http://schemas.openxmlformats.org/drawingml/2006/main" prst="roundRect">
            <a:avLst>
              <a:gd name="adj" fmla="val 10435"/>
            </a:avLst>
          </a:prstGeom>
          <a:solidFill xmlns:a="http://schemas.openxmlformats.org/drawingml/2006/main">
            <a:srgbClr val="10263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D787F9-3E8F-47DF-9CB8-4F5A217120E5}"/>
              </a:ext>
            </a:extLst>
          </p:cNvPr>
          <p:cNvSpPr>
            <a:spLocks xmlns:a="http://schemas.openxmlformats.org/drawingml/2006/main" noGrp="1"/>
          </p:cNvSpPr>
          <p:nvPr/>
        </p:nvSpPr>
        <p:spPr>
          <a:xfrm xmlns:a="http://schemas.openxmlformats.org/drawingml/2006/main">
            <a:off x="7067550" y="34290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TEXT MODE</a:t>
            </a:r>
          </a:p>
        </p:txBody>
      </p:sp>
      <p:sp>
        <p:nvSpPr>
          <p:cNvPr id="13" name="">
            <a:extLst xmlns:a="http://schemas.openxmlformats.org/drawingml/2006/main">
              <a:ext uri="{FF2B5EF4-FFF2-40B4-BE49-F238E27FC236}">
                <a16:creationId xmlns:a16="http://schemas.microsoft.com/office/drawing/2014/main" id="{BAE5AEDA-EDCD-4284-B1E6-16573E4932CD}"/>
              </a:ext>
            </a:extLst>
          </p:cNvPr>
          <p:cNvSpPr>
            <a:spLocks xmlns:a="http://schemas.openxmlformats.org/drawingml/2006/main" noGrp="1"/>
          </p:cNvSpPr>
          <p:nvPr/>
        </p:nvSpPr>
        <p:spPr>
          <a:xfrm xmlns:a="http://schemas.openxmlformats.org/drawingml/2006/main">
            <a:off x="7067550" y="37623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950"/>
          </a:bodyPr>
          <a:lstStyle xmlns:a="http://schemas.openxmlformats.org/drawingml/2006/main"/>
          <a:p xmlns:a="http://schemas.openxmlformats.org/drawingml/2006/main">
            <a:pPr algn="l">
              <a:buNone/>
              <a:defRPr sz="1875" b="1">
                <a:solidFill>
                  <a:srgbClr val="FFFFFF"/>
                </a:solidFill>
                <a:latin typeface="Aptos"/>
                <a:ea typeface="Aptos"/>
                <a:cs typeface="Aptos"/>
              </a:defRPr>
            </a:pPr>
            <a:r>
              <a:rPr sz="1875" b="1">
                <a:solidFill>
                  <a:srgbClr val="FFFFFF"/>
                </a:solidFill>
                <a:latin typeface="Aptos"/>
                <a:ea typeface="Aptos"/>
                <a:cs typeface="Aptos"/>
              </a:rPr>
              <a:t>Intro · Begin Interview · typed answers</a:t>
            </a:r>
          </a:p>
        </p:txBody>
      </p:sp>
      <p:sp>
        <p:nvSpPr>
          <p:cNvPr id="14" name="">
            <a:extLst xmlns:a="http://schemas.openxmlformats.org/drawingml/2006/main">
              <a:ext uri="{FF2B5EF4-FFF2-40B4-BE49-F238E27FC236}">
                <a16:creationId xmlns:a16="http://schemas.microsoft.com/office/drawing/2014/main" id="{2AF2DD6C-9416-4645-987D-F797F1F5CDB9}"/>
              </a:ext>
            </a:extLst>
          </p:cNvPr>
          <p:cNvSpPr>
            <a:spLocks xmlns:a="http://schemas.openxmlformats.org/drawingml/2006/main" noGrp="1"/>
          </p:cNvSpPr>
          <p:nvPr/>
        </p:nvSpPr>
        <p:spPr>
          <a:xfrm xmlns:a="http://schemas.openxmlformats.org/drawingml/2006/main">
            <a:off x="6762750" y="4667250"/>
            <a:ext cx="4476750" cy="1095375"/>
          </a:xfrm>
          <a:prstGeom xmlns:a="http://schemas.openxmlformats.org/drawingml/2006/main" prst="roundRect">
            <a:avLst>
              <a:gd name="adj" fmla="val 10435"/>
            </a:avLst>
          </a:prstGeom>
          <a:solidFill xmlns:a="http://schemas.openxmlformats.org/drawingml/2006/main">
            <a:srgbClr val="DDF7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C9587F-FF86-44D3-947C-FBA71B15FA70}"/>
              </a:ext>
            </a:extLst>
          </p:cNvPr>
          <p:cNvSpPr>
            <a:spLocks xmlns:a="http://schemas.openxmlformats.org/drawingml/2006/main" noGrp="1"/>
          </p:cNvSpPr>
          <p:nvPr/>
        </p:nvSpPr>
        <p:spPr>
          <a:xfrm xmlns:a="http://schemas.openxmlformats.org/drawingml/2006/main">
            <a:off x="7067550" y="48577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SESSION RULE</a:t>
            </a:r>
          </a:p>
        </p:txBody>
      </p:sp>
      <p:sp>
        <p:nvSpPr>
          <p:cNvPr id="16" name="">
            <a:extLst xmlns:a="http://schemas.openxmlformats.org/drawingml/2006/main">
              <a:ext uri="{FF2B5EF4-FFF2-40B4-BE49-F238E27FC236}">
                <a16:creationId xmlns:a16="http://schemas.microsoft.com/office/drawing/2014/main" id="{960595C3-FD41-45D2-85F9-AE185E72B53C}"/>
              </a:ext>
            </a:extLst>
          </p:cNvPr>
          <p:cNvSpPr>
            <a:spLocks xmlns:a="http://schemas.openxmlformats.org/drawingml/2006/main" noGrp="1"/>
          </p:cNvSpPr>
          <p:nvPr/>
        </p:nvSpPr>
        <p:spPr>
          <a:xfrm xmlns:a="http://schemas.openxmlformats.org/drawingml/2006/main">
            <a:off x="7067550" y="51911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290"/>
          </a:bodyPr>
          <a:lstStyle xmlns:a="http://schemas.openxmlformats.org/drawingml/2006/main"/>
          <a:p xmlns:a="http://schemas.openxmlformats.org/drawingml/2006/main">
            <a:pPr algn="l">
              <a:buNone/>
              <a:defRPr sz="1875" b="1">
                <a:solidFill>
                  <a:srgbClr val="10212E"/>
                </a:solidFill>
                <a:latin typeface="Aptos"/>
                <a:ea typeface="Aptos"/>
                <a:cs typeface="Aptos"/>
              </a:defRPr>
            </a:pPr>
            <a:r>
              <a:rPr sz="1875" b="1">
                <a:solidFill>
                  <a:srgbClr val="10212E"/>
                </a:solidFill>
                <a:latin typeface="Aptos"/>
                <a:ea typeface="Aptos"/>
                <a:cs typeface="Aptos"/>
              </a:rPr>
              <a:t>Mode locked · countdown · anti-cheat</a:t>
            </a:r>
          </a:p>
        </p:txBody>
      </p:sp>
    </p:spTree>
    <p:extLst>
      <p:ext uri="{BB962C8B-B14F-4D97-AF65-F5344CB8AC3E}">
        <p14:creationId xmlns:p14="http://schemas.microsoft.com/office/powerpoint/2010/main" val="3007773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A1AABC-626C-4244-8AEC-67C05148A201}"/>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2726CF46-C4FB-4AE0-A536-453C07299DD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Every answer changes questions and feedback</a:t>
            </a:r>
          </a:p>
        </p:txBody>
      </p:sp>
      <p:sp>
        <p:nvSpPr>
          <p:cNvPr id="3" name="">
            <a:extLst xmlns:a="http://schemas.openxmlformats.org/drawingml/2006/main">
              <a:ext uri="{FF2B5EF4-FFF2-40B4-BE49-F238E27FC236}">
                <a16:creationId xmlns:a16="http://schemas.microsoft.com/office/drawing/2014/main" id="{B2B273C2-605D-4B79-879F-BC171B2C03D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06</a:t>
            </a:r>
          </a:p>
        </p:txBody>
      </p:sp>
      <p:cxnSp>
        <p:nvCxnSpPr>
          <p:cNvPr id="37" name=""/>
          <p:cNvCxnSpPr/>
          <p:nvPr/>
        </p:nvCxnSpPr>
        <p:spPr>
          <a:xfrm xmlns:a="http://schemas.openxmlformats.org/drawingml/2006/main">
            <a:off x="6096000" y="1809750"/>
            <a:ext cx="0" cy="3714750"/>
          </a:xfrm>
          <a:prstGeom xmlns:a="http://schemas.openxmlformats.org/drawingml/2006/main" prst="straightConnector1">
            <a:avLst/>
          </a:prstGeom>
          <a:ln xmlns:a="http://schemas.openxmlformats.org/drawingml/2006/main" w="19050">
            <a:solidFill>
              <a:srgbClr val="C9D9DC"/>
            </a:solidFill>
            <a:prstDash val="solid"/>
          </a:ln>
        </p:spPr>
      </p:cxnSp>
      <p:cxnSp>
        <p:nvCxnSpPr>
          <p:cNvPr id="38" name=""/>
          <p:cNvCxnSpPr/>
          <p:nvPr/>
        </p:nvCxnSpPr>
        <p:spPr>
          <a:xfrm xmlns:a="http://schemas.openxmlformats.org/drawingml/2006/main">
            <a:off x="533400" y="3667125"/>
            <a:ext cx="11125200" cy="0"/>
          </a:xfrm>
          <a:prstGeom xmlns:a="http://schemas.openxmlformats.org/drawingml/2006/main" prst="straightConnector1">
            <a:avLst/>
          </a:prstGeom>
          <a:ln xmlns:a="http://schemas.openxmlformats.org/drawingml/2006/main" w="19050">
            <a:solidFill>
              <a:srgbClr val="C9D9DC"/>
            </a:solidFill>
            <a:prstDash val="solid"/>
          </a:ln>
        </p:spPr>
      </p:cxnSp>
      <p:sp>
        <p:nvSpPr>
          <p:cNvPr id="6" name="">
            <a:extLst xmlns:a="http://schemas.openxmlformats.org/drawingml/2006/main">
              <a:ext uri="{FF2B5EF4-FFF2-40B4-BE49-F238E27FC236}">
                <a16:creationId xmlns:a16="http://schemas.microsoft.com/office/drawing/2014/main" id="{8FB49EB9-896A-49B9-8103-D56FCA38FA88}"/>
              </a:ext>
            </a:extLst>
          </p:cNvPr>
          <p:cNvSpPr>
            <a:spLocks xmlns:a="http://schemas.openxmlformats.org/drawingml/2006/main" noGrp="1"/>
          </p:cNvSpPr>
          <p:nvPr/>
        </p:nvSpPr>
        <p:spPr>
          <a:xfrm xmlns:a="http://schemas.openxmlformats.org/drawingml/2006/main">
            <a:off x="53340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E89F89D8-1855-4ABF-8034-7193B75D0F9F}"/>
              </a:ext>
            </a:extLst>
          </p:cNvPr>
          <p:cNvSpPr>
            <a:spLocks xmlns:a="http://schemas.openxmlformats.org/drawingml/2006/main" noGrp="1"/>
          </p:cNvSpPr>
          <p:nvPr/>
        </p:nvSpPr>
        <p:spPr>
          <a:xfrm xmlns:a="http://schemas.openxmlformats.org/drawingml/2006/main">
            <a:off x="53340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Conversational turn</a:t>
            </a:r>
          </a:p>
        </p:txBody>
      </p:sp>
      <p:sp>
        <p:nvSpPr>
          <p:cNvPr id="8" name="">
            <a:extLst xmlns:a="http://schemas.openxmlformats.org/drawingml/2006/main">
              <a:ext uri="{FF2B5EF4-FFF2-40B4-BE49-F238E27FC236}">
                <a16:creationId xmlns:a16="http://schemas.microsoft.com/office/drawing/2014/main" id="{7A7272A9-6A2E-42F9-A3AD-973BDA13E0AB}"/>
              </a:ext>
            </a:extLst>
          </p:cNvPr>
          <p:cNvSpPr>
            <a:spLocks xmlns:a="http://schemas.openxmlformats.org/drawingml/2006/main" noGrp="1"/>
          </p:cNvSpPr>
          <p:nvPr/>
        </p:nvSpPr>
        <p:spPr>
          <a:xfrm xmlns:a="http://schemas.openxmlformats.org/drawingml/2006/main">
            <a:off x="53340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AI returns acknowledgement + transition + nextQuestion while avoiding repetition, fake praise and score disclosure.</a:t>
            </a:r>
          </a:p>
        </p:txBody>
      </p:sp>
      <p:sp>
        <p:nvSpPr>
          <p:cNvPr id="9" name="">
            <a:extLst xmlns:a="http://schemas.openxmlformats.org/drawingml/2006/main">
              <a:ext uri="{FF2B5EF4-FFF2-40B4-BE49-F238E27FC236}">
                <a16:creationId xmlns:a16="http://schemas.microsoft.com/office/drawing/2014/main" id="{6405BB4A-655F-4E9D-811E-44D0948B5FEB}"/>
              </a:ext>
            </a:extLst>
          </p:cNvPr>
          <p:cNvSpPr>
            <a:spLocks xmlns:a="http://schemas.openxmlformats.org/drawingml/2006/main" noGrp="1"/>
          </p:cNvSpPr>
          <p:nvPr/>
        </p:nvSpPr>
        <p:spPr>
          <a:xfrm xmlns:a="http://schemas.openxmlformats.org/drawingml/2006/main">
            <a:off x="653415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C5955D4-5FAA-4D04-8AA7-2E98C9FAFCC3}"/>
              </a:ext>
            </a:extLst>
          </p:cNvPr>
          <p:cNvSpPr>
            <a:spLocks xmlns:a="http://schemas.openxmlformats.org/drawingml/2006/main" noGrp="1"/>
          </p:cNvSpPr>
          <p:nvPr/>
        </p:nvSpPr>
        <p:spPr>
          <a:xfrm xmlns:a="http://schemas.openxmlformats.org/drawingml/2006/main">
            <a:off x="653415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Time-aware orchestration</a:t>
            </a:r>
          </a:p>
        </p:txBody>
      </p:sp>
      <p:sp>
        <p:nvSpPr>
          <p:cNvPr id="11" name="">
            <a:extLst xmlns:a="http://schemas.openxmlformats.org/drawingml/2006/main">
              <a:ext uri="{FF2B5EF4-FFF2-40B4-BE49-F238E27FC236}">
                <a16:creationId xmlns:a16="http://schemas.microsoft.com/office/drawing/2014/main" id="{105D33DA-423E-4A7C-89E5-F0A13DAFF863}"/>
              </a:ext>
            </a:extLst>
          </p:cNvPr>
          <p:cNvSpPr>
            <a:spLocks xmlns:a="http://schemas.openxmlformats.org/drawingml/2006/main" noGrp="1"/>
          </p:cNvSpPr>
          <p:nvPr/>
        </p:nvSpPr>
        <p:spPr>
          <a:xfrm xmlns:a="http://schemas.openxmlformats.org/drawingml/2006/main">
            <a:off x="653415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Remaining time and answer depth control follow-ups, topic balance and final-question transitions.</a:t>
            </a:r>
          </a:p>
        </p:txBody>
      </p:sp>
      <p:sp>
        <p:nvSpPr>
          <p:cNvPr id="12" name="">
            <a:extLst xmlns:a="http://schemas.openxmlformats.org/drawingml/2006/main">
              <a:ext uri="{FF2B5EF4-FFF2-40B4-BE49-F238E27FC236}">
                <a16:creationId xmlns:a16="http://schemas.microsoft.com/office/drawing/2014/main" id="{D8F49B0B-0E7E-4F95-814B-E03970F5D140}"/>
              </a:ext>
            </a:extLst>
          </p:cNvPr>
          <p:cNvSpPr>
            <a:spLocks xmlns:a="http://schemas.openxmlformats.org/drawingml/2006/main" noGrp="1"/>
          </p:cNvSpPr>
          <p:nvPr/>
        </p:nvSpPr>
        <p:spPr>
          <a:xfrm xmlns:a="http://schemas.openxmlformats.org/drawingml/2006/main">
            <a:off x="53340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9C909FA8-7DCA-4594-B335-7ECAFCE45F97}"/>
              </a:ext>
            </a:extLst>
          </p:cNvPr>
          <p:cNvSpPr>
            <a:spLocks xmlns:a="http://schemas.openxmlformats.org/drawingml/2006/main" noGrp="1"/>
          </p:cNvSpPr>
          <p:nvPr/>
        </p:nvSpPr>
        <p:spPr>
          <a:xfrm xmlns:a="http://schemas.openxmlformats.org/drawingml/2006/main">
            <a:off x="53340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Five-dimension evaluation</a:t>
            </a:r>
          </a:p>
        </p:txBody>
      </p:sp>
      <p:sp>
        <p:nvSpPr>
          <p:cNvPr id="14" name="">
            <a:extLst xmlns:a="http://schemas.openxmlformats.org/drawingml/2006/main">
              <a:ext uri="{FF2B5EF4-FFF2-40B4-BE49-F238E27FC236}">
                <a16:creationId xmlns:a16="http://schemas.microsoft.com/office/drawing/2014/main" id="{01DE0FCB-B8A0-4974-984D-32C2ED62BAC1}"/>
              </a:ext>
            </a:extLst>
          </p:cNvPr>
          <p:cNvSpPr>
            <a:spLocks xmlns:a="http://schemas.openxmlformats.org/drawingml/2006/main" noGrp="1"/>
          </p:cNvSpPr>
          <p:nvPr/>
        </p:nvSpPr>
        <p:spPr>
          <a:xfrm xmlns:a="http://schemas.openxmlformats.org/drawingml/2006/main">
            <a:off x="53340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Technical Accuracy, Clarity, Relevance, Problem Solving and Communication score every answer.</a:t>
            </a:r>
          </a:p>
        </p:txBody>
      </p:sp>
      <p:sp>
        <p:nvSpPr>
          <p:cNvPr id="15" name="">
            <a:extLst xmlns:a="http://schemas.openxmlformats.org/drawingml/2006/main">
              <a:ext uri="{FF2B5EF4-FFF2-40B4-BE49-F238E27FC236}">
                <a16:creationId xmlns:a16="http://schemas.microsoft.com/office/drawing/2014/main" id="{5AA52610-5E47-40E3-BED6-06BBA137CB16}"/>
              </a:ext>
            </a:extLst>
          </p:cNvPr>
          <p:cNvSpPr>
            <a:spLocks xmlns:a="http://schemas.openxmlformats.org/drawingml/2006/main" noGrp="1"/>
          </p:cNvSpPr>
          <p:nvPr/>
        </p:nvSpPr>
        <p:spPr>
          <a:xfrm xmlns:a="http://schemas.openxmlformats.org/drawingml/2006/main">
            <a:off x="653415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EAC59123-EE53-4822-AD7C-9EE58F8FD845}"/>
              </a:ext>
            </a:extLst>
          </p:cNvPr>
          <p:cNvSpPr>
            <a:spLocks xmlns:a="http://schemas.openxmlformats.org/drawingml/2006/main" noGrp="1"/>
          </p:cNvSpPr>
          <p:nvPr/>
        </p:nvSpPr>
        <p:spPr>
          <a:xfrm xmlns:a="http://schemas.openxmlformats.org/drawingml/2006/main">
            <a:off x="653415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Report → roadmap</a:t>
            </a:r>
          </a:p>
        </p:txBody>
      </p:sp>
      <p:sp>
        <p:nvSpPr>
          <p:cNvPr id="17" name="">
            <a:extLst xmlns:a="http://schemas.openxmlformats.org/drawingml/2006/main">
              <a:ext uri="{FF2B5EF4-FFF2-40B4-BE49-F238E27FC236}">
                <a16:creationId xmlns:a16="http://schemas.microsoft.com/office/drawing/2014/main" id="{57A26E47-B774-4A54-AF20-D80C58B6BE01}"/>
              </a:ext>
            </a:extLst>
          </p:cNvPr>
          <p:cNvSpPr>
            <a:spLocks xmlns:a="http://schemas.openxmlformats.org/drawingml/2006/main" noGrp="1"/>
          </p:cNvSpPr>
          <p:nvPr/>
        </p:nvSpPr>
        <p:spPr>
          <a:xfrm xmlns:a="http://schemas.openxmlformats.org/drawingml/2006/main">
            <a:off x="653415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Readiness gauge, radar, per-question review, strengths, gaps, priority focus, quick wins and practice prompts.</a:t>
            </a:r>
          </a:p>
        </p:txBody>
      </p:sp>
      <p:sp>
        <p:nvSpPr>
          <p:cNvPr id="18" name="">
            <a:extLst xmlns:a="http://schemas.openxmlformats.org/drawingml/2006/main">
              <a:ext uri="{FF2B5EF4-FFF2-40B4-BE49-F238E27FC236}">
                <a16:creationId xmlns:a16="http://schemas.microsoft.com/office/drawing/2014/main" id="{C02F527B-FD45-4B0E-9124-5FF8D4BB086B}"/>
              </a:ext>
            </a:extLst>
          </p:cNvPr>
          <p:cNvSpPr>
            <a:spLocks xmlns:a="http://schemas.openxmlformats.org/drawingml/2006/main" noGrp="1"/>
          </p:cNvSpPr>
          <p:nvPr/>
        </p:nvSpPr>
        <p:spPr>
          <a:xfrm xmlns:a="http://schemas.openxmlformats.org/drawingml/2006/main">
            <a:off x="533400" y="5953125"/>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Readiness = mean answer score × 10; dashboard and history show real scored sessions only.</a:t>
            </a:r>
          </a:p>
        </p:txBody>
      </p:sp>
    </p:spTree>
    <p:extLst>
      <p:ext uri="{BB962C8B-B14F-4D97-AF65-F5344CB8AC3E}">
        <p14:creationId xmlns:p14="http://schemas.microsoft.com/office/powerpoint/2010/main" val="9739487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A1AABC-626C-4244-8AEC-67C05148A201}"/>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2726CF46-C4FB-4AE0-A536-453C07299DD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Every answer changes questions and feedback</a:t>
            </a:r>
          </a:p>
        </p:txBody>
      </p:sp>
      <p:sp>
        <p:nvSpPr>
          <p:cNvPr id="3" name="">
            <a:extLst xmlns:a="http://schemas.openxmlformats.org/drawingml/2006/main">
              <a:ext uri="{FF2B5EF4-FFF2-40B4-BE49-F238E27FC236}">
                <a16:creationId xmlns:a16="http://schemas.microsoft.com/office/drawing/2014/main" id="{B2B273C2-605D-4B79-879F-BC171B2C03D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06</a:t>
            </a:r>
          </a:p>
        </p:txBody>
      </p:sp>
      <p:cxnSp>
        <p:nvCxnSpPr>
          <p:cNvPr id="37" name=""/>
          <p:cNvCxnSpPr/>
          <p:nvPr/>
        </p:nvCxnSpPr>
        <p:spPr>
          <a:xfrm xmlns:a="http://schemas.openxmlformats.org/drawingml/2006/main">
            <a:off x="6096000" y="1809750"/>
            <a:ext cx="0" cy="3714750"/>
          </a:xfrm>
          <a:prstGeom xmlns:a="http://schemas.openxmlformats.org/drawingml/2006/main" prst="straightConnector1">
            <a:avLst/>
          </a:prstGeom>
          <a:ln xmlns:a="http://schemas.openxmlformats.org/drawingml/2006/main" w="19050">
            <a:solidFill>
              <a:srgbClr val="C9D9DC"/>
            </a:solidFill>
            <a:prstDash val="solid"/>
          </a:ln>
        </p:spPr>
      </p:cxnSp>
      <p:cxnSp>
        <p:nvCxnSpPr>
          <p:cNvPr id="38" name=""/>
          <p:cNvCxnSpPr/>
          <p:nvPr/>
        </p:nvCxnSpPr>
        <p:spPr>
          <a:xfrm xmlns:a="http://schemas.openxmlformats.org/drawingml/2006/main">
            <a:off x="533400" y="3667125"/>
            <a:ext cx="11125200" cy="0"/>
          </a:xfrm>
          <a:prstGeom xmlns:a="http://schemas.openxmlformats.org/drawingml/2006/main" prst="straightConnector1">
            <a:avLst/>
          </a:prstGeom>
          <a:ln xmlns:a="http://schemas.openxmlformats.org/drawingml/2006/main" w="19050">
            <a:solidFill>
              <a:srgbClr val="C9D9DC"/>
            </a:solidFill>
            <a:prstDash val="solid"/>
          </a:ln>
        </p:spPr>
      </p:cxnSp>
      <p:sp>
        <p:nvSpPr>
          <p:cNvPr id="6" name="">
            <a:extLst xmlns:a="http://schemas.openxmlformats.org/drawingml/2006/main">
              <a:ext uri="{FF2B5EF4-FFF2-40B4-BE49-F238E27FC236}">
                <a16:creationId xmlns:a16="http://schemas.microsoft.com/office/drawing/2014/main" id="{8FB49EB9-896A-49B9-8103-D56FCA38FA88}"/>
              </a:ext>
            </a:extLst>
          </p:cNvPr>
          <p:cNvSpPr>
            <a:spLocks xmlns:a="http://schemas.openxmlformats.org/drawingml/2006/main" noGrp="1"/>
          </p:cNvSpPr>
          <p:nvPr/>
        </p:nvSpPr>
        <p:spPr>
          <a:xfrm xmlns:a="http://schemas.openxmlformats.org/drawingml/2006/main">
            <a:off x="53340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E89F89D8-1855-4ABF-8034-7193B75D0F9F}"/>
              </a:ext>
            </a:extLst>
          </p:cNvPr>
          <p:cNvSpPr>
            <a:spLocks xmlns:a="http://schemas.openxmlformats.org/drawingml/2006/main" noGrp="1"/>
          </p:cNvSpPr>
          <p:nvPr/>
        </p:nvSpPr>
        <p:spPr>
          <a:xfrm xmlns:a="http://schemas.openxmlformats.org/drawingml/2006/main">
            <a:off x="53340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Conversational turn</a:t>
            </a:r>
          </a:p>
        </p:txBody>
      </p:sp>
      <p:sp>
        <p:nvSpPr>
          <p:cNvPr id="8" name="">
            <a:extLst xmlns:a="http://schemas.openxmlformats.org/drawingml/2006/main">
              <a:ext uri="{FF2B5EF4-FFF2-40B4-BE49-F238E27FC236}">
                <a16:creationId xmlns:a16="http://schemas.microsoft.com/office/drawing/2014/main" id="{7A7272A9-6A2E-42F9-A3AD-973BDA13E0AB}"/>
              </a:ext>
            </a:extLst>
          </p:cNvPr>
          <p:cNvSpPr>
            <a:spLocks xmlns:a="http://schemas.openxmlformats.org/drawingml/2006/main" noGrp="1"/>
          </p:cNvSpPr>
          <p:nvPr/>
        </p:nvSpPr>
        <p:spPr>
          <a:xfrm xmlns:a="http://schemas.openxmlformats.org/drawingml/2006/main">
            <a:off x="53340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AI returns acknowledgement + transition + nextQuestion while avoiding repetition, fake praise and score disclosure.</a:t>
            </a:r>
          </a:p>
        </p:txBody>
      </p:sp>
      <p:sp>
        <p:nvSpPr>
          <p:cNvPr id="9" name="">
            <a:extLst xmlns:a="http://schemas.openxmlformats.org/drawingml/2006/main">
              <a:ext uri="{FF2B5EF4-FFF2-40B4-BE49-F238E27FC236}">
                <a16:creationId xmlns:a16="http://schemas.microsoft.com/office/drawing/2014/main" id="{6405BB4A-655F-4E9D-811E-44D0948B5FEB}"/>
              </a:ext>
            </a:extLst>
          </p:cNvPr>
          <p:cNvSpPr>
            <a:spLocks xmlns:a="http://schemas.openxmlformats.org/drawingml/2006/main" noGrp="1"/>
          </p:cNvSpPr>
          <p:nvPr/>
        </p:nvSpPr>
        <p:spPr>
          <a:xfrm xmlns:a="http://schemas.openxmlformats.org/drawingml/2006/main">
            <a:off x="653415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C5955D4-5FAA-4D04-8AA7-2E98C9FAFCC3}"/>
              </a:ext>
            </a:extLst>
          </p:cNvPr>
          <p:cNvSpPr>
            <a:spLocks xmlns:a="http://schemas.openxmlformats.org/drawingml/2006/main" noGrp="1"/>
          </p:cNvSpPr>
          <p:nvPr/>
        </p:nvSpPr>
        <p:spPr>
          <a:xfrm xmlns:a="http://schemas.openxmlformats.org/drawingml/2006/main">
            <a:off x="653415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Time-aware orchestration</a:t>
            </a:r>
          </a:p>
        </p:txBody>
      </p:sp>
      <p:sp>
        <p:nvSpPr>
          <p:cNvPr id="11" name="">
            <a:extLst xmlns:a="http://schemas.openxmlformats.org/drawingml/2006/main">
              <a:ext uri="{FF2B5EF4-FFF2-40B4-BE49-F238E27FC236}">
                <a16:creationId xmlns:a16="http://schemas.microsoft.com/office/drawing/2014/main" id="{105D33DA-423E-4A7C-89E5-F0A13DAFF863}"/>
              </a:ext>
            </a:extLst>
          </p:cNvPr>
          <p:cNvSpPr>
            <a:spLocks xmlns:a="http://schemas.openxmlformats.org/drawingml/2006/main" noGrp="1"/>
          </p:cNvSpPr>
          <p:nvPr/>
        </p:nvSpPr>
        <p:spPr>
          <a:xfrm xmlns:a="http://schemas.openxmlformats.org/drawingml/2006/main">
            <a:off x="653415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Remaining time and answer depth control follow-ups, topic balance and final-question transitions.</a:t>
            </a:r>
          </a:p>
        </p:txBody>
      </p:sp>
      <p:sp>
        <p:nvSpPr>
          <p:cNvPr id="12" name="">
            <a:extLst xmlns:a="http://schemas.openxmlformats.org/drawingml/2006/main">
              <a:ext uri="{FF2B5EF4-FFF2-40B4-BE49-F238E27FC236}">
                <a16:creationId xmlns:a16="http://schemas.microsoft.com/office/drawing/2014/main" id="{D8F49B0B-0E7E-4F95-814B-E03970F5D140}"/>
              </a:ext>
            </a:extLst>
          </p:cNvPr>
          <p:cNvSpPr>
            <a:spLocks xmlns:a="http://schemas.openxmlformats.org/drawingml/2006/main" noGrp="1"/>
          </p:cNvSpPr>
          <p:nvPr/>
        </p:nvSpPr>
        <p:spPr>
          <a:xfrm xmlns:a="http://schemas.openxmlformats.org/drawingml/2006/main">
            <a:off x="53340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9C909FA8-7DCA-4594-B335-7ECAFCE45F97}"/>
              </a:ext>
            </a:extLst>
          </p:cNvPr>
          <p:cNvSpPr>
            <a:spLocks xmlns:a="http://schemas.openxmlformats.org/drawingml/2006/main" noGrp="1"/>
          </p:cNvSpPr>
          <p:nvPr/>
        </p:nvSpPr>
        <p:spPr>
          <a:xfrm xmlns:a="http://schemas.openxmlformats.org/drawingml/2006/main">
            <a:off x="53340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Five-dimension evaluation</a:t>
            </a:r>
          </a:p>
        </p:txBody>
      </p:sp>
      <p:sp>
        <p:nvSpPr>
          <p:cNvPr id="14" name="">
            <a:extLst xmlns:a="http://schemas.openxmlformats.org/drawingml/2006/main">
              <a:ext uri="{FF2B5EF4-FFF2-40B4-BE49-F238E27FC236}">
                <a16:creationId xmlns:a16="http://schemas.microsoft.com/office/drawing/2014/main" id="{01DE0FCB-B8A0-4974-984D-32C2ED62BAC1}"/>
              </a:ext>
            </a:extLst>
          </p:cNvPr>
          <p:cNvSpPr>
            <a:spLocks xmlns:a="http://schemas.openxmlformats.org/drawingml/2006/main" noGrp="1"/>
          </p:cNvSpPr>
          <p:nvPr/>
        </p:nvSpPr>
        <p:spPr>
          <a:xfrm xmlns:a="http://schemas.openxmlformats.org/drawingml/2006/main">
            <a:off x="53340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Technical Accuracy, Clarity, Relevance, Problem Solving and Communication score every answer.</a:t>
            </a:r>
          </a:p>
        </p:txBody>
      </p:sp>
      <p:sp>
        <p:nvSpPr>
          <p:cNvPr id="15" name="">
            <a:extLst xmlns:a="http://schemas.openxmlformats.org/drawingml/2006/main">
              <a:ext uri="{FF2B5EF4-FFF2-40B4-BE49-F238E27FC236}">
                <a16:creationId xmlns:a16="http://schemas.microsoft.com/office/drawing/2014/main" id="{5AA52610-5E47-40E3-BED6-06BBA137CB16}"/>
              </a:ext>
            </a:extLst>
          </p:cNvPr>
          <p:cNvSpPr>
            <a:spLocks xmlns:a="http://schemas.openxmlformats.org/drawingml/2006/main" noGrp="1"/>
          </p:cNvSpPr>
          <p:nvPr/>
        </p:nvSpPr>
        <p:spPr>
          <a:xfrm xmlns:a="http://schemas.openxmlformats.org/drawingml/2006/main">
            <a:off x="653415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EAC59123-EE53-4822-AD7C-9EE58F8FD845}"/>
              </a:ext>
            </a:extLst>
          </p:cNvPr>
          <p:cNvSpPr>
            <a:spLocks xmlns:a="http://schemas.openxmlformats.org/drawingml/2006/main" noGrp="1"/>
          </p:cNvSpPr>
          <p:nvPr/>
        </p:nvSpPr>
        <p:spPr>
          <a:xfrm xmlns:a="http://schemas.openxmlformats.org/drawingml/2006/main">
            <a:off x="653415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Report → roadmap</a:t>
            </a:r>
          </a:p>
        </p:txBody>
      </p:sp>
      <p:sp>
        <p:nvSpPr>
          <p:cNvPr id="17" name="">
            <a:extLst xmlns:a="http://schemas.openxmlformats.org/drawingml/2006/main">
              <a:ext uri="{FF2B5EF4-FFF2-40B4-BE49-F238E27FC236}">
                <a16:creationId xmlns:a16="http://schemas.microsoft.com/office/drawing/2014/main" id="{57A26E47-B774-4A54-AF20-D80C58B6BE01}"/>
              </a:ext>
            </a:extLst>
          </p:cNvPr>
          <p:cNvSpPr>
            <a:spLocks xmlns:a="http://schemas.openxmlformats.org/drawingml/2006/main" noGrp="1"/>
          </p:cNvSpPr>
          <p:nvPr/>
        </p:nvSpPr>
        <p:spPr>
          <a:xfrm xmlns:a="http://schemas.openxmlformats.org/drawingml/2006/main">
            <a:off x="653415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Readiness gauge, radar, per-question review, strengths, gaps, priority focus, quick wins and practice prompts.</a:t>
            </a:r>
          </a:p>
        </p:txBody>
      </p:sp>
      <p:sp>
        <p:nvSpPr>
          <p:cNvPr id="18" name="">
            <a:extLst xmlns:a="http://schemas.openxmlformats.org/drawingml/2006/main">
              <a:ext uri="{FF2B5EF4-FFF2-40B4-BE49-F238E27FC236}">
                <a16:creationId xmlns:a16="http://schemas.microsoft.com/office/drawing/2014/main" id="{C02F527B-FD45-4B0E-9124-5FF8D4BB086B}"/>
              </a:ext>
            </a:extLst>
          </p:cNvPr>
          <p:cNvSpPr>
            <a:spLocks xmlns:a="http://schemas.openxmlformats.org/drawingml/2006/main" noGrp="1"/>
          </p:cNvSpPr>
          <p:nvPr/>
        </p:nvSpPr>
        <p:spPr>
          <a:xfrm xmlns:a="http://schemas.openxmlformats.org/drawingml/2006/main">
            <a:off x="533400" y="5953125"/>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Readiness = mean answer score × 10; dashboard and history show real scored sessions only.</a:t>
            </a:r>
          </a:p>
        </p:txBody>
      </p:sp>
    </p:spTree>
    <p:extLst>
      <p:ext uri="{BB962C8B-B14F-4D97-AF65-F5344CB8AC3E}">
        <p14:creationId xmlns:p14="http://schemas.microsoft.com/office/powerpoint/2010/main" val="973948799"/>
      </p:ext>
    </p:extLst>
  </p:cSld>
</p:sld>
</file>

<file path=ppt/slides/slide7.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3E1391-7347-441F-BB71-5BCC19210C0D}"/>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69559CA4-2901-4A88-B60E-5B53AAE4D2C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FFFFFF"/>
                </a:solidFill>
                <a:latin typeface="Aptos"/>
                <a:ea typeface="Aptos"/>
                <a:cs typeface="Aptos"/>
              </a:defRPr>
            </a:pPr>
            <a:r>
              <a:rPr sz="3600" b="1">
                <a:solidFill>
                  <a:srgbClr val="FFFFFF"/>
                </a:solidFill>
                <a:latin typeface="Aptos"/>
                <a:ea typeface="Aptos"/>
                <a:cs typeface="Aptos"/>
              </a:rPr>
              <a:t>Context and API keys stay server-side</a:t>
            </a:r>
          </a:p>
        </p:txBody>
      </p:sp>
      <p:sp>
        <p:nvSpPr>
          <p:cNvPr id="3" name="">
            <a:extLst xmlns:a="http://schemas.openxmlformats.org/drawingml/2006/main">
              <a:ext uri="{FF2B5EF4-FFF2-40B4-BE49-F238E27FC236}">
                <a16:creationId xmlns:a16="http://schemas.microsoft.com/office/drawing/2014/main" id="{AF91C2E9-56A9-4A6B-B707-0EF1E33173EB}"/>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68D9D0"/>
                </a:solidFill>
                <a:latin typeface="Aptos"/>
                <a:ea typeface="Aptos"/>
                <a:cs typeface="Aptos"/>
              </a:defRPr>
            </a:pPr>
            <a:r>
              <a:rPr sz="1200" b="1">
                <a:solidFill>
                  <a:srgbClr val="68D9D0"/>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9F195CEC-CBAA-4B5D-A069-2D6701981CCB}"/>
              </a:ext>
            </a:extLst>
          </p:cNvPr>
          <p:cNvSpPr>
            <a:spLocks xmlns:a="http://schemas.openxmlformats.org/drawingml/2006/main" noGrp="1"/>
          </p:cNvSpPr>
          <p:nvPr/>
        </p:nvSpPr>
        <p:spPr>
          <a:xfrm xmlns:a="http://schemas.openxmlformats.org/drawingml/2006/main">
            <a:off x="533400" y="1428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725" b="0">
                <a:solidFill>
                  <a:srgbClr val="C7D5DC"/>
                </a:solidFill>
                <a:latin typeface="Aptos"/>
                <a:ea typeface="Aptos"/>
                <a:cs typeface="Aptos"/>
              </a:defRPr>
            </a:pPr>
            <a:r>
              <a:rPr sz="1725" b="0">
                <a:solidFill>
                  <a:srgbClr val="C7D5DC"/>
                </a:solidFill>
                <a:latin typeface="Aptos"/>
                <a:ea typeface="Aptos"/>
                <a:cs typeface="Aptos"/>
              </a:rPr>
              <a:t>TanStack Start server functions connect the interview UI, AI providers and Supabase data layer.</a:t>
            </a:r>
          </a:p>
        </p:txBody>
      </p:sp>
      <p:cxnSp>
        <p:nvCxnSpPr>
          <p:cNvPr id="49" name=""/>
          <p:cNvCxnSpPr/>
          <p:nvPr/>
        </p:nvCxnSpPr>
        <p:spPr>
          <a:xfrm xmlns:a="http://schemas.openxmlformats.org/drawingml/2006/main">
            <a:off x="2914650" y="3238500"/>
            <a:ext cx="666750" cy="0"/>
          </a:xfrm>
          <a:prstGeom xmlns:a="http://schemas.openxmlformats.org/drawingml/2006/main" prst="straightConnector1">
            <a:avLst/>
          </a:prstGeom>
          <a:ln xmlns:a="http://schemas.openxmlformats.org/drawingml/2006/main" w="38100">
            <a:solidFill>
              <a:srgbClr val="4B7682"/>
            </a:solidFill>
            <a:prstDash val="solid"/>
          </a:ln>
        </p:spPr>
      </p:cxnSp>
      <p:cxnSp>
        <p:nvCxnSpPr>
          <p:cNvPr id="50" name=""/>
          <p:cNvCxnSpPr/>
          <p:nvPr/>
        </p:nvCxnSpPr>
        <p:spPr>
          <a:xfrm xmlns:a="http://schemas.openxmlformats.org/drawingml/2006/main">
            <a:off x="5753100" y="3238500"/>
            <a:ext cx="666750" cy="0"/>
          </a:xfrm>
          <a:prstGeom xmlns:a="http://schemas.openxmlformats.org/drawingml/2006/main" prst="straightConnector1">
            <a:avLst/>
          </a:prstGeom>
          <a:ln xmlns:a="http://schemas.openxmlformats.org/drawingml/2006/main" w="38100">
            <a:solidFill>
              <a:srgbClr val="4B7682"/>
            </a:solidFill>
            <a:prstDash val="solid"/>
          </a:ln>
        </p:spPr>
      </p:cxnSp>
      <p:cxnSp>
        <p:nvCxnSpPr>
          <p:cNvPr id="51" name=""/>
          <p:cNvCxnSpPr/>
          <p:nvPr/>
        </p:nvCxnSpPr>
        <p:spPr>
          <a:xfrm xmlns:a="http://schemas.openxmlformats.org/drawingml/2006/main">
            <a:off x="8591550" y="3238500"/>
            <a:ext cx="666750" cy="0"/>
          </a:xfrm>
          <a:prstGeom xmlns:a="http://schemas.openxmlformats.org/drawingml/2006/main" prst="straightConnector1">
            <a:avLst/>
          </a:prstGeom>
          <a:ln xmlns:a="http://schemas.openxmlformats.org/drawingml/2006/main" w="38100">
            <a:solidFill>
              <a:srgbClr val="4B7682"/>
            </a:solidFill>
            <a:prstDash val="solid"/>
          </a:ln>
        </p:spPr>
      </p:cxnSp>
      <p:sp>
        <p:nvSpPr>
          <p:cNvPr id="8" name="">
            <a:extLst xmlns:a="http://schemas.openxmlformats.org/drawingml/2006/main">
              <a:ext uri="{FF2B5EF4-FFF2-40B4-BE49-F238E27FC236}">
                <a16:creationId xmlns:a16="http://schemas.microsoft.com/office/drawing/2014/main" id="{28DCC9E0-72E2-475D-B496-50E91F56F03F}"/>
              </a:ext>
            </a:extLst>
          </p:cNvPr>
          <p:cNvSpPr>
            <a:spLocks xmlns:a="http://schemas.openxmlformats.org/drawingml/2006/main" noGrp="1"/>
          </p:cNvSpPr>
          <p:nvPr/>
        </p:nvSpPr>
        <p:spPr>
          <a:xfrm xmlns:a="http://schemas.openxmlformats.org/drawingml/2006/main">
            <a:off x="74295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9" name="">
            <a:extLst xmlns:a="http://schemas.openxmlformats.org/drawingml/2006/main">
              <a:ext uri="{FF2B5EF4-FFF2-40B4-BE49-F238E27FC236}">
                <a16:creationId xmlns:a16="http://schemas.microsoft.com/office/drawing/2014/main" id="{959449A1-CA81-4611-A569-CDCB2833BEA6}"/>
              </a:ext>
            </a:extLst>
          </p:cNvPr>
          <p:cNvSpPr>
            <a:spLocks xmlns:a="http://schemas.openxmlformats.org/drawingml/2006/main" noGrp="1"/>
          </p:cNvSpPr>
          <p:nvPr/>
        </p:nvSpPr>
        <p:spPr>
          <a:xfrm xmlns:a="http://schemas.openxmlformats.org/drawingml/2006/main">
            <a:off x="95250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CLIENT UI</a:t>
            </a:r>
          </a:p>
        </p:txBody>
      </p:sp>
      <p:sp>
        <p:nvSpPr>
          <p:cNvPr id="10" name="">
            <a:extLst xmlns:a="http://schemas.openxmlformats.org/drawingml/2006/main">
              <a:ext uri="{FF2B5EF4-FFF2-40B4-BE49-F238E27FC236}">
                <a16:creationId xmlns:a16="http://schemas.microsoft.com/office/drawing/2014/main" id="{7654F579-F425-457F-A7D0-AB8F18172F19}"/>
              </a:ext>
            </a:extLst>
          </p:cNvPr>
          <p:cNvSpPr>
            <a:spLocks xmlns:a="http://schemas.openxmlformats.org/drawingml/2006/main" noGrp="1"/>
          </p:cNvSpPr>
          <p:nvPr/>
        </p:nvSpPr>
        <p:spPr>
          <a:xfrm xmlns:a="http://schemas.openxmlformats.org/drawingml/2006/main">
            <a:off x="93345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React · TanStack Start</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Voice recorder · TTS</a:t>
            </a:r>
          </a:p>
        </p:txBody>
      </p:sp>
      <p:sp>
        <p:nvSpPr>
          <p:cNvPr id="11" name="">
            <a:extLst xmlns:a="http://schemas.openxmlformats.org/drawingml/2006/main">
              <a:ext uri="{FF2B5EF4-FFF2-40B4-BE49-F238E27FC236}">
                <a16:creationId xmlns:a16="http://schemas.microsoft.com/office/drawing/2014/main" id="{0ECEB208-AFFD-4119-B6F3-5AC0CBE5E3D0}"/>
              </a:ext>
            </a:extLst>
          </p:cNvPr>
          <p:cNvSpPr>
            <a:spLocks xmlns:a="http://schemas.openxmlformats.org/drawingml/2006/main" noGrp="1"/>
          </p:cNvSpPr>
          <p:nvPr/>
        </p:nvSpPr>
        <p:spPr>
          <a:xfrm xmlns:a="http://schemas.openxmlformats.org/drawingml/2006/main">
            <a:off x="3581400" y="2381250"/>
            <a:ext cx="2190750" cy="1762125"/>
          </a:xfrm>
          <a:prstGeom xmlns:a="http://schemas.openxmlformats.org/drawingml/2006/main" prst="roundRect">
            <a:avLst>
              <a:gd name="adj" fmla="val 6486"/>
            </a:avLst>
          </a:prstGeom>
          <a:solidFill xmlns:a="http://schemas.openxmlformats.org/drawingml/2006/main">
            <a:srgbClr val="19B8A5"/>
          </a:solidFill>
          <a:ln xmlns:a="http://schemas.openxmlformats.org/drawingml/2006/main" w="19050">
            <a:solidFill>
              <a:srgbClr val="19B8A5"/>
            </a:solidFill>
            <a:prstDash val="solid"/>
          </a:ln>
        </p:spPr>
      </p:sp>
      <p:sp>
        <p:nvSpPr>
          <p:cNvPr id="12" name="">
            <a:extLst xmlns:a="http://schemas.openxmlformats.org/drawingml/2006/main">
              <a:ext uri="{FF2B5EF4-FFF2-40B4-BE49-F238E27FC236}">
                <a16:creationId xmlns:a16="http://schemas.microsoft.com/office/drawing/2014/main" id="{4C6792BD-5960-4506-B4AC-AC28529CB0D2}"/>
              </a:ext>
            </a:extLst>
          </p:cNvPr>
          <p:cNvSpPr>
            <a:spLocks xmlns:a="http://schemas.openxmlformats.org/drawingml/2006/main" noGrp="1"/>
          </p:cNvSpPr>
          <p:nvPr/>
        </p:nvSpPr>
        <p:spPr>
          <a:xfrm xmlns:a="http://schemas.openxmlformats.org/drawingml/2006/main">
            <a:off x="379095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SERVER FUNCTIONS</a:t>
            </a:r>
          </a:p>
        </p:txBody>
      </p:sp>
      <p:sp>
        <p:nvSpPr>
          <p:cNvPr id="13" name="">
            <a:extLst xmlns:a="http://schemas.openxmlformats.org/drawingml/2006/main">
              <a:ext uri="{FF2B5EF4-FFF2-40B4-BE49-F238E27FC236}">
                <a16:creationId xmlns:a16="http://schemas.microsoft.com/office/drawing/2014/main" id="{4F65D222-DEEB-48CF-AC97-1C275C31FDF5}"/>
              </a:ext>
            </a:extLst>
          </p:cNvPr>
          <p:cNvSpPr>
            <a:spLocks xmlns:a="http://schemas.openxmlformats.org/drawingml/2006/main" noGrp="1"/>
          </p:cNvSpPr>
          <p:nvPr/>
        </p:nvSpPr>
        <p:spPr>
          <a:xfrm xmlns:a="http://schemas.openxmlformats.org/drawingml/2006/main">
            <a:off x="377190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4507"/>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create · begin · submit · end</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CSRF-protected RPC</a:t>
            </a:r>
          </a:p>
        </p:txBody>
      </p:sp>
      <p:sp>
        <p:nvSpPr>
          <p:cNvPr id="14" name="">
            <a:extLst xmlns:a="http://schemas.openxmlformats.org/drawingml/2006/main">
              <a:ext uri="{FF2B5EF4-FFF2-40B4-BE49-F238E27FC236}">
                <a16:creationId xmlns:a16="http://schemas.microsoft.com/office/drawing/2014/main" id="{1FE26167-228D-431F-8256-F575340BF162}"/>
              </a:ext>
            </a:extLst>
          </p:cNvPr>
          <p:cNvSpPr>
            <a:spLocks xmlns:a="http://schemas.openxmlformats.org/drawingml/2006/main" noGrp="1"/>
          </p:cNvSpPr>
          <p:nvPr/>
        </p:nvSpPr>
        <p:spPr>
          <a:xfrm xmlns:a="http://schemas.openxmlformats.org/drawingml/2006/main">
            <a:off x="641985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15" name="">
            <a:extLst xmlns:a="http://schemas.openxmlformats.org/drawingml/2006/main">
              <a:ext uri="{FF2B5EF4-FFF2-40B4-BE49-F238E27FC236}">
                <a16:creationId xmlns:a16="http://schemas.microsoft.com/office/drawing/2014/main" id="{8B3BBFE4-7573-4175-8AB4-501B45F8E847}"/>
              </a:ext>
            </a:extLst>
          </p:cNvPr>
          <p:cNvSpPr>
            <a:spLocks xmlns:a="http://schemas.openxmlformats.org/drawingml/2006/main" noGrp="1"/>
          </p:cNvSpPr>
          <p:nvPr/>
        </p:nvSpPr>
        <p:spPr>
          <a:xfrm xmlns:a="http://schemas.openxmlformats.org/drawingml/2006/main">
            <a:off x="662940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AI PROVIDERS</a:t>
            </a:r>
          </a:p>
        </p:txBody>
      </p:sp>
      <p:sp>
        <p:nvSpPr>
          <p:cNvPr id="16" name="">
            <a:extLst xmlns:a="http://schemas.openxmlformats.org/drawingml/2006/main">
              <a:ext uri="{FF2B5EF4-FFF2-40B4-BE49-F238E27FC236}">
                <a16:creationId xmlns:a16="http://schemas.microsoft.com/office/drawing/2014/main" id="{62939ACA-30C7-4B3A-A370-6B0F0F9D00A4}"/>
              </a:ext>
            </a:extLst>
          </p:cNvPr>
          <p:cNvSpPr>
            <a:spLocks xmlns:a="http://schemas.openxmlformats.org/drawingml/2006/main" noGrp="1"/>
          </p:cNvSpPr>
          <p:nvPr/>
        </p:nvSpPr>
        <p:spPr>
          <a:xfrm xmlns:a="http://schemas.openxmlformats.org/drawingml/2006/main">
            <a:off x="661035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Groq LLM + Whisper STT</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OpenRouter fallback</a:t>
            </a:r>
          </a:p>
        </p:txBody>
      </p:sp>
      <p:sp>
        <p:nvSpPr>
          <p:cNvPr id="17" name="">
            <a:extLst xmlns:a="http://schemas.openxmlformats.org/drawingml/2006/main">
              <a:ext uri="{FF2B5EF4-FFF2-40B4-BE49-F238E27FC236}">
                <a16:creationId xmlns:a16="http://schemas.microsoft.com/office/drawing/2014/main" id="{9DBFA245-E6D4-4F86-A391-3C1941FA4854}"/>
              </a:ext>
            </a:extLst>
          </p:cNvPr>
          <p:cNvSpPr>
            <a:spLocks xmlns:a="http://schemas.openxmlformats.org/drawingml/2006/main" noGrp="1"/>
          </p:cNvSpPr>
          <p:nvPr/>
        </p:nvSpPr>
        <p:spPr>
          <a:xfrm xmlns:a="http://schemas.openxmlformats.org/drawingml/2006/main">
            <a:off x="925830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18" name="">
            <a:extLst xmlns:a="http://schemas.openxmlformats.org/drawingml/2006/main">
              <a:ext uri="{FF2B5EF4-FFF2-40B4-BE49-F238E27FC236}">
                <a16:creationId xmlns:a16="http://schemas.microsoft.com/office/drawing/2014/main" id="{99578FD5-FD4A-47D7-9A9F-A74B191C1E74}"/>
              </a:ext>
            </a:extLst>
          </p:cNvPr>
          <p:cNvSpPr>
            <a:spLocks xmlns:a="http://schemas.openxmlformats.org/drawingml/2006/main" noGrp="1"/>
          </p:cNvSpPr>
          <p:nvPr/>
        </p:nvSpPr>
        <p:spPr>
          <a:xfrm xmlns:a="http://schemas.openxmlformats.org/drawingml/2006/main">
            <a:off x="946785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SUPABASE</a:t>
            </a:r>
          </a:p>
        </p:txBody>
      </p:sp>
      <p:sp>
        <p:nvSpPr>
          <p:cNvPr id="19" name="">
            <a:extLst xmlns:a="http://schemas.openxmlformats.org/drawingml/2006/main">
              <a:ext uri="{FF2B5EF4-FFF2-40B4-BE49-F238E27FC236}">
                <a16:creationId xmlns:a16="http://schemas.microsoft.com/office/drawing/2014/main" id="{B1F229CF-8663-4463-AC23-799FFE1023AE}"/>
              </a:ext>
            </a:extLst>
          </p:cNvPr>
          <p:cNvSpPr>
            <a:spLocks xmlns:a="http://schemas.openxmlformats.org/drawingml/2006/main" noGrp="1"/>
          </p:cNvSpPr>
          <p:nvPr/>
        </p:nvSpPr>
        <p:spPr>
          <a:xfrm xmlns:a="http://schemas.openxmlformats.org/drawingml/2006/main">
            <a:off x="944880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Auth · Postgres · private resumes</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RLS per user</a:t>
            </a:r>
          </a:p>
        </p:txBody>
      </p:sp>
      <p:sp>
        <p:nvSpPr>
          <p:cNvPr id="20" name="">
            <a:extLst xmlns:a="http://schemas.openxmlformats.org/drawingml/2006/main">
              <a:ext uri="{FF2B5EF4-FFF2-40B4-BE49-F238E27FC236}">
                <a16:creationId xmlns:a16="http://schemas.microsoft.com/office/drawing/2014/main" id="{B4831715-756A-4976-BB5D-6A0EA4FC7BCD}"/>
              </a:ext>
            </a:extLst>
          </p:cNvPr>
          <p:cNvSpPr>
            <a:spLocks xmlns:a="http://schemas.openxmlformats.org/drawingml/2006/main" noGrp="1"/>
          </p:cNvSpPr>
          <p:nvPr/>
        </p:nvSpPr>
        <p:spPr>
          <a:xfrm xmlns:a="http://schemas.openxmlformats.org/drawingml/2006/main">
            <a:off x="762000" y="51911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032"/>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Mode stored in interview context</a:t>
            </a:r>
          </a:p>
        </p:txBody>
      </p:sp>
      <p:sp>
        <p:nvSpPr>
          <p:cNvPr id="21" name="">
            <a:extLst xmlns:a="http://schemas.openxmlformats.org/drawingml/2006/main">
              <a:ext uri="{FF2B5EF4-FFF2-40B4-BE49-F238E27FC236}">
                <a16:creationId xmlns:a16="http://schemas.microsoft.com/office/drawing/2014/main" id="{236C04EB-D46A-4A5C-9E67-B18B58D42C41}"/>
              </a:ext>
            </a:extLst>
          </p:cNvPr>
          <p:cNvSpPr>
            <a:spLocks xmlns:a="http://schemas.openxmlformats.org/drawingml/2006/main" noGrp="1"/>
          </p:cNvSpPr>
          <p:nvPr/>
        </p:nvSpPr>
        <p:spPr>
          <a:xfrm xmlns:a="http://schemas.openxmlformats.org/drawingml/2006/main">
            <a:off x="3657600" y="51911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Evaluations persisted per answer</a:t>
            </a:r>
          </a:p>
        </p:txBody>
      </p:sp>
      <p:sp>
        <p:nvSpPr>
          <p:cNvPr id="22" name="">
            <a:extLst xmlns:a="http://schemas.openxmlformats.org/drawingml/2006/main">
              <a:ext uri="{FF2B5EF4-FFF2-40B4-BE49-F238E27FC236}">
                <a16:creationId xmlns:a16="http://schemas.microsoft.com/office/drawing/2014/main" id="{FBBFF76A-E3E3-4405-8409-1945F13DF796}"/>
              </a:ext>
            </a:extLst>
          </p:cNvPr>
          <p:cNvSpPr>
            <a:spLocks xmlns:a="http://schemas.openxmlformats.org/drawingml/2006/main" noGrp="1"/>
          </p:cNvSpPr>
          <p:nvPr/>
        </p:nvSpPr>
        <p:spPr>
          <a:xfrm xmlns:a="http://schemas.openxmlformats.org/drawingml/2006/main">
            <a:off x="7677150" y="5191125"/>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Reports + roadmaps persisted</a:t>
            </a:r>
          </a:p>
        </p:txBody>
      </p:sp>
      <p:sp>
        <p:nvSpPr>
          <p:cNvPr id="23" name="">
            <a:extLst xmlns:a="http://schemas.openxmlformats.org/drawingml/2006/main">
              <a:ext uri="{FF2B5EF4-FFF2-40B4-BE49-F238E27FC236}">
                <a16:creationId xmlns:a16="http://schemas.microsoft.com/office/drawing/2014/main" id="{1117A1E6-E9CA-4E29-85BA-C198A535F58F}"/>
              </a:ext>
            </a:extLst>
          </p:cNvPr>
          <p:cNvSpPr>
            <a:spLocks xmlns:a="http://schemas.openxmlformats.org/drawingml/2006/main" noGrp="1"/>
          </p:cNvSpPr>
          <p:nvPr/>
        </p:nvSpPr>
        <p:spPr>
          <a:xfrm xmlns:a="http://schemas.openxmlformats.org/drawingml/2006/main">
            <a:off x="762000" y="588645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406"/>
          </a:bodyPr>
          <a:lstStyle xmlns:a="http://schemas.openxmlformats.org/drawingml/2006/main"/>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Email confirmation, auth-gated routes, private storage and server-only secrets protect candidate data.</a:t>
            </a:r>
          </a:p>
        </p:txBody>
      </p:sp>
    </p:spTree>
    <p:extLst>
      <p:ext uri="{BB962C8B-B14F-4D97-AF65-F5344CB8AC3E}">
        <p14:creationId xmlns:p14="http://schemas.microsoft.com/office/powerpoint/2010/main" val="33433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2026-07-25T20:46:20.8780000Z</dcterms:created>
  <dcterms:modified xsi:type="dcterms:W3CDTF">2026-07-25T20:46:20.8780000Z</dcterms:modified>
</coreProperties>
</file>