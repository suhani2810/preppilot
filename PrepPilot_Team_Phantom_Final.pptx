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b33aadfdc24d9c" /><Relationship Type="http://schemas.openxmlformats.org/officeDocument/2006/relationships/extended-properties" Target="/docProps/app.xml" Id="Rae9785b51987450a" /><Relationship Type="http://schemas.openxmlformats.org/officeDocument/2006/relationships/officeDocument" Target="/ppt/presentation.xml" Id="R1ab4e7224d974b72" /></Relationships>
</file>

<file path=ppt/presentation.xml><?xml version="1.0" encoding="utf-8"?>
<p:presentation xmlns:p="http://schemas.openxmlformats.org/presentationml/2006/main">
  <p:sldMasterIdLst>
    <p:sldMasterId xmlns:r="http://schemas.openxmlformats.org/officeDocument/2006/relationships" id="2147483648" r:id="R8109dbee460b45bc"/>
  </p:sldMasterIdLst>
  <p:notesMasterIdLst>
    <p:notesMasterId xmlns:r="http://schemas.openxmlformats.org/officeDocument/2006/relationships" r:id="R1eb8d63fac474835"/>
  </p:notesMasterIdLst>
  <p:sldIdLst>
    <p:sldId xmlns:r="http://schemas.openxmlformats.org/officeDocument/2006/relationships" id="256" r:id="R2ca45fd5861143c1"/>
    <p:sldId xmlns:r="http://schemas.openxmlformats.org/officeDocument/2006/relationships" id="257" r:id="R72629593c2f842b8"/>
    <p:sldId xmlns:r="http://schemas.openxmlformats.org/officeDocument/2006/relationships" id="258" r:id="R5d37b5b291a3426f"/>
    <p:sldId xmlns:r="http://schemas.openxmlformats.org/officeDocument/2006/relationships" id="259" r:id="R7a988927a4a441db"/>
    <p:sldId xmlns:r="http://schemas.openxmlformats.org/officeDocument/2006/relationships" id="260" r:id="R3c969427ba3b4ff2"/>
    <p:sldId xmlns:r="http://schemas.openxmlformats.org/officeDocument/2006/relationships" id="261" r:id="Rb4acfc27f5784ead"/>
    <p:sldId xmlns:r="http://schemas.openxmlformats.org/officeDocument/2006/relationships" id="262" r:id="R0a845c3cb9f04e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55f02ad87a480b" /><Relationship Type="http://schemas.openxmlformats.org/officeDocument/2006/relationships/slideMaster" Target="/ppt/slideMasters/slideMaster1.xml" Id="R8109dbee460b45bc" /><Relationship Type="http://schemas.openxmlformats.org/officeDocument/2006/relationships/notesMaster" Target="/ppt/notesMasters/notesMaster1.xml" Id="R1eb8d63fac474835" /><Relationship Type="http://schemas.openxmlformats.org/officeDocument/2006/relationships/presProps" Target="/ppt/presProps.xml" Id="R69d802a292e74b3f" /><Relationship Type="http://schemas.openxmlformats.org/officeDocument/2006/relationships/tableStyles" Target="/ppt/tableStyles.xml" Id="R37776f1d035b47fe" /><Relationship Type="http://schemas.openxmlformats.org/officeDocument/2006/relationships/slide" Target="/ppt/slides/slide1.xml" Id="R2ca45fd5861143c1" /><Relationship Type="http://schemas.openxmlformats.org/officeDocument/2006/relationships/slide" Target="/ppt/slides/slide2.xml" Id="R72629593c2f842b8" /><Relationship Type="http://schemas.openxmlformats.org/officeDocument/2006/relationships/slide" Target="/ppt/slides/slide3.xml" Id="R5d37b5b291a3426f" /><Relationship Type="http://schemas.openxmlformats.org/officeDocument/2006/relationships/slide" Target="/ppt/slides/slide4.xml" Id="R7a988927a4a441db" /><Relationship Type="http://schemas.openxmlformats.org/officeDocument/2006/relationships/slide" Target="/ppt/slides/slide5.xml" Id="R3c969427ba3b4ff2" /><Relationship Type="http://schemas.openxmlformats.org/officeDocument/2006/relationships/slide" Target="/ppt/slides/slide6.xml" Id="Rb4acfc27f5784ead" /><Relationship Type="http://schemas.openxmlformats.org/officeDocument/2006/relationships/slide" Target="/ppt/slides/slide7.xml" Id="R0a845c3cb9f04e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2010d563fd4b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8a9e9afd0f46bb" /><Relationship Type="http://schemas.openxmlformats.org/officeDocument/2006/relationships/notesMaster" Target="/ppt/notesMasters/notesMaster1.xml" Id="R731657a621cd4d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ae9ce1accc4061" /><Relationship Type="http://schemas.openxmlformats.org/officeDocument/2006/relationships/notesMaster" Target="/ppt/notesMasters/notesMaster1.xml" Id="R8ccc79354fb04b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4bafad8a7b4997" /><Relationship Type="http://schemas.openxmlformats.org/officeDocument/2006/relationships/notesMaster" Target="/ppt/notesMasters/notesMaster1.xml" Id="R2b8f6685b3e34e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b095c8fbc24cac" /><Relationship Type="http://schemas.openxmlformats.org/officeDocument/2006/relationships/notesMaster" Target="/ppt/notesMasters/notesMaster1.xml" Id="R84ab502c680f42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1b6dbe3e924a26" /><Relationship Type="http://schemas.openxmlformats.org/officeDocument/2006/relationships/notesMaster" Target="/ppt/notesMasters/notesMaster1.xml" Id="R11d36a5e63d045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342779c91849c2" /><Relationship Type="http://schemas.openxmlformats.org/officeDocument/2006/relationships/notesMaster" Target="/ppt/notesMasters/notesMaster1.xml" Id="R2b9ef0f8f30e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1219f9ace24d28" /><Relationship Type="http://schemas.openxmlformats.org/officeDocument/2006/relationships/notesMaster" Target="/ppt/notesMasters/notesMaster1.xml" Id="R2f0278f75e1f43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Team Phantom and PrepPilot. State that the selected track is Gen AI and the challenge is Problem Statement 2: an AI mock interview platform. Position PrepPilot as an adaptive interview experience that moves a candidate from resume to readiness.</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gap PrepPilot addresses. Generic question banks ignore the resume and target role. Fixed sequences cannot react to earlier answers or remaining time. Scores without next steps do not help candidates improve. PrepPilot combines candidate context, adaptive questioning and a learning roadmap in one flow.</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personalisation begins before the first question. A PDF resume is stored privately and converted into an editable profile of skills, projects, education and experience. The candidate configures target role, experience level, interview focus, a custom 5-to-180-minute duration, job description and a required Voice or Text mode. The mode is persisted and locked after launch.</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two modes. Voice speaks the introduction through TTS, records microphone input and transcribes it with Groq Whisper. Text displays the introduction and waits for Begin Interview. Both modes share the same adaptive engine, start the timer only after the introduction, remain locked for the session, use countdown and integrity safeguards, and close naturally before report generation.</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adaptive interviewer. It receives the previous answer, resume, interview type, interview history and remaining seconds. Every output contains an acknowledgement, transition and next question. The language avoids repetition, fake praise, score disclosure and internal reasoning. The orchestration changes across the beginning, middle, final five minutes and final minute. Short answers invite follow-ups; detailed answers allow broader topic coverage.</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measurable output. Each answer is scored on Technical Accuracy, Clarity, Relevance, Problem Solving and Communication. Readiness is the mean per-answer overall score multiplied by ten. The report shows a readiness gauge, radar, per-question feedback, strengths, gaps and ideal-answer guidance. The roadmap converts weaknesses into priority areas, quick wins, ordered study steps and practice prompts. Dashboard and history use real completed interviews only.</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architecture and security. PrepPilot uses React and TanStack Start, typed server functions protected by CSRF middleware, Groq for primary generation and Whisper transcription, OpenRouter as a text fallback, and Supabase for Auth, Postgres and private resume storage. Email verification, auth-gated routes, row-level security, private user-scoped storage and server-only API keys protect candidate data. Finish by restating that PrepPilot understands, adapts, measures and guides improvement.</a:t>
            </a:r>
          </a:p>
          <a:p xmlns:a="http://schemas.openxmlformats.org/drawingml/2006/main">
            <a:r>
              <a:t/>
            </a:r>
          </a:p>
          <a:p xmlns:a="http://schemas.openxmlformats.org/drawingml/2006/main">
            <a:r>
              <a:t>[Sources]</a:t>
            </a:r>
          </a:p>
          <a:p xmlns:a="http://schemas.openxmlformats.org/drawingml/2006/main">
            <a:r>
              <a:t>- User-approved slide content</a:t>
            </a:r>
          </a:p>
          <a:p xmlns:a="http://schemas.openxmlformats.org/drawingml/2006/main">
            <a:r>
              <a:t>- PrepPilot repository: current routes, server functions, transcription handler and Supabase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5b1ff5c45a43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a1c037d4614d60" /><Relationship Type="http://schemas.openxmlformats.org/officeDocument/2006/relationships/slideLayout" Target="/ppt/slideLayouts/slideLayout1.xml" Id="R1f20f128288c44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0f128288c44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f133be55ef4d58" /><Relationship Type="http://schemas.openxmlformats.org/officeDocument/2006/relationships/notesSlide" Target="/ppt/notesSlides/notesSlide1.xml" Id="R0f51d397bbf049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2d3371447e4c66" /><Relationship Type="http://schemas.openxmlformats.org/officeDocument/2006/relationships/notesSlide" Target="/ppt/notesSlides/notesSlide2.xml" Id="R8eaaf149f28a46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ccfe03a14a48b5" /><Relationship Type="http://schemas.openxmlformats.org/officeDocument/2006/relationships/notesSlide" Target="/ppt/notesSlides/notesSlide3.xml" Id="Rccbebb0f9d4b43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5949a9bf964901" /><Relationship Type="http://schemas.openxmlformats.org/officeDocument/2006/relationships/notesSlide" Target="/ppt/notesSlides/notesSlide4.xml" Id="R81fef0d59a2b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e0a215153643cb" /><Relationship Type="http://schemas.openxmlformats.org/officeDocument/2006/relationships/notesSlide" Target="/ppt/notesSlides/notesSlide5.xml" Id="R96f9e5e98cd04e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23cd3ad91c43c2" /><Relationship Type="http://schemas.openxmlformats.org/officeDocument/2006/relationships/notesSlide" Target="/ppt/notesSlides/notesSlide6.xml" Id="R47dc7665cfc240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83b76c8e034c50" /><Relationship Type="http://schemas.openxmlformats.org/officeDocument/2006/relationships/notesSlide" Target="/ppt/notesSlides/notesSlide7.xml" Id="Rd7a4ab90b85f4717" /></Relationships>
</file>

<file path=ppt/slides/slide1.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225078-3C8B-478E-B62E-9F67426E730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oundRect">
            <a:avLst>
              <a:gd name="adj" fmla="val 50000"/>
            </a:avLst>
          </a:prstGeom>
          <a:solidFill xmlns:a="http://schemas.openxmlformats.org/drawingml/2006/main">
            <a:srgbClr val="19B8A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0B3F3F-D6DC-4C86-B6F7-5E954F406620}"/>
              </a:ext>
            </a:extLst>
          </p:cNvPr>
          <p:cNvSpPr>
            <a:spLocks xmlns:a="http://schemas.openxmlformats.org/drawingml/2006/main" noGrp="1"/>
          </p:cNvSpPr>
          <p:nvPr/>
        </p:nvSpPr>
        <p:spPr>
          <a:xfrm xmlns:a="http://schemas.openxmlformats.org/drawingml/2006/main">
            <a:off x="666750" y="55245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68D9D0"/>
                </a:solidFill>
                <a:latin typeface="Aptos"/>
                <a:ea typeface="Aptos"/>
                <a:cs typeface="Aptos"/>
              </a:defRPr>
            </a:pPr>
            <a:r>
              <a:rPr sz="1350" b="1">
                <a:solidFill>
                  <a:srgbClr val="68D9D0"/>
                </a:solidFill>
                <a:latin typeface="Aptos"/>
                <a:ea typeface="Aptos"/>
                <a:cs typeface="Aptos"/>
              </a:rPr>
              <a:t>GEN AI · PROBLEM STATEMENT 2</a:t>
            </a:r>
          </a:p>
        </p:txBody>
      </p:sp>
      <p:sp>
        <p:nvSpPr>
          <p:cNvPr id="3" name="">
            <a:extLst xmlns:a="http://schemas.openxmlformats.org/drawingml/2006/main">
              <a:ext uri="{FF2B5EF4-FFF2-40B4-BE49-F238E27FC236}">
                <a16:creationId xmlns:a16="http://schemas.microsoft.com/office/drawing/2014/main" id="{15CBB8FD-A7BE-423F-98EF-4BC816A36980}"/>
              </a:ext>
            </a:extLst>
          </p:cNvPr>
          <p:cNvSpPr>
            <a:spLocks xmlns:a="http://schemas.openxmlformats.org/drawingml/2006/main" noGrp="1"/>
          </p:cNvSpPr>
          <p:nvPr/>
        </p:nvSpPr>
        <p:spPr>
          <a:xfrm xmlns:a="http://schemas.openxmlformats.org/drawingml/2006/main">
            <a:off x="666750" y="1676400"/>
            <a:ext cx="685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951"/>
          </a:bodyPr>
          <a:lstStyle xmlns:a="http://schemas.openxmlformats.org/drawingml/2006/main"/>
          <a:p xmlns:a="http://schemas.openxmlformats.org/drawingml/2006/main">
            <a:pPr algn="l">
              <a:buNone/>
              <a:defRPr sz="6150" b="1">
                <a:solidFill>
                  <a:srgbClr val="FFFFFF"/>
                </a:solidFill>
                <a:latin typeface="Aptos"/>
                <a:ea typeface="Aptos"/>
                <a:cs typeface="Aptos"/>
              </a:defRPr>
            </a:pPr>
            <a:r>
              <a:rPr sz="6150" b="1">
                <a:solidFill>
                  <a:srgbClr val="FFFFFF"/>
                </a:solidFill>
                <a:latin typeface="Aptos"/>
                <a:ea typeface="Aptos"/>
                <a:cs typeface="Aptos"/>
              </a:rPr>
              <a:t>PrepPilot</a:t>
            </a:r>
          </a:p>
        </p:txBody>
      </p:sp>
      <p:sp>
        <p:nvSpPr>
          <p:cNvPr id="4" name="">
            <a:extLst xmlns:a="http://schemas.openxmlformats.org/drawingml/2006/main">
              <a:ext uri="{FF2B5EF4-FFF2-40B4-BE49-F238E27FC236}">
                <a16:creationId xmlns:a16="http://schemas.microsoft.com/office/drawing/2014/main" id="{3B13ED0B-6732-4CC0-9D43-B572F1CAE713}"/>
              </a:ext>
            </a:extLst>
          </p:cNvPr>
          <p:cNvSpPr>
            <a:spLocks xmlns:a="http://schemas.openxmlformats.org/drawingml/2006/main" noGrp="1"/>
          </p:cNvSpPr>
          <p:nvPr/>
        </p:nvSpPr>
        <p:spPr>
          <a:xfrm xmlns:a="http://schemas.openxmlformats.org/drawingml/2006/main">
            <a:off x="704850" y="2857500"/>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0">
                <a:solidFill>
                  <a:srgbClr val="68D9D0"/>
                </a:solidFill>
                <a:latin typeface="Aptos"/>
                <a:ea typeface="Aptos"/>
                <a:cs typeface="Aptos"/>
              </a:defRPr>
            </a:pPr>
            <a:r>
              <a:rPr sz="2400" b="0">
                <a:solidFill>
                  <a:srgbClr val="68D9D0"/>
                </a:solidFill>
                <a:latin typeface="Aptos"/>
                <a:ea typeface="Aptos"/>
                <a:cs typeface="Aptos"/>
              </a:rPr>
              <a:t>From Resume to Ready</a:t>
            </a:r>
          </a:p>
        </p:txBody>
      </p:sp>
      <p:sp>
        <p:nvSpPr>
          <p:cNvPr id="5" name="">
            <a:extLst xmlns:a="http://schemas.openxmlformats.org/drawingml/2006/main">
              <a:ext uri="{FF2B5EF4-FFF2-40B4-BE49-F238E27FC236}">
                <a16:creationId xmlns:a16="http://schemas.microsoft.com/office/drawing/2014/main" id="{22BFC63A-1A1B-457F-B4AE-B04B00BF6C93}"/>
              </a:ext>
            </a:extLst>
          </p:cNvPr>
          <p:cNvSpPr>
            <a:spLocks xmlns:a="http://schemas.openxmlformats.org/drawingml/2006/main" noGrp="1"/>
          </p:cNvSpPr>
          <p:nvPr/>
        </p:nvSpPr>
        <p:spPr>
          <a:xfrm xmlns:a="http://schemas.openxmlformats.org/drawingml/2006/main">
            <a:off x="704850" y="361950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0">
                <a:solidFill>
                  <a:srgbClr val="C7D5DC"/>
                </a:solidFill>
                <a:latin typeface="Aptos"/>
                <a:ea typeface="Aptos"/>
                <a:cs typeface="Aptos"/>
              </a:defRPr>
            </a:pPr>
            <a:r>
              <a:rPr sz="1950" b="0">
                <a:solidFill>
                  <a:srgbClr val="C7D5DC"/>
                </a:solidFill>
                <a:latin typeface="Aptos"/>
                <a:ea typeface="Aptos"/>
                <a:cs typeface="Aptos"/>
              </a:rPr>
              <a:t>AI-powered adaptive mock interview platform</a:t>
            </a:r>
          </a:p>
        </p:txBody>
      </p:sp>
      <p:cxnSp>
        <p:nvCxnSpPr>
          <p:cNvPr id="42" name=""/>
          <p:cNvCxnSpPr/>
          <p:nvPr/>
        </p:nvCxnSpPr>
        <p:spPr>
          <a:xfrm xmlns:a="http://schemas.openxmlformats.org/drawingml/2006/main">
            <a:off x="8382000" y="1047750"/>
            <a:ext cx="0" cy="4762500"/>
          </a:xfrm>
          <a:prstGeom xmlns:a="http://schemas.openxmlformats.org/drawingml/2006/main" prst="straightConnector1">
            <a:avLst/>
          </a:prstGeom>
          <a:ln xmlns:a="http://schemas.openxmlformats.org/drawingml/2006/main" w="19050">
            <a:solidFill>
              <a:srgbClr val="274557"/>
            </a:solidFill>
            <a:prstDash val="solid"/>
          </a:ln>
        </p:spPr>
      </p:cxnSp>
      <p:sp>
        <p:nvSpPr>
          <p:cNvPr id="7" name="">
            <a:extLst xmlns:a="http://schemas.openxmlformats.org/drawingml/2006/main">
              <a:ext uri="{FF2B5EF4-FFF2-40B4-BE49-F238E27FC236}">
                <a16:creationId xmlns:a16="http://schemas.microsoft.com/office/drawing/2014/main" id="{841DD792-F899-45E2-99C6-C4BE2EB91607}"/>
              </a:ext>
            </a:extLst>
          </p:cNvPr>
          <p:cNvSpPr>
            <a:spLocks xmlns:a="http://schemas.openxmlformats.org/drawingml/2006/main" noGrp="1"/>
          </p:cNvSpPr>
          <p:nvPr/>
        </p:nvSpPr>
        <p:spPr>
          <a:xfrm xmlns:a="http://schemas.openxmlformats.org/drawingml/2006/main">
            <a:off x="8858250" y="1428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TEAM</a:t>
            </a:r>
          </a:p>
        </p:txBody>
      </p:sp>
      <p:sp>
        <p:nvSpPr>
          <p:cNvPr id="8" name="">
            <a:extLst xmlns:a="http://schemas.openxmlformats.org/drawingml/2006/main">
              <a:ext uri="{FF2B5EF4-FFF2-40B4-BE49-F238E27FC236}">
                <a16:creationId xmlns:a16="http://schemas.microsoft.com/office/drawing/2014/main" id="{79666CF8-812C-4D49-998E-58EC90704EB8}"/>
              </a:ext>
            </a:extLst>
          </p:cNvPr>
          <p:cNvSpPr>
            <a:spLocks xmlns:a="http://schemas.openxmlformats.org/drawingml/2006/main" noGrp="1"/>
          </p:cNvSpPr>
          <p:nvPr/>
        </p:nvSpPr>
        <p:spPr>
          <a:xfrm xmlns:a="http://schemas.openxmlformats.org/drawingml/2006/main">
            <a:off x="8858250" y="180975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561"/>
          </a:bodyPr>
          <a:lstStyle xmlns:a="http://schemas.openxmlformats.org/drawingml/2006/main"/>
          <a:p xmlns:a="http://schemas.openxmlformats.org/drawingml/2006/main">
            <a:pPr algn="l">
              <a:buNone/>
              <a:defRPr sz="2850" b="1">
                <a:solidFill>
                  <a:srgbClr val="FFFFFF"/>
                </a:solidFill>
                <a:latin typeface="Aptos"/>
                <a:ea typeface="Aptos"/>
                <a:cs typeface="Aptos"/>
              </a:defRPr>
            </a:pPr>
            <a:r>
              <a:rPr sz="2850" b="1">
                <a:solidFill>
                  <a:srgbClr val="FFFFFF"/>
                </a:solidFill>
                <a:latin typeface="Aptos"/>
                <a:ea typeface="Aptos"/>
                <a:cs typeface="Aptos"/>
              </a:rPr>
              <a:t>PHANTOM</a:t>
            </a:r>
          </a:p>
        </p:txBody>
      </p:sp>
      <p:sp>
        <p:nvSpPr>
          <p:cNvPr id="9" name="">
            <a:extLst xmlns:a="http://schemas.openxmlformats.org/drawingml/2006/main">
              <a:ext uri="{FF2B5EF4-FFF2-40B4-BE49-F238E27FC236}">
                <a16:creationId xmlns:a16="http://schemas.microsoft.com/office/drawing/2014/main" id="{925691CC-2BCE-4514-8644-527850CF41C0}"/>
              </a:ext>
            </a:extLst>
          </p:cNvPr>
          <p:cNvSpPr>
            <a:spLocks xmlns:a="http://schemas.openxmlformats.org/drawingml/2006/main" noGrp="1"/>
          </p:cNvSpPr>
          <p:nvPr/>
        </p:nvSpPr>
        <p:spPr>
          <a:xfrm xmlns:a="http://schemas.openxmlformats.org/drawingml/2006/main">
            <a:off x="8858250" y="3143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Leader</a:t>
            </a:r>
          </a:p>
        </p:txBody>
      </p:sp>
      <p:sp>
        <p:nvSpPr>
          <p:cNvPr id="10" name="">
            <a:extLst xmlns:a="http://schemas.openxmlformats.org/drawingml/2006/main">
              <a:ext uri="{FF2B5EF4-FFF2-40B4-BE49-F238E27FC236}">
                <a16:creationId xmlns:a16="http://schemas.microsoft.com/office/drawing/2014/main" id="{664FE65C-0C24-45B6-9E32-C2A521B34BFE}"/>
              </a:ext>
            </a:extLst>
          </p:cNvPr>
          <p:cNvSpPr>
            <a:spLocks xmlns:a="http://schemas.openxmlformats.org/drawingml/2006/main" noGrp="1"/>
          </p:cNvSpPr>
          <p:nvPr/>
        </p:nvSpPr>
        <p:spPr>
          <a:xfrm xmlns:a="http://schemas.openxmlformats.org/drawingml/2006/main">
            <a:off x="8858250" y="3476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Suhani Mahajan</a:t>
            </a:r>
          </a:p>
        </p:txBody>
      </p:sp>
      <p:sp>
        <p:nvSpPr>
          <p:cNvPr id="11" name="">
            <a:extLst xmlns:a="http://schemas.openxmlformats.org/drawingml/2006/main">
              <a:ext uri="{FF2B5EF4-FFF2-40B4-BE49-F238E27FC236}">
                <a16:creationId xmlns:a16="http://schemas.microsoft.com/office/drawing/2014/main" id="{E308AD31-FCFB-4E6F-A89D-C3B14BA667A8}"/>
              </a:ext>
            </a:extLst>
          </p:cNvPr>
          <p:cNvSpPr>
            <a:spLocks xmlns:a="http://schemas.openxmlformats.org/drawingml/2006/main" noGrp="1"/>
          </p:cNvSpPr>
          <p:nvPr/>
        </p:nvSpPr>
        <p:spPr>
          <a:xfrm xmlns:a="http://schemas.openxmlformats.org/drawingml/2006/main">
            <a:off x="8858250" y="4286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0">
                <a:solidFill>
                  <a:srgbClr val="68D9D0"/>
                </a:solidFill>
                <a:latin typeface="Aptos"/>
                <a:ea typeface="Aptos"/>
                <a:cs typeface="Aptos"/>
              </a:defRPr>
            </a:pPr>
            <a:r>
              <a:rPr sz="1275" b="0">
                <a:solidFill>
                  <a:srgbClr val="68D9D0"/>
                </a:solidFill>
                <a:latin typeface="Aptos"/>
                <a:ea typeface="Aptos"/>
                <a:cs typeface="Aptos"/>
              </a:rPr>
              <a:t>Team Member</a:t>
            </a:r>
          </a:p>
        </p:txBody>
      </p:sp>
      <p:sp>
        <p:nvSpPr>
          <p:cNvPr id="12" name="">
            <a:extLst xmlns:a="http://schemas.openxmlformats.org/drawingml/2006/main">
              <a:ext uri="{FF2B5EF4-FFF2-40B4-BE49-F238E27FC236}">
                <a16:creationId xmlns:a16="http://schemas.microsoft.com/office/drawing/2014/main" id="{4D0D0510-D95D-427A-A3D2-7D15008B6EC8}"/>
              </a:ext>
            </a:extLst>
          </p:cNvPr>
          <p:cNvSpPr>
            <a:spLocks xmlns:a="http://schemas.openxmlformats.org/drawingml/2006/main" noGrp="1"/>
          </p:cNvSpPr>
          <p:nvPr/>
        </p:nvSpPr>
        <p:spPr>
          <a:xfrm xmlns:a="http://schemas.openxmlformats.org/drawingml/2006/main">
            <a:off x="8858250" y="4619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436"/>
          </a:bodyPr>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Divyam Madan</a:t>
            </a:r>
          </a:p>
        </p:txBody>
      </p:sp>
    </p:spTree>
    <p:extLst>
      <p:ext uri="{BB962C8B-B14F-4D97-AF65-F5344CB8AC3E}">
        <p14:creationId xmlns:p14="http://schemas.microsoft.com/office/powerpoint/2010/main" val="1499703517"/>
      </p:ext>
    </p:extLst>
  </p:cSld>
</p:sld>
</file>

<file path=ppt/slides/slide2.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5CD6F7-C1CC-4A38-B878-C982272BCFAF}"/>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7BF25245-102F-4BE5-BE39-8298E2EF7DF4}"/>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Generic practice misses the real interview</a:t>
            </a:r>
          </a:p>
        </p:txBody>
      </p:sp>
      <p:sp>
        <p:nvSpPr>
          <p:cNvPr id="3" name="">
            <a:extLst xmlns:a="http://schemas.openxmlformats.org/drawingml/2006/main">
              <a:ext uri="{FF2B5EF4-FFF2-40B4-BE49-F238E27FC236}">
                <a16:creationId xmlns:a16="http://schemas.microsoft.com/office/drawing/2014/main" id="{C5BBAE0D-1679-4F31-A3AD-D41ED4FBF3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2EFE8F9-8375-4994-A32A-3BA58AC2B122}"/>
              </a:ext>
            </a:extLst>
          </p:cNvPr>
          <p:cNvSpPr>
            <a:spLocks xmlns:a="http://schemas.openxmlformats.org/drawingml/2006/main" noGrp="1"/>
          </p:cNvSpPr>
          <p:nvPr/>
        </p:nvSpPr>
        <p:spPr>
          <a:xfrm xmlns:a="http://schemas.openxmlformats.org/drawingml/2006/main">
            <a:off x="533400" y="16383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10212E"/>
                </a:solidFill>
                <a:latin typeface="Aptos"/>
                <a:ea typeface="Aptos"/>
                <a:cs typeface="Aptos"/>
              </a:defRPr>
            </a:pPr>
            <a:r>
              <a:rPr sz="2250" b="0">
                <a:solidFill>
                  <a:srgbClr val="10212E"/>
                </a:solidFill>
                <a:latin typeface="Aptos"/>
                <a:ea typeface="Aptos"/>
                <a:cs typeface="Aptos"/>
              </a:rPr>
              <a:t>Fixed questions ignore the candidate, cannot react to answers and rarely explain what to improve.</a:t>
            </a:r>
          </a:p>
        </p:txBody>
      </p:sp>
      <p:cxnSp>
        <p:nvCxnSpPr>
          <p:cNvPr id="45" name=""/>
          <p:cNvCxnSpPr/>
          <p:nvPr/>
        </p:nvCxnSpPr>
        <p:spPr>
          <a:xfrm xmlns:a="http://schemas.openxmlformats.org/drawingml/2006/main">
            <a:off x="40386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cxnSp>
        <p:nvCxnSpPr>
          <p:cNvPr id="46" name=""/>
          <p:cNvCxnSpPr/>
          <p:nvPr/>
        </p:nvCxnSpPr>
        <p:spPr>
          <a:xfrm xmlns:a="http://schemas.openxmlformats.org/drawingml/2006/main">
            <a:off x="77724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sp>
        <p:nvSpPr>
          <p:cNvPr id="7" name="">
            <a:extLst xmlns:a="http://schemas.openxmlformats.org/drawingml/2006/main">
              <a:ext uri="{FF2B5EF4-FFF2-40B4-BE49-F238E27FC236}">
                <a16:creationId xmlns:a16="http://schemas.microsoft.com/office/drawing/2014/main" id="{01210D17-5090-4D52-8BED-469223730833}"/>
              </a:ext>
            </a:extLst>
          </p:cNvPr>
          <p:cNvSpPr>
            <a:spLocks xmlns:a="http://schemas.openxmlformats.org/drawingml/2006/main" noGrp="1"/>
          </p:cNvSpPr>
          <p:nvPr/>
        </p:nvSpPr>
        <p:spPr>
          <a:xfrm xmlns:a="http://schemas.openxmlformats.org/drawingml/2006/main">
            <a:off x="5334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B92B409-3C5A-41CA-BB45-B8AD840A7D08}"/>
              </a:ext>
            </a:extLst>
          </p:cNvPr>
          <p:cNvSpPr>
            <a:spLocks xmlns:a="http://schemas.openxmlformats.org/drawingml/2006/main" noGrp="1"/>
          </p:cNvSpPr>
          <p:nvPr/>
        </p:nvSpPr>
        <p:spPr>
          <a:xfrm xmlns:a="http://schemas.openxmlformats.org/drawingml/2006/main">
            <a:off x="5334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Resume-blind</a:t>
            </a:r>
          </a:p>
        </p:txBody>
      </p:sp>
      <p:sp>
        <p:nvSpPr>
          <p:cNvPr id="9" name="">
            <a:extLst xmlns:a="http://schemas.openxmlformats.org/drawingml/2006/main">
              <a:ext uri="{FF2B5EF4-FFF2-40B4-BE49-F238E27FC236}">
                <a16:creationId xmlns:a16="http://schemas.microsoft.com/office/drawing/2014/main" id="{348C120B-4929-4352-B9CD-E3CDFAC8FB4E}"/>
              </a:ext>
            </a:extLst>
          </p:cNvPr>
          <p:cNvSpPr>
            <a:spLocks xmlns:a="http://schemas.openxmlformats.org/drawingml/2006/main" noGrp="1"/>
          </p:cNvSpPr>
          <p:nvPr/>
        </p:nvSpPr>
        <p:spPr>
          <a:xfrm xmlns:a="http://schemas.openxmlformats.org/drawingml/2006/main">
            <a:off x="5334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Generic questions ignore the candidate’s resume, target role and job description.</a:t>
            </a:r>
          </a:p>
        </p:txBody>
      </p:sp>
      <p:sp>
        <p:nvSpPr>
          <p:cNvPr id="10" name="">
            <a:extLst xmlns:a="http://schemas.openxmlformats.org/drawingml/2006/main">
              <a:ext uri="{FF2B5EF4-FFF2-40B4-BE49-F238E27FC236}">
                <a16:creationId xmlns:a16="http://schemas.microsoft.com/office/drawing/2014/main" id="{124AB78B-71D5-4E29-817B-4C608DEE50C5}"/>
              </a:ext>
            </a:extLst>
          </p:cNvPr>
          <p:cNvSpPr>
            <a:spLocks xmlns:a="http://schemas.openxmlformats.org/drawingml/2006/main" noGrp="1"/>
          </p:cNvSpPr>
          <p:nvPr/>
        </p:nvSpPr>
        <p:spPr>
          <a:xfrm xmlns:a="http://schemas.openxmlformats.org/drawingml/2006/main">
            <a:off x="42672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86654AC-0FCC-4633-9813-E27141765BAB}"/>
              </a:ext>
            </a:extLst>
          </p:cNvPr>
          <p:cNvSpPr>
            <a:spLocks xmlns:a="http://schemas.openxmlformats.org/drawingml/2006/main" noGrp="1"/>
          </p:cNvSpPr>
          <p:nvPr/>
        </p:nvSpPr>
        <p:spPr>
          <a:xfrm xmlns:a="http://schemas.openxmlformats.org/drawingml/2006/main">
            <a:off x="42672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Static</a:t>
            </a:r>
          </a:p>
        </p:txBody>
      </p:sp>
      <p:sp>
        <p:nvSpPr>
          <p:cNvPr id="12" name="">
            <a:extLst xmlns:a="http://schemas.openxmlformats.org/drawingml/2006/main">
              <a:ext uri="{FF2B5EF4-FFF2-40B4-BE49-F238E27FC236}">
                <a16:creationId xmlns:a16="http://schemas.microsoft.com/office/drawing/2014/main" id="{66B55126-15A1-4967-A3B6-B20341682B54}"/>
              </a:ext>
            </a:extLst>
          </p:cNvPr>
          <p:cNvSpPr>
            <a:spLocks xmlns:a="http://schemas.openxmlformats.org/drawingml/2006/main" noGrp="1"/>
          </p:cNvSpPr>
          <p:nvPr/>
        </p:nvSpPr>
        <p:spPr>
          <a:xfrm xmlns:a="http://schemas.openxmlformats.org/drawingml/2006/main">
            <a:off x="42672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Fixed sequences do not react to previous answers or the remaining interview time.</a:t>
            </a:r>
          </a:p>
        </p:txBody>
      </p:sp>
      <p:sp>
        <p:nvSpPr>
          <p:cNvPr id="13" name="">
            <a:extLst xmlns:a="http://schemas.openxmlformats.org/drawingml/2006/main">
              <a:ext uri="{FF2B5EF4-FFF2-40B4-BE49-F238E27FC236}">
                <a16:creationId xmlns:a16="http://schemas.microsoft.com/office/drawing/2014/main" id="{D3F28AFD-B5AA-4B41-8B04-6AC88CFE1BF0}"/>
              </a:ext>
            </a:extLst>
          </p:cNvPr>
          <p:cNvSpPr>
            <a:spLocks xmlns:a="http://schemas.openxmlformats.org/drawingml/2006/main" noGrp="1"/>
          </p:cNvSpPr>
          <p:nvPr/>
        </p:nvSpPr>
        <p:spPr>
          <a:xfrm xmlns:a="http://schemas.openxmlformats.org/drawingml/2006/main">
            <a:off x="80010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002BD5AC-81A9-417C-A115-E2FF70D4541E}"/>
              </a:ext>
            </a:extLst>
          </p:cNvPr>
          <p:cNvSpPr>
            <a:spLocks xmlns:a="http://schemas.openxmlformats.org/drawingml/2006/main" noGrp="1"/>
          </p:cNvSpPr>
          <p:nvPr/>
        </p:nvSpPr>
        <p:spPr>
          <a:xfrm xmlns:a="http://schemas.openxmlformats.org/drawingml/2006/main">
            <a:off x="80010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Shallow feedback</a:t>
            </a:r>
          </a:p>
        </p:txBody>
      </p:sp>
      <p:sp>
        <p:nvSpPr>
          <p:cNvPr id="15" name="">
            <a:extLst xmlns:a="http://schemas.openxmlformats.org/drawingml/2006/main">
              <a:ext uri="{FF2B5EF4-FFF2-40B4-BE49-F238E27FC236}">
                <a16:creationId xmlns:a16="http://schemas.microsoft.com/office/drawing/2014/main" id="{FCC636BD-835B-4CA3-B8A5-4D796B2EF128}"/>
              </a:ext>
            </a:extLst>
          </p:cNvPr>
          <p:cNvSpPr>
            <a:spLocks xmlns:a="http://schemas.openxmlformats.org/drawingml/2006/main" noGrp="1"/>
          </p:cNvSpPr>
          <p:nvPr/>
        </p:nvSpPr>
        <p:spPr>
          <a:xfrm xmlns:a="http://schemas.openxmlformats.org/drawingml/2006/main">
            <a:off x="80010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Scores without clear next steps do not create a focused improvement plan.</a:t>
            </a:r>
          </a:p>
        </p:txBody>
      </p:sp>
      <p:sp>
        <p:nvSpPr>
          <p:cNvPr id="16" name="">
            <a:extLst xmlns:a="http://schemas.openxmlformats.org/drawingml/2006/main">
              <a:ext uri="{FF2B5EF4-FFF2-40B4-BE49-F238E27FC236}">
                <a16:creationId xmlns:a16="http://schemas.microsoft.com/office/drawing/2014/main" id="{25C9BA71-4238-4E6B-AD35-47F2853A654A}"/>
              </a:ext>
            </a:extLst>
          </p:cNvPr>
          <p:cNvSpPr>
            <a:spLocks xmlns:a="http://schemas.openxmlformats.org/drawingml/2006/main" noGrp="1"/>
          </p:cNvSpPr>
          <p:nvPr/>
        </p:nvSpPr>
        <p:spPr>
          <a:xfrm xmlns:a="http://schemas.openxmlformats.org/drawingml/2006/main">
            <a:off x="533400" y="5924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694"/>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PrepPilot combines candidate context, adaptive questioning and an actionable roadmap.</a:t>
            </a:r>
          </a:p>
        </p:txBody>
      </p:sp>
    </p:spTree>
    <p:extLst>
      <p:ext uri="{BB962C8B-B14F-4D97-AF65-F5344CB8AC3E}">
        <p14:creationId xmlns:p14="http://schemas.microsoft.com/office/powerpoint/2010/main" val="2098206243"/>
      </p:ext>
    </p:extLst>
  </p:cSld>
</p:sld>
</file>

<file path=ppt/slides/slide3.xml><?xml version="1.0" encoding="utf-8"?>
<p:sld xmlns:p="http://schemas.openxmlformats.org/presentationml/2006/main">
  <p:cSld>
    <p:bg>
      <p:bgPr>
        <a:solidFill xmlns:a="http://schemas.openxmlformats.org/drawingml/2006/main">
          <a:srgbClr val="F3F8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5CD6F7-C1CC-4A38-B878-C982272BCFAF}"/>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7BF25245-102F-4BE5-BE39-8298E2EF7DF4}"/>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Personalisation starts before the interview</a:t>
            </a:r>
          </a:p>
        </p:txBody>
      </p:sp>
      <p:sp>
        <p:nvSpPr>
          <p:cNvPr id="3" name="">
            <a:extLst xmlns:a="http://schemas.openxmlformats.org/drawingml/2006/main">
              <a:ext uri="{FF2B5EF4-FFF2-40B4-BE49-F238E27FC236}">
                <a16:creationId xmlns:a16="http://schemas.microsoft.com/office/drawing/2014/main" id="{C5BBAE0D-1679-4F31-A3AD-D41ED4FBF3C9}"/>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A2EFE8F9-8375-4994-A32A-3BA58AC2B122}"/>
              </a:ext>
            </a:extLst>
          </p:cNvPr>
          <p:cNvSpPr>
            <a:spLocks xmlns:a="http://schemas.openxmlformats.org/drawingml/2006/main" noGrp="1"/>
          </p:cNvSpPr>
          <p:nvPr/>
        </p:nvSpPr>
        <p:spPr>
          <a:xfrm xmlns:a="http://schemas.openxmlformats.org/drawingml/2006/main">
            <a:off x="533400" y="16383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250" b="0">
                <a:solidFill>
                  <a:srgbClr val="10212E"/>
                </a:solidFill>
                <a:latin typeface="Aptos"/>
                <a:ea typeface="Aptos"/>
                <a:cs typeface="Aptos"/>
              </a:defRPr>
            </a:pPr>
            <a:r>
              <a:rPr sz="2250" b="0">
                <a:solidFill>
                  <a:srgbClr val="10212E"/>
                </a:solidFill>
                <a:latin typeface="Aptos"/>
                <a:ea typeface="Aptos"/>
                <a:cs typeface="Aptos"/>
              </a:rPr>
              <a:t>Resume intelligence and complete setup become context for every question.</a:t>
            </a:r>
          </a:p>
        </p:txBody>
      </p:sp>
      <p:cxnSp>
        <p:nvCxnSpPr>
          <p:cNvPr id="45" name=""/>
          <p:cNvCxnSpPr/>
          <p:nvPr/>
        </p:nvCxnSpPr>
        <p:spPr>
          <a:xfrm xmlns:a="http://schemas.openxmlformats.org/drawingml/2006/main">
            <a:off x="40386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cxnSp>
        <p:nvCxnSpPr>
          <p:cNvPr id="46" name=""/>
          <p:cNvCxnSpPr/>
          <p:nvPr/>
        </p:nvCxnSpPr>
        <p:spPr>
          <a:xfrm xmlns:a="http://schemas.openxmlformats.org/drawingml/2006/main">
            <a:off x="7772400" y="3143250"/>
            <a:ext cx="0" cy="2428875"/>
          </a:xfrm>
          <a:prstGeom xmlns:a="http://schemas.openxmlformats.org/drawingml/2006/main" prst="straightConnector1">
            <a:avLst/>
          </a:prstGeom>
          <a:ln xmlns:a="http://schemas.openxmlformats.org/drawingml/2006/main" w="19050">
            <a:solidFill>
              <a:srgbClr val="C9D9DC"/>
            </a:solidFill>
            <a:prstDash val="solid"/>
          </a:ln>
        </p:spPr>
      </p:cxnSp>
      <p:sp>
        <p:nvSpPr>
          <p:cNvPr id="7" name="">
            <a:extLst xmlns:a="http://schemas.openxmlformats.org/drawingml/2006/main">
              <a:ext uri="{FF2B5EF4-FFF2-40B4-BE49-F238E27FC236}">
                <a16:creationId xmlns:a16="http://schemas.microsoft.com/office/drawing/2014/main" id="{01210D17-5090-4D52-8BED-469223730833}"/>
              </a:ext>
            </a:extLst>
          </p:cNvPr>
          <p:cNvSpPr>
            <a:spLocks xmlns:a="http://schemas.openxmlformats.org/drawingml/2006/main" noGrp="1"/>
          </p:cNvSpPr>
          <p:nvPr/>
        </p:nvSpPr>
        <p:spPr>
          <a:xfrm xmlns:a="http://schemas.openxmlformats.org/drawingml/2006/main">
            <a:off x="5334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2B92B409-3C5A-41CA-BB45-B8AD840A7D08}"/>
              </a:ext>
            </a:extLst>
          </p:cNvPr>
          <p:cNvSpPr>
            <a:spLocks xmlns:a="http://schemas.openxmlformats.org/drawingml/2006/main" noGrp="1"/>
          </p:cNvSpPr>
          <p:nvPr/>
        </p:nvSpPr>
        <p:spPr>
          <a:xfrm xmlns:a="http://schemas.openxmlformats.org/drawingml/2006/main">
            <a:off x="5334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95"/>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Resume intelligence</a:t>
            </a:r>
          </a:p>
        </p:txBody>
      </p:sp>
      <p:sp>
        <p:nvSpPr>
          <p:cNvPr id="9" name="">
            <a:extLst xmlns:a="http://schemas.openxmlformats.org/drawingml/2006/main">
              <a:ext uri="{FF2B5EF4-FFF2-40B4-BE49-F238E27FC236}">
                <a16:creationId xmlns:a16="http://schemas.microsoft.com/office/drawing/2014/main" id="{348C120B-4929-4352-B9CD-E3CDFAC8FB4E}"/>
              </a:ext>
            </a:extLst>
          </p:cNvPr>
          <p:cNvSpPr>
            <a:spLocks xmlns:a="http://schemas.openxmlformats.org/drawingml/2006/main" noGrp="1"/>
          </p:cNvSpPr>
          <p:nvPr/>
        </p:nvSpPr>
        <p:spPr>
          <a:xfrm xmlns:a="http://schemas.openxmlformats.org/drawingml/2006/main">
            <a:off x="5334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PDF → private storage → editable profile of skills, projects, education and experience.</a:t>
            </a:r>
          </a:p>
        </p:txBody>
      </p:sp>
      <p:sp>
        <p:nvSpPr>
          <p:cNvPr id="10" name="">
            <a:extLst xmlns:a="http://schemas.openxmlformats.org/drawingml/2006/main">
              <a:ext uri="{FF2B5EF4-FFF2-40B4-BE49-F238E27FC236}">
                <a16:creationId xmlns:a16="http://schemas.microsoft.com/office/drawing/2014/main" id="{124AB78B-71D5-4E29-817B-4C608DEE50C5}"/>
              </a:ext>
            </a:extLst>
          </p:cNvPr>
          <p:cNvSpPr>
            <a:spLocks xmlns:a="http://schemas.openxmlformats.org/drawingml/2006/main" noGrp="1"/>
          </p:cNvSpPr>
          <p:nvPr/>
        </p:nvSpPr>
        <p:spPr>
          <a:xfrm xmlns:a="http://schemas.openxmlformats.org/drawingml/2006/main">
            <a:off x="42672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F86654AC-0FCC-4633-9813-E27141765BAB}"/>
              </a:ext>
            </a:extLst>
          </p:cNvPr>
          <p:cNvSpPr>
            <a:spLocks xmlns:a="http://schemas.openxmlformats.org/drawingml/2006/main" noGrp="1"/>
          </p:cNvSpPr>
          <p:nvPr/>
        </p:nvSpPr>
        <p:spPr>
          <a:xfrm xmlns:a="http://schemas.openxmlformats.org/drawingml/2006/main">
            <a:off x="42672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Complete setup</a:t>
            </a:r>
          </a:p>
        </p:txBody>
      </p:sp>
      <p:sp>
        <p:nvSpPr>
          <p:cNvPr id="12" name="">
            <a:extLst xmlns:a="http://schemas.openxmlformats.org/drawingml/2006/main">
              <a:ext uri="{FF2B5EF4-FFF2-40B4-BE49-F238E27FC236}">
                <a16:creationId xmlns:a16="http://schemas.microsoft.com/office/drawing/2014/main" id="{66B55126-15A1-4967-A3B6-B20341682B54}"/>
              </a:ext>
            </a:extLst>
          </p:cNvPr>
          <p:cNvSpPr>
            <a:spLocks xmlns:a="http://schemas.openxmlformats.org/drawingml/2006/main" noGrp="1"/>
          </p:cNvSpPr>
          <p:nvPr/>
        </p:nvSpPr>
        <p:spPr>
          <a:xfrm xmlns:a="http://schemas.openxmlformats.org/drawingml/2006/main">
            <a:off x="42672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Role, level, focus, 5–180 minute duration, job description and final review.</a:t>
            </a:r>
          </a:p>
        </p:txBody>
      </p:sp>
      <p:sp>
        <p:nvSpPr>
          <p:cNvPr id="13" name="">
            <a:extLst xmlns:a="http://schemas.openxmlformats.org/drawingml/2006/main">
              <a:ext uri="{FF2B5EF4-FFF2-40B4-BE49-F238E27FC236}">
                <a16:creationId xmlns:a16="http://schemas.microsoft.com/office/drawing/2014/main" id="{D3F28AFD-B5AA-4B41-8B04-6AC88CFE1BF0}"/>
              </a:ext>
            </a:extLst>
          </p:cNvPr>
          <p:cNvSpPr>
            <a:spLocks xmlns:a="http://schemas.openxmlformats.org/drawingml/2006/main" noGrp="1"/>
          </p:cNvSpPr>
          <p:nvPr/>
        </p:nvSpPr>
        <p:spPr>
          <a:xfrm xmlns:a="http://schemas.openxmlformats.org/drawingml/2006/main">
            <a:off x="8001000" y="3143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350" b="1">
                <a:solidFill>
                  <a:srgbClr val="19B8A5"/>
                </a:solidFill>
                <a:latin typeface="Aptos"/>
                <a:ea typeface="Aptos"/>
                <a:cs typeface="Aptos"/>
              </a:defRPr>
            </a:pPr>
            <a:r>
              <a:rPr sz="1350" b="1">
                <a:solidFill>
                  <a:srgbClr val="19B8A5"/>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002BD5AC-81A9-417C-A115-E2FF70D4541E}"/>
              </a:ext>
            </a:extLst>
          </p:cNvPr>
          <p:cNvSpPr>
            <a:spLocks xmlns:a="http://schemas.openxmlformats.org/drawingml/2006/main" noGrp="1"/>
          </p:cNvSpPr>
          <p:nvPr/>
        </p:nvSpPr>
        <p:spPr>
          <a:xfrm xmlns:a="http://schemas.openxmlformats.org/drawingml/2006/main">
            <a:off x="8001000" y="36671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2400" b="1">
                <a:solidFill>
                  <a:srgbClr val="10212E"/>
                </a:solidFill>
                <a:latin typeface="Aptos"/>
                <a:ea typeface="Aptos"/>
                <a:cs typeface="Aptos"/>
              </a:defRPr>
            </a:pPr>
            <a:r>
              <a:rPr sz="2400" b="1">
                <a:solidFill>
                  <a:srgbClr val="10212E"/>
                </a:solidFill>
                <a:latin typeface="Aptos"/>
                <a:ea typeface="Aptos"/>
                <a:cs typeface="Aptos"/>
              </a:rPr>
              <a:t>Locked mode</a:t>
            </a:r>
          </a:p>
        </p:txBody>
      </p:sp>
      <p:sp>
        <p:nvSpPr>
          <p:cNvPr id="15" name="">
            <a:extLst xmlns:a="http://schemas.openxmlformats.org/drawingml/2006/main">
              <a:ext uri="{FF2B5EF4-FFF2-40B4-BE49-F238E27FC236}">
                <a16:creationId xmlns:a16="http://schemas.microsoft.com/office/drawing/2014/main" id="{FCC636BD-835B-4CA3-B8A5-4D796B2EF128}"/>
              </a:ext>
            </a:extLst>
          </p:cNvPr>
          <p:cNvSpPr>
            <a:spLocks xmlns:a="http://schemas.openxmlformats.org/drawingml/2006/main" noGrp="1"/>
          </p:cNvSpPr>
          <p:nvPr/>
        </p:nvSpPr>
        <p:spPr>
          <a:xfrm xmlns:a="http://schemas.openxmlformats.org/drawingml/2006/main">
            <a:off x="8001000" y="4333875"/>
            <a:ext cx="30003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Voice or Text is required, stored in the session and locked after launch.</a:t>
            </a:r>
          </a:p>
        </p:txBody>
      </p:sp>
      <p:sp>
        <p:nvSpPr>
          <p:cNvPr id="16" name="">
            <a:extLst xmlns:a="http://schemas.openxmlformats.org/drawingml/2006/main">
              <a:ext uri="{FF2B5EF4-FFF2-40B4-BE49-F238E27FC236}">
                <a16:creationId xmlns:a16="http://schemas.microsoft.com/office/drawing/2014/main" id="{25C9BA71-4238-4E6B-AD35-47F2853A654A}"/>
              </a:ext>
            </a:extLst>
          </p:cNvPr>
          <p:cNvSpPr>
            <a:spLocks xmlns:a="http://schemas.openxmlformats.org/drawingml/2006/main" noGrp="1"/>
          </p:cNvSpPr>
          <p:nvPr/>
        </p:nvSpPr>
        <p:spPr>
          <a:xfrm xmlns:a="http://schemas.openxmlformats.org/drawingml/2006/main">
            <a:off x="533400" y="5924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118"/>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The AI enters the interview already knowing who and what it is interviewing.</a:t>
            </a:r>
          </a:p>
        </p:txBody>
      </p:sp>
    </p:spTree>
    <p:extLst>
      <p:ext uri="{BB962C8B-B14F-4D97-AF65-F5344CB8AC3E}">
        <p14:creationId xmlns:p14="http://schemas.microsoft.com/office/powerpoint/2010/main" val="20982062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4A2AC1-15C7-4B66-9FCE-063A7B150BEB}"/>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4610D81A-045B-4C50-9297-94BC9316EFC5}"/>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Voice and Text use the same adaptive engine</a:t>
            </a:r>
          </a:p>
        </p:txBody>
      </p:sp>
      <p:sp>
        <p:nvSpPr>
          <p:cNvPr id="3" name="">
            <a:extLst xmlns:a="http://schemas.openxmlformats.org/drawingml/2006/main">
              <a:ext uri="{FF2B5EF4-FFF2-40B4-BE49-F238E27FC236}">
                <a16:creationId xmlns:a16="http://schemas.microsoft.com/office/drawing/2014/main" id="{3D3D312F-D3E8-49B2-9E13-FE15C2A9464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B9AE4F19-BE18-4472-B487-9CD2D7EAD8BC}"/>
              </a:ext>
            </a:extLst>
          </p:cNvPr>
          <p:cNvSpPr>
            <a:spLocks xmlns:a="http://schemas.openxmlformats.org/drawingml/2006/main" noGrp="1"/>
          </p:cNvSpPr>
          <p:nvPr/>
        </p:nvSpPr>
        <p:spPr>
          <a:xfrm xmlns:a="http://schemas.openxmlformats.org/drawingml/2006/main">
            <a:off x="533400" y="18097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950" b="1">
                <a:solidFill>
                  <a:srgbClr val="19B8A5"/>
                </a:solidFill>
                <a:latin typeface="Aptos"/>
                <a:ea typeface="Aptos"/>
                <a:cs typeface="Aptos"/>
              </a:defRPr>
            </a:pPr>
            <a:r>
              <a:rPr sz="1950" b="1">
                <a:solidFill>
                  <a:srgbClr val="19B8A5"/>
                </a:solidFill>
                <a:latin typeface="Aptos"/>
                <a:ea typeface="Aptos"/>
                <a:cs typeface="Aptos"/>
              </a:rPr>
              <a:t>Two modes, one interview</a:t>
            </a:r>
          </a:p>
        </p:txBody>
      </p:sp>
      <p:sp>
        <p:nvSpPr>
          <p:cNvPr id="5" name="">
            <a:extLst xmlns:a="http://schemas.openxmlformats.org/drawingml/2006/main">
              <a:ext uri="{FF2B5EF4-FFF2-40B4-BE49-F238E27FC236}">
                <a16:creationId xmlns:a16="http://schemas.microsoft.com/office/drawing/2014/main" id="{71EBAA0D-532F-4DCB-800D-FF258A671F96}"/>
              </a:ext>
            </a:extLst>
          </p:cNvPr>
          <p:cNvSpPr>
            <a:spLocks xmlns:a="http://schemas.openxmlformats.org/drawingml/2006/main" noGrp="1"/>
          </p:cNvSpPr>
          <p:nvPr/>
        </p:nvSpPr>
        <p:spPr>
          <a:xfrm xmlns:a="http://schemas.openxmlformats.org/drawingml/2006/main">
            <a:off x="533400" y="23812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7961"/>
          </a:bodyPr>
          <a:lstStyle xmlns:a="http://schemas.openxmlformats.org/drawingml/2006/main"/>
          <a:p xmlns:a="http://schemas.openxmlformats.org/drawingml/2006/main">
            <a:pPr algn="l">
              <a:buNone/>
              <a:defRPr sz="3150" b="1">
                <a:solidFill>
                  <a:srgbClr val="10212E"/>
                </a:solidFill>
                <a:latin typeface="Aptos"/>
                <a:ea typeface="Aptos"/>
                <a:cs typeface="Aptos"/>
              </a:defRPr>
            </a:pPr>
            <a:r>
              <a:rPr sz="3150" b="1">
                <a:solidFill>
                  <a:srgbClr val="10212E"/>
                </a:solidFill>
                <a:latin typeface="Aptos"/>
                <a:ea typeface="Aptos"/>
                <a:cs typeface="Aptos"/>
              </a:rPr>
              <a:t>A natural experience from introduction to closing.</a:t>
            </a:r>
          </a:p>
        </p:txBody>
      </p:sp>
      <p:sp>
        <p:nvSpPr>
          <p:cNvPr id="6" name="">
            <a:extLst xmlns:a="http://schemas.openxmlformats.org/drawingml/2006/main">
              <a:ext uri="{FF2B5EF4-FFF2-40B4-BE49-F238E27FC236}">
                <a16:creationId xmlns:a16="http://schemas.microsoft.com/office/drawing/2014/main" id="{46B05042-C04C-45F0-9259-9EB247846F1A}"/>
              </a:ext>
            </a:extLst>
          </p:cNvPr>
          <p:cNvSpPr>
            <a:spLocks xmlns:a="http://schemas.openxmlformats.org/drawingml/2006/main" noGrp="1"/>
          </p:cNvSpPr>
          <p:nvPr/>
        </p:nvSpPr>
        <p:spPr>
          <a:xfrm xmlns:a="http://schemas.openxmlformats.org/drawingml/2006/main">
            <a:off x="533400" y="40957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650" b="0">
                <a:solidFill>
                  <a:srgbClr val="5D7080"/>
                </a:solidFill>
                <a:latin typeface="Aptos"/>
                <a:ea typeface="Aptos"/>
                <a:cs typeface="Aptos"/>
              </a:defRPr>
            </a:pPr>
            <a:r>
              <a:rPr sz="1650" b="0">
                <a:solidFill>
                  <a:srgbClr val="5D7080"/>
                </a:solidFill>
                <a:latin typeface="Aptos"/>
                <a:ea typeface="Aptos"/>
                <a:cs typeface="Aptos"/>
              </a:rPr>
              <a:t>The introduction explains role, duration, focus and adaptive follow-ups. The timer starts only after it finishes.</a:t>
            </a:r>
          </a:p>
        </p:txBody>
      </p:sp>
      <p:cxnSp>
        <p:nvCxnSpPr>
          <p:cNvPr id="51" name=""/>
          <p:cNvCxnSpPr/>
          <p:nvPr/>
        </p:nvCxnSpPr>
        <p:spPr>
          <a:xfrm xmlns:a="http://schemas.openxmlformats.org/drawingml/2006/main">
            <a:off x="6191250" y="2095500"/>
            <a:ext cx="0" cy="3429000"/>
          </a:xfrm>
          <a:prstGeom xmlns:a="http://schemas.openxmlformats.org/drawingml/2006/main" prst="straightConnector1">
            <a:avLst/>
          </a:prstGeom>
          <a:ln xmlns:a="http://schemas.openxmlformats.org/drawingml/2006/main" w="19050">
            <a:solidFill>
              <a:srgbClr val="C9D9DC"/>
            </a:solidFill>
            <a:prstDash val="solid"/>
          </a:ln>
        </p:spPr>
      </p:cxnSp>
      <p:sp>
        <p:nvSpPr>
          <p:cNvPr id="8" name="">
            <a:extLst xmlns:a="http://schemas.openxmlformats.org/drawingml/2006/main">
              <a:ext uri="{FF2B5EF4-FFF2-40B4-BE49-F238E27FC236}">
                <a16:creationId xmlns:a16="http://schemas.microsoft.com/office/drawing/2014/main" id="{D3B24727-4608-467B-8723-DF01F7E642B2}"/>
              </a:ext>
            </a:extLst>
          </p:cNvPr>
          <p:cNvSpPr>
            <a:spLocks xmlns:a="http://schemas.openxmlformats.org/drawingml/2006/main" noGrp="1"/>
          </p:cNvSpPr>
          <p:nvPr/>
        </p:nvSpPr>
        <p:spPr>
          <a:xfrm xmlns:a="http://schemas.openxmlformats.org/drawingml/2006/main">
            <a:off x="6762750" y="18097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A04EBB-4811-4274-849B-F46C31265588}"/>
              </a:ext>
            </a:extLst>
          </p:cNvPr>
          <p:cNvSpPr>
            <a:spLocks xmlns:a="http://schemas.openxmlformats.org/drawingml/2006/main" noGrp="1"/>
          </p:cNvSpPr>
          <p:nvPr/>
        </p:nvSpPr>
        <p:spPr>
          <a:xfrm xmlns:a="http://schemas.openxmlformats.org/drawingml/2006/main">
            <a:off x="7067550" y="2000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VOICE MODE</a:t>
            </a:r>
          </a:p>
        </p:txBody>
      </p:sp>
      <p:sp>
        <p:nvSpPr>
          <p:cNvPr id="10" name="">
            <a:extLst xmlns:a="http://schemas.openxmlformats.org/drawingml/2006/main">
              <a:ext uri="{FF2B5EF4-FFF2-40B4-BE49-F238E27FC236}">
                <a16:creationId xmlns:a16="http://schemas.microsoft.com/office/drawing/2014/main" id="{5B2DA56A-E310-479E-9DC5-A0DAD2604BA5}"/>
              </a:ext>
            </a:extLst>
          </p:cNvPr>
          <p:cNvSpPr>
            <a:spLocks xmlns:a="http://schemas.openxmlformats.org/drawingml/2006/main" noGrp="1"/>
          </p:cNvSpPr>
          <p:nvPr/>
        </p:nvSpPr>
        <p:spPr>
          <a:xfrm xmlns:a="http://schemas.openxmlformats.org/drawingml/2006/main">
            <a:off x="7067550" y="23336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TTS intro · microphone · Groq STT</a:t>
            </a:r>
          </a:p>
        </p:txBody>
      </p:sp>
      <p:sp>
        <p:nvSpPr>
          <p:cNvPr id="11" name="">
            <a:extLst xmlns:a="http://schemas.openxmlformats.org/drawingml/2006/main">
              <a:ext uri="{FF2B5EF4-FFF2-40B4-BE49-F238E27FC236}">
                <a16:creationId xmlns:a16="http://schemas.microsoft.com/office/drawing/2014/main" id="{DC604C5C-89C0-4A57-A2F8-1B64CDBD7278}"/>
              </a:ext>
            </a:extLst>
          </p:cNvPr>
          <p:cNvSpPr>
            <a:spLocks xmlns:a="http://schemas.openxmlformats.org/drawingml/2006/main" noGrp="1"/>
          </p:cNvSpPr>
          <p:nvPr/>
        </p:nvSpPr>
        <p:spPr>
          <a:xfrm xmlns:a="http://schemas.openxmlformats.org/drawingml/2006/main">
            <a:off x="6762750" y="3238500"/>
            <a:ext cx="4476750" cy="1095375"/>
          </a:xfrm>
          <a:prstGeom xmlns:a="http://schemas.openxmlformats.org/drawingml/2006/main" prst="roundRect">
            <a:avLst>
              <a:gd name="adj" fmla="val 10435"/>
            </a:avLst>
          </a:prstGeom>
          <a:solidFill xmlns:a="http://schemas.openxmlformats.org/drawingml/2006/main">
            <a:srgbClr val="10263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D787F9-3E8F-47DF-9CB8-4F5A217120E5}"/>
              </a:ext>
            </a:extLst>
          </p:cNvPr>
          <p:cNvSpPr>
            <a:spLocks xmlns:a="http://schemas.openxmlformats.org/drawingml/2006/main" noGrp="1"/>
          </p:cNvSpPr>
          <p:nvPr/>
        </p:nvSpPr>
        <p:spPr>
          <a:xfrm xmlns:a="http://schemas.openxmlformats.org/drawingml/2006/main">
            <a:off x="7067550" y="34290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TEXT MODE</a:t>
            </a:r>
          </a:p>
        </p:txBody>
      </p:sp>
      <p:sp>
        <p:nvSpPr>
          <p:cNvPr id="13" name="">
            <a:extLst xmlns:a="http://schemas.openxmlformats.org/drawingml/2006/main">
              <a:ext uri="{FF2B5EF4-FFF2-40B4-BE49-F238E27FC236}">
                <a16:creationId xmlns:a16="http://schemas.microsoft.com/office/drawing/2014/main" id="{BAE5AEDA-EDCD-4284-B1E6-16573E4932CD}"/>
              </a:ext>
            </a:extLst>
          </p:cNvPr>
          <p:cNvSpPr>
            <a:spLocks xmlns:a="http://schemas.openxmlformats.org/drawingml/2006/main" noGrp="1"/>
          </p:cNvSpPr>
          <p:nvPr/>
        </p:nvSpPr>
        <p:spPr>
          <a:xfrm xmlns:a="http://schemas.openxmlformats.org/drawingml/2006/main">
            <a:off x="7067550" y="37623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950"/>
          </a:bodyPr>
          <a:lstStyle xmlns:a="http://schemas.openxmlformats.org/drawingml/2006/main"/>
          <a:p xmlns:a="http://schemas.openxmlformats.org/drawingml/2006/main">
            <a:pPr algn="l">
              <a:buNone/>
              <a:defRPr sz="1875" b="1">
                <a:solidFill>
                  <a:srgbClr val="FFFFFF"/>
                </a:solidFill>
                <a:latin typeface="Aptos"/>
                <a:ea typeface="Aptos"/>
                <a:cs typeface="Aptos"/>
              </a:defRPr>
            </a:pPr>
            <a:r>
              <a:rPr sz="1875" b="1">
                <a:solidFill>
                  <a:srgbClr val="FFFFFF"/>
                </a:solidFill>
                <a:latin typeface="Aptos"/>
                <a:ea typeface="Aptos"/>
                <a:cs typeface="Aptos"/>
              </a:rPr>
              <a:t>Intro · Begin Interview · typed answers</a:t>
            </a:r>
          </a:p>
        </p:txBody>
      </p:sp>
      <p:sp>
        <p:nvSpPr>
          <p:cNvPr id="14" name="">
            <a:extLst xmlns:a="http://schemas.openxmlformats.org/drawingml/2006/main">
              <a:ext uri="{FF2B5EF4-FFF2-40B4-BE49-F238E27FC236}">
                <a16:creationId xmlns:a16="http://schemas.microsoft.com/office/drawing/2014/main" id="{2AF2DD6C-9416-4645-987D-F797F1F5CDB9}"/>
              </a:ext>
            </a:extLst>
          </p:cNvPr>
          <p:cNvSpPr>
            <a:spLocks xmlns:a="http://schemas.openxmlformats.org/drawingml/2006/main" noGrp="1"/>
          </p:cNvSpPr>
          <p:nvPr/>
        </p:nvSpPr>
        <p:spPr>
          <a:xfrm xmlns:a="http://schemas.openxmlformats.org/drawingml/2006/main">
            <a:off x="6762750" y="4667250"/>
            <a:ext cx="4476750" cy="1095375"/>
          </a:xfrm>
          <a:prstGeom xmlns:a="http://schemas.openxmlformats.org/drawingml/2006/main" prst="roundRect">
            <a:avLst>
              <a:gd name="adj" fmla="val 10435"/>
            </a:avLst>
          </a:prstGeom>
          <a:solidFill xmlns:a="http://schemas.openxmlformats.org/drawingml/2006/main">
            <a:srgbClr val="DDF7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C9587F-FF86-44D3-947C-FBA71B15FA70}"/>
              </a:ext>
            </a:extLst>
          </p:cNvPr>
          <p:cNvSpPr>
            <a:spLocks xmlns:a="http://schemas.openxmlformats.org/drawingml/2006/main" noGrp="1"/>
          </p:cNvSpPr>
          <p:nvPr/>
        </p:nvSpPr>
        <p:spPr>
          <a:xfrm xmlns:a="http://schemas.openxmlformats.org/drawingml/2006/main">
            <a:off x="7067550" y="48577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417"/>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SHARED SESSION</a:t>
            </a:r>
          </a:p>
        </p:txBody>
      </p:sp>
      <p:sp>
        <p:nvSpPr>
          <p:cNvPr id="16" name="">
            <a:extLst xmlns:a="http://schemas.openxmlformats.org/drawingml/2006/main">
              <a:ext uri="{FF2B5EF4-FFF2-40B4-BE49-F238E27FC236}">
                <a16:creationId xmlns:a16="http://schemas.microsoft.com/office/drawing/2014/main" id="{960595C3-FD41-45D2-85F9-AE185E72B53C}"/>
              </a:ext>
            </a:extLst>
          </p:cNvPr>
          <p:cNvSpPr>
            <a:spLocks xmlns:a="http://schemas.openxmlformats.org/drawingml/2006/main" noGrp="1"/>
          </p:cNvSpPr>
          <p:nvPr/>
        </p:nvSpPr>
        <p:spPr>
          <a:xfrm xmlns:a="http://schemas.openxmlformats.org/drawingml/2006/main">
            <a:off x="7067550" y="51911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5454"/>
          </a:bodyPr>
          <a:lstStyle xmlns:a="http://schemas.openxmlformats.org/drawingml/2006/main"/>
          <a:p xmlns:a="http://schemas.openxmlformats.org/drawingml/2006/main">
            <a:pPr algn="l">
              <a:buNone/>
              <a:defRPr sz="1875" b="1">
                <a:solidFill>
                  <a:srgbClr val="10212E"/>
                </a:solidFill>
                <a:latin typeface="Aptos"/>
                <a:ea typeface="Aptos"/>
                <a:cs typeface="Aptos"/>
              </a:defRPr>
            </a:pPr>
            <a:r>
              <a:rPr sz="1875" b="1">
                <a:solidFill>
                  <a:srgbClr val="10212E"/>
                </a:solidFill>
                <a:latin typeface="Aptos"/>
                <a:ea typeface="Aptos"/>
                <a:cs typeface="Aptos"/>
              </a:rPr>
              <a:t>Mode locked · countdown · anti-cheat · outro</a:t>
            </a:r>
          </a:p>
        </p:txBody>
      </p:sp>
    </p:spTree>
    <p:extLst>
      <p:ext uri="{BB962C8B-B14F-4D97-AF65-F5344CB8AC3E}">
        <p14:creationId xmlns:p14="http://schemas.microsoft.com/office/powerpoint/2010/main" val="3007773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A1AABC-626C-4244-8AEC-67C05148A201}"/>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2726CF46-C4FB-4AE0-A536-453C07299DD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Every answer changes the next interviewer turn</a:t>
            </a:r>
          </a:p>
        </p:txBody>
      </p:sp>
      <p:sp>
        <p:nvSpPr>
          <p:cNvPr id="3" name="">
            <a:extLst xmlns:a="http://schemas.openxmlformats.org/drawingml/2006/main">
              <a:ext uri="{FF2B5EF4-FFF2-40B4-BE49-F238E27FC236}">
                <a16:creationId xmlns:a16="http://schemas.microsoft.com/office/drawing/2014/main" id="{B2B273C2-605D-4B79-879F-BC171B2C03D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05</a:t>
            </a:r>
          </a:p>
        </p:txBody>
      </p:sp>
      <p:cxnSp>
        <p:nvCxnSpPr>
          <p:cNvPr id="42" name=""/>
          <p:cNvCxnSpPr/>
          <p:nvPr/>
        </p:nvCxnSpPr>
        <p:spPr>
          <a:xfrm xmlns:a="http://schemas.openxmlformats.org/drawingml/2006/main">
            <a:off x="6096000" y="1809750"/>
            <a:ext cx="0" cy="3714750"/>
          </a:xfrm>
          <a:prstGeom xmlns:a="http://schemas.openxmlformats.org/drawingml/2006/main" prst="straightConnector1">
            <a:avLst/>
          </a:prstGeom>
          <a:ln xmlns:a="http://schemas.openxmlformats.org/drawingml/2006/main" w="19050">
            <a:solidFill>
              <a:srgbClr val="C9D9DC"/>
            </a:solidFill>
            <a:prstDash val="solid"/>
          </a:ln>
        </p:spPr>
      </p:cxnSp>
      <p:cxnSp>
        <p:nvCxnSpPr>
          <p:cNvPr id="43" name=""/>
          <p:cNvCxnSpPr/>
          <p:nvPr/>
        </p:nvCxnSpPr>
        <p:spPr>
          <a:xfrm xmlns:a="http://schemas.openxmlformats.org/drawingml/2006/main">
            <a:off x="533400" y="3667125"/>
            <a:ext cx="11125200" cy="0"/>
          </a:xfrm>
          <a:prstGeom xmlns:a="http://schemas.openxmlformats.org/drawingml/2006/main" prst="straightConnector1">
            <a:avLst/>
          </a:prstGeom>
          <a:ln xmlns:a="http://schemas.openxmlformats.org/drawingml/2006/main" w="19050">
            <a:solidFill>
              <a:srgbClr val="C9D9DC"/>
            </a:solidFill>
            <a:prstDash val="solid"/>
          </a:ln>
        </p:spPr>
      </p:cxnSp>
      <p:sp>
        <p:nvSpPr>
          <p:cNvPr id="6" name="">
            <a:extLst xmlns:a="http://schemas.openxmlformats.org/drawingml/2006/main">
              <a:ext uri="{FF2B5EF4-FFF2-40B4-BE49-F238E27FC236}">
                <a16:creationId xmlns:a16="http://schemas.microsoft.com/office/drawing/2014/main" id="{8FB49EB9-896A-49B9-8103-D56FCA38FA88}"/>
              </a:ext>
            </a:extLst>
          </p:cNvPr>
          <p:cNvSpPr>
            <a:spLocks xmlns:a="http://schemas.openxmlformats.org/drawingml/2006/main" noGrp="1"/>
          </p:cNvSpPr>
          <p:nvPr/>
        </p:nvSpPr>
        <p:spPr>
          <a:xfrm xmlns:a="http://schemas.openxmlformats.org/drawingml/2006/main">
            <a:off x="53340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E89F89D8-1855-4ABF-8034-7193B75D0F9F}"/>
              </a:ext>
            </a:extLst>
          </p:cNvPr>
          <p:cNvSpPr>
            <a:spLocks xmlns:a="http://schemas.openxmlformats.org/drawingml/2006/main" noGrp="1"/>
          </p:cNvSpPr>
          <p:nvPr/>
        </p:nvSpPr>
        <p:spPr>
          <a:xfrm xmlns:a="http://schemas.openxmlformats.org/drawingml/2006/main">
            <a:off x="53340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Live context</a:t>
            </a:r>
          </a:p>
        </p:txBody>
      </p:sp>
      <p:sp>
        <p:nvSpPr>
          <p:cNvPr id="8" name="">
            <a:extLst xmlns:a="http://schemas.openxmlformats.org/drawingml/2006/main">
              <a:ext uri="{FF2B5EF4-FFF2-40B4-BE49-F238E27FC236}">
                <a16:creationId xmlns:a16="http://schemas.microsoft.com/office/drawing/2014/main" id="{7A7272A9-6A2E-42F9-A3AD-973BDA13E0AB}"/>
              </a:ext>
            </a:extLst>
          </p:cNvPr>
          <p:cNvSpPr>
            <a:spLocks xmlns:a="http://schemas.openxmlformats.org/drawingml/2006/main" noGrp="1"/>
          </p:cNvSpPr>
          <p:nvPr/>
        </p:nvSpPr>
        <p:spPr>
          <a:xfrm xmlns:a="http://schemas.openxmlformats.org/drawingml/2006/main">
            <a:off x="53340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Previous answer, resume, selected interview type, history and remaining time shape the next turn.</a:t>
            </a:r>
          </a:p>
        </p:txBody>
      </p:sp>
      <p:sp>
        <p:nvSpPr>
          <p:cNvPr id="9" name="">
            <a:extLst xmlns:a="http://schemas.openxmlformats.org/drawingml/2006/main">
              <a:ext uri="{FF2B5EF4-FFF2-40B4-BE49-F238E27FC236}">
                <a16:creationId xmlns:a16="http://schemas.microsoft.com/office/drawing/2014/main" id="{6405BB4A-655F-4E9D-811E-44D0948B5FEB}"/>
              </a:ext>
            </a:extLst>
          </p:cNvPr>
          <p:cNvSpPr>
            <a:spLocks xmlns:a="http://schemas.openxmlformats.org/drawingml/2006/main" noGrp="1"/>
          </p:cNvSpPr>
          <p:nvPr/>
        </p:nvSpPr>
        <p:spPr>
          <a:xfrm xmlns:a="http://schemas.openxmlformats.org/drawingml/2006/main">
            <a:off x="653415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C5955D4-5FAA-4D04-8AA7-2E98C9FAFCC3}"/>
              </a:ext>
            </a:extLst>
          </p:cNvPr>
          <p:cNvSpPr>
            <a:spLocks xmlns:a="http://schemas.openxmlformats.org/drawingml/2006/main" noGrp="1"/>
          </p:cNvSpPr>
          <p:nvPr/>
        </p:nvSpPr>
        <p:spPr>
          <a:xfrm xmlns:a="http://schemas.openxmlformats.org/drawingml/2006/main">
            <a:off x="653415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Natural response</a:t>
            </a:r>
          </a:p>
        </p:txBody>
      </p:sp>
      <p:sp>
        <p:nvSpPr>
          <p:cNvPr id="11" name="">
            <a:extLst xmlns:a="http://schemas.openxmlformats.org/drawingml/2006/main">
              <a:ext uri="{FF2B5EF4-FFF2-40B4-BE49-F238E27FC236}">
                <a16:creationId xmlns:a16="http://schemas.microsoft.com/office/drawing/2014/main" id="{105D33DA-423E-4A7C-89E5-F0A13DAFF863}"/>
              </a:ext>
            </a:extLst>
          </p:cNvPr>
          <p:cNvSpPr>
            <a:spLocks xmlns:a="http://schemas.openxmlformats.org/drawingml/2006/main" noGrp="1"/>
          </p:cNvSpPr>
          <p:nvPr/>
        </p:nvSpPr>
        <p:spPr>
          <a:xfrm xmlns:a="http://schemas.openxmlformats.org/drawingml/2006/main">
            <a:off x="653415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Acknowledgement + transition + question, without repetition, fake praise or score disclosure.</a:t>
            </a:r>
          </a:p>
        </p:txBody>
      </p:sp>
      <p:sp>
        <p:nvSpPr>
          <p:cNvPr id="12" name="">
            <a:extLst xmlns:a="http://schemas.openxmlformats.org/drawingml/2006/main">
              <a:ext uri="{FF2B5EF4-FFF2-40B4-BE49-F238E27FC236}">
                <a16:creationId xmlns:a16="http://schemas.microsoft.com/office/drawing/2014/main" id="{D8F49B0B-0E7E-4F95-814B-E03970F5D140}"/>
              </a:ext>
            </a:extLst>
          </p:cNvPr>
          <p:cNvSpPr>
            <a:spLocks xmlns:a="http://schemas.openxmlformats.org/drawingml/2006/main" noGrp="1"/>
          </p:cNvSpPr>
          <p:nvPr/>
        </p:nvSpPr>
        <p:spPr>
          <a:xfrm xmlns:a="http://schemas.openxmlformats.org/drawingml/2006/main">
            <a:off x="53340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9C909FA8-7DCA-4594-B335-7ECAFCE45F97}"/>
              </a:ext>
            </a:extLst>
          </p:cNvPr>
          <p:cNvSpPr>
            <a:spLocks xmlns:a="http://schemas.openxmlformats.org/drawingml/2006/main" noGrp="1"/>
          </p:cNvSpPr>
          <p:nvPr/>
        </p:nvSpPr>
        <p:spPr>
          <a:xfrm xmlns:a="http://schemas.openxmlformats.org/drawingml/2006/main">
            <a:off x="53340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Time stages</a:t>
            </a:r>
          </a:p>
        </p:txBody>
      </p:sp>
      <p:sp>
        <p:nvSpPr>
          <p:cNvPr id="14" name="">
            <a:extLst xmlns:a="http://schemas.openxmlformats.org/drawingml/2006/main">
              <a:ext uri="{FF2B5EF4-FFF2-40B4-BE49-F238E27FC236}">
                <a16:creationId xmlns:a16="http://schemas.microsoft.com/office/drawing/2014/main" id="{01DE0FCB-B8A0-4974-984D-32C2ED62BAC1}"/>
              </a:ext>
            </a:extLst>
          </p:cNvPr>
          <p:cNvSpPr>
            <a:spLocks xmlns:a="http://schemas.openxmlformats.org/drawingml/2006/main" noGrp="1"/>
          </p:cNvSpPr>
          <p:nvPr/>
        </p:nvSpPr>
        <p:spPr>
          <a:xfrm xmlns:a="http://schemas.openxmlformats.org/drawingml/2006/main">
            <a:off x="53340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Background first; projects in the middle; final questions near the end and in the last minute.</a:t>
            </a:r>
          </a:p>
        </p:txBody>
      </p:sp>
      <p:sp>
        <p:nvSpPr>
          <p:cNvPr id="15" name="">
            <a:extLst xmlns:a="http://schemas.openxmlformats.org/drawingml/2006/main">
              <a:ext uri="{FF2B5EF4-FFF2-40B4-BE49-F238E27FC236}">
                <a16:creationId xmlns:a16="http://schemas.microsoft.com/office/drawing/2014/main" id="{5AA52610-5E47-40E3-BED6-06BBA137CB16}"/>
              </a:ext>
            </a:extLst>
          </p:cNvPr>
          <p:cNvSpPr>
            <a:spLocks xmlns:a="http://schemas.openxmlformats.org/drawingml/2006/main" noGrp="1"/>
          </p:cNvSpPr>
          <p:nvPr/>
        </p:nvSpPr>
        <p:spPr>
          <a:xfrm xmlns:a="http://schemas.openxmlformats.org/drawingml/2006/main">
            <a:off x="653415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EAC59123-EE53-4822-AD7C-9EE58F8FD845}"/>
              </a:ext>
            </a:extLst>
          </p:cNvPr>
          <p:cNvSpPr>
            <a:spLocks xmlns:a="http://schemas.openxmlformats.org/drawingml/2006/main" noGrp="1"/>
          </p:cNvSpPr>
          <p:nvPr/>
        </p:nvSpPr>
        <p:spPr>
          <a:xfrm xmlns:a="http://schemas.openxmlformats.org/drawingml/2006/main">
            <a:off x="653415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Answer depth</a:t>
            </a:r>
          </a:p>
        </p:txBody>
      </p:sp>
      <p:sp>
        <p:nvSpPr>
          <p:cNvPr id="17" name="">
            <a:extLst xmlns:a="http://schemas.openxmlformats.org/drawingml/2006/main">
              <a:ext uri="{FF2B5EF4-FFF2-40B4-BE49-F238E27FC236}">
                <a16:creationId xmlns:a16="http://schemas.microsoft.com/office/drawing/2014/main" id="{57A26E47-B774-4A54-AF20-D80C58B6BE01}"/>
              </a:ext>
            </a:extLst>
          </p:cNvPr>
          <p:cNvSpPr>
            <a:spLocks xmlns:a="http://schemas.openxmlformats.org/drawingml/2006/main" noGrp="1"/>
          </p:cNvSpPr>
          <p:nvPr/>
        </p:nvSpPr>
        <p:spPr>
          <a:xfrm xmlns:a="http://schemas.openxmlformats.org/drawingml/2006/main">
            <a:off x="653415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Short answers trigger follow-ups; detailed answers move on while balancing technical, resume and behavioural topics.</a:t>
            </a:r>
          </a:p>
        </p:txBody>
      </p:sp>
      <p:sp>
        <p:nvSpPr>
          <p:cNvPr id="18" name="">
            <a:extLst xmlns:a="http://schemas.openxmlformats.org/drawingml/2006/main">
              <a:ext uri="{FF2B5EF4-FFF2-40B4-BE49-F238E27FC236}">
                <a16:creationId xmlns:a16="http://schemas.microsoft.com/office/drawing/2014/main" id="{C02F527B-FD45-4B0E-9124-5FF8D4BB086B}"/>
              </a:ext>
            </a:extLst>
          </p:cNvPr>
          <p:cNvSpPr>
            <a:spLocks xmlns:a="http://schemas.openxmlformats.org/drawingml/2006/main" noGrp="1"/>
          </p:cNvSpPr>
          <p:nvPr/>
        </p:nvSpPr>
        <p:spPr>
          <a:xfrm xmlns:a="http://schemas.openxmlformats.org/drawingml/2006/main">
            <a:off x="533400" y="5953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No fixed question count: remaining time controls the interview.</a:t>
            </a:r>
          </a:p>
        </p:txBody>
      </p:sp>
    </p:spTree>
    <p:extLst>
      <p:ext uri="{BB962C8B-B14F-4D97-AF65-F5344CB8AC3E}">
        <p14:creationId xmlns:p14="http://schemas.microsoft.com/office/powerpoint/2010/main" val="9739487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A1AABC-626C-4244-8AEC-67C05148A201}"/>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19B8A5"/>
                </a:solidFill>
                <a:latin typeface="Aptos"/>
                <a:ea typeface="Aptos"/>
                <a:cs typeface="Aptos"/>
              </a:defRPr>
            </a:pPr>
            <a:r>
              <a:rPr sz="1200" b="1">
                <a:solidFill>
                  <a:srgbClr val="19B8A5"/>
                </a:solidFill>
                <a:latin typeface="Aptos"/>
                <a:ea typeface="Aptos"/>
                <a:cs typeface="Aptos"/>
              </a:rPr>
              <a:t>PREPPILOT · TEAM PHANTOM</a:t>
            </a:r>
          </a:p>
        </p:txBody>
      </p:sp>
      <p:sp>
        <p:nvSpPr>
          <p:cNvPr id="2" name="">
            <a:extLst xmlns:a="http://schemas.openxmlformats.org/drawingml/2006/main">
              <a:ext uri="{FF2B5EF4-FFF2-40B4-BE49-F238E27FC236}">
                <a16:creationId xmlns:a16="http://schemas.microsoft.com/office/drawing/2014/main" id="{2726CF46-C4FB-4AE0-A536-453C07299DD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180"/>
          </a:bodyPr>
          <a:lstStyle xmlns:a="http://schemas.openxmlformats.org/drawingml/2006/main"/>
          <a:p xmlns:a="http://schemas.openxmlformats.org/drawingml/2006/main">
            <a:pPr algn="l">
              <a:buNone/>
              <a:defRPr sz="3600" b="1">
                <a:solidFill>
                  <a:srgbClr val="10212E"/>
                </a:solidFill>
                <a:latin typeface="Aptos"/>
                <a:ea typeface="Aptos"/>
                <a:cs typeface="Aptos"/>
              </a:defRPr>
            </a:pPr>
            <a:r>
              <a:rPr sz="3600" b="1">
                <a:solidFill>
                  <a:srgbClr val="10212E"/>
                </a:solidFill>
                <a:latin typeface="Aptos"/>
                <a:ea typeface="Aptos"/>
                <a:cs typeface="Aptos"/>
              </a:rPr>
              <a:t>Evaluation becomes a personalised improvement plan</a:t>
            </a:r>
          </a:p>
        </p:txBody>
      </p:sp>
      <p:sp>
        <p:nvSpPr>
          <p:cNvPr id="3" name="">
            <a:extLst xmlns:a="http://schemas.openxmlformats.org/drawingml/2006/main">
              <a:ext uri="{FF2B5EF4-FFF2-40B4-BE49-F238E27FC236}">
                <a16:creationId xmlns:a16="http://schemas.microsoft.com/office/drawing/2014/main" id="{B2B273C2-605D-4B79-879F-BC171B2C03D4}"/>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5D7080"/>
                </a:solidFill>
                <a:latin typeface="Aptos"/>
                <a:ea typeface="Aptos"/>
                <a:cs typeface="Aptos"/>
              </a:defRPr>
            </a:pPr>
            <a:r>
              <a:rPr sz="1200" b="1">
                <a:solidFill>
                  <a:srgbClr val="5D7080"/>
                </a:solidFill>
                <a:latin typeface="Aptos"/>
                <a:ea typeface="Aptos"/>
                <a:cs typeface="Aptos"/>
              </a:rPr>
              <a:t>06</a:t>
            </a:r>
          </a:p>
        </p:txBody>
      </p:sp>
      <p:cxnSp>
        <p:nvCxnSpPr>
          <p:cNvPr id="42" name=""/>
          <p:cNvCxnSpPr/>
          <p:nvPr/>
        </p:nvCxnSpPr>
        <p:spPr>
          <a:xfrm xmlns:a="http://schemas.openxmlformats.org/drawingml/2006/main">
            <a:off x="6096000" y="1809750"/>
            <a:ext cx="0" cy="3714750"/>
          </a:xfrm>
          <a:prstGeom xmlns:a="http://schemas.openxmlformats.org/drawingml/2006/main" prst="straightConnector1">
            <a:avLst/>
          </a:prstGeom>
          <a:ln xmlns:a="http://schemas.openxmlformats.org/drawingml/2006/main" w="19050">
            <a:solidFill>
              <a:srgbClr val="C9D9DC"/>
            </a:solidFill>
            <a:prstDash val="solid"/>
          </a:ln>
        </p:spPr>
      </p:cxnSp>
      <p:cxnSp>
        <p:nvCxnSpPr>
          <p:cNvPr id="43" name=""/>
          <p:cNvCxnSpPr/>
          <p:nvPr/>
        </p:nvCxnSpPr>
        <p:spPr>
          <a:xfrm xmlns:a="http://schemas.openxmlformats.org/drawingml/2006/main">
            <a:off x="533400" y="3667125"/>
            <a:ext cx="11125200" cy="0"/>
          </a:xfrm>
          <a:prstGeom xmlns:a="http://schemas.openxmlformats.org/drawingml/2006/main" prst="straightConnector1">
            <a:avLst/>
          </a:prstGeom>
          <a:ln xmlns:a="http://schemas.openxmlformats.org/drawingml/2006/main" w="19050">
            <a:solidFill>
              <a:srgbClr val="C9D9DC"/>
            </a:solidFill>
            <a:prstDash val="solid"/>
          </a:ln>
        </p:spPr>
      </p:cxnSp>
      <p:sp>
        <p:nvSpPr>
          <p:cNvPr id="6" name="">
            <a:extLst xmlns:a="http://schemas.openxmlformats.org/drawingml/2006/main">
              <a:ext uri="{FF2B5EF4-FFF2-40B4-BE49-F238E27FC236}">
                <a16:creationId xmlns:a16="http://schemas.microsoft.com/office/drawing/2014/main" id="{8FB49EB9-896A-49B9-8103-D56FCA38FA88}"/>
              </a:ext>
            </a:extLst>
          </p:cNvPr>
          <p:cNvSpPr>
            <a:spLocks xmlns:a="http://schemas.openxmlformats.org/drawingml/2006/main" noGrp="1"/>
          </p:cNvSpPr>
          <p:nvPr/>
        </p:nvSpPr>
        <p:spPr>
          <a:xfrm xmlns:a="http://schemas.openxmlformats.org/drawingml/2006/main">
            <a:off x="53340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E89F89D8-1855-4ABF-8034-7193B75D0F9F}"/>
              </a:ext>
            </a:extLst>
          </p:cNvPr>
          <p:cNvSpPr>
            <a:spLocks xmlns:a="http://schemas.openxmlformats.org/drawingml/2006/main" noGrp="1"/>
          </p:cNvSpPr>
          <p:nvPr/>
        </p:nvSpPr>
        <p:spPr>
          <a:xfrm xmlns:a="http://schemas.openxmlformats.org/drawingml/2006/main">
            <a:off x="53340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Five dimensions</a:t>
            </a:r>
          </a:p>
        </p:txBody>
      </p:sp>
      <p:sp>
        <p:nvSpPr>
          <p:cNvPr id="8" name="">
            <a:extLst xmlns:a="http://schemas.openxmlformats.org/drawingml/2006/main">
              <a:ext uri="{FF2B5EF4-FFF2-40B4-BE49-F238E27FC236}">
                <a16:creationId xmlns:a16="http://schemas.microsoft.com/office/drawing/2014/main" id="{7A7272A9-6A2E-42F9-A3AD-973BDA13E0AB}"/>
              </a:ext>
            </a:extLst>
          </p:cNvPr>
          <p:cNvSpPr>
            <a:spLocks xmlns:a="http://schemas.openxmlformats.org/drawingml/2006/main" noGrp="1"/>
          </p:cNvSpPr>
          <p:nvPr/>
        </p:nvSpPr>
        <p:spPr>
          <a:xfrm xmlns:a="http://schemas.openxmlformats.org/drawingml/2006/main">
            <a:off x="53340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Technical Accuracy, Clarity, Relevance, Problem Solving and Communication score every answer.</a:t>
            </a:r>
          </a:p>
        </p:txBody>
      </p:sp>
      <p:sp>
        <p:nvSpPr>
          <p:cNvPr id="9" name="">
            <a:extLst xmlns:a="http://schemas.openxmlformats.org/drawingml/2006/main">
              <a:ext uri="{FF2B5EF4-FFF2-40B4-BE49-F238E27FC236}">
                <a16:creationId xmlns:a16="http://schemas.microsoft.com/office/drawing/2014/main" id="{6405BB4A-655F-4E9D-811E-44D0948B5FEB}"/>
              </a:ext>
            </a:extLst>
          </p:cNvPr>
          <p:cNvSpPr>
            <a:spLocks xmlns:a="http://schemas.openxmlformats.org/drawingml/2006/main" noGrp="1"/>
          </p:cNvSpPr>
          <p:nvPr/>
        </p:nvSpPr>
        <p:spPr>
          <a:xfrm xmlns:a="http://schemas.openxmlformats.org/drawingml/2006/main">
            <a:off x="6534150" y="18097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C5955D4-5FAA-4D04-8AA7-2E98C9FAFCC3}"/>
              </a:ext>
            </a:extLst>
          </p:cNvPr>
          <p:cNvSpPr>
            <a:spLocks xmlns:a="http://schemas.openxmlformats.org/drawingml/2006/main" noGrp="1"/>
          </p:cNvSpPr>
          <p:nvPr/>
        </p:nvSpPr>
        <p:spPr>
          <a:xfrm xmlns:a="http://schemas.openxmlformats.org/drawingml/2006/main">
            <a:off x="6534150" y="22383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Readiness</a:t>
            </a:r>
          </a:p>
        </p:txBody>
      </p:sp>
      <p:sp>
        <p:nvSpPr>
          <p:cNvPr id="11" name="">
            <a:extLst xmlns:a="http://schemas.openxmlformats.org/drawingml/2006/main">
              <a:ext uri="{FF2B5EF4-FFF2-40B4-BE49-F238E27FC236}">
                <a16:creationId xmlns:a16="http://schemas.microsoft.com/office/drawing/2014/main" id="{105D33DA-423E-4A7C-89E5-F0A13DAFF863}"/>
              </a:ext>
            </a:extLst>
          </p:cNvPr>
          <p:cNvSpPr>
            <a:spLocks xmlns:a="http://schemas.openxmlformats.org/drawingml/2006/main" noGrp="1"/>
          </p:cNvSpPr>
          <p:nvPr/>
        </p:nvSpPr>
        <p:spPr>
          <a:xfrm xmlns:a="http://schemas.openxmlformats.org/drawingml/2006/main">
            <a:off x="6534150" y="2762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Mean of all per-answer overall scores × 10—a deterministic, recomputable percentage.</a:t>
            </a:r>
          </a:p>
        </p:txBody>
      </p:sp>
      <p:sp>
        <p:nvSpPr>
          <p:cNvPr id="12" name="">
            <a:extLst xmlns:a="http://schemas.openxmlformats.org/drawingml/2006/main">
              <a:ext uri="{FF2B5EF4-FFF2-40B4-BE49-F238E27FC236}">
                <a16:creationId xmlns:a16="http://schemas.microsoft.com/office/drawing/2014/main" id="{D8F49B0B-0E7E-4F95-814B-E03970F5D140}"/>
              </a:ext>
            </a:extLst>
          </p:cNvPr>
          <p:cNvSpPr>
            <a:spLocks xmlns:a="http://schemas.openxmlformats.org/drawingml/2006/main" noGrp="1"/>
          </p:cNvSpPr>
          <p:nvPr/>
        </p:nvSpPr>
        <p:spPr>
          <a:xfrm xmlns:a="http://schemas.openxmlformats.org/drawingml/2006/main">
            <a:off x="53340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9C909FA8-7DCA-4594-B335-7ECAFCE45F97}"/>
              </a:ext>
            </a:extLst>
          </p:cNvPr>
          <p:cNvSpPr>
            <a:spLocks xmlns:a="http://schemas.openxmlformats.org/drawingml/2006/main" noGrp="1"/>
          </p:cNvSpPr>
          <p:nvPr/>
        </p:nvSpPr>
        <p:spPr>
          <a:xfrm xmlns:a="http://schemas.openxmlformats.org/drawingml/2006/main">
            <a:off x="53340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Performance report</a:t>
            </a:r>
          </a:p>
        </p:txBody>
      </p:sp>
      <p:sp>
        <p:nvSpPr>
          <p:cNvPr id="14" name="">
            <a:extLst xmlns:a="http://schemas.openxmlformats.org/drawingml/2006/main">
              <a:ext uri="{FF2B5EF4-FFF2-40B4-BE49-F238E27FC236}">
                <a16:creationId xmlns:a16="http://schemas.microsoft.com/office/drawing/2014/main" id="{01DE0FCB-B8A0-4974-984D-32C2ED62BAC1}"/>
              </a:ext>
            </a:extLst>
          </p:cNvPr>
          <p:cNvSpPr>
            <a:spLocks xmlns:a="http://schemas.openxmlformats.org/drawingml/2006/main" noGrp="1"/>
          </p:cNvSpPr>
          <p:nvPr/>
        </p:nvSpPr>
        <p:spPr>
          <a:xfrm xmlns:a="http://schemas.openxmlformats.org/drawingml/2006/main">
            <a:off x="53340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Readiness gauge, radar, per-question feedback, strengths, gaps and ideal-answer guidance.</a:t>
            </a:r>
          </a:p>
        </p:txBody>
      </p:sp>
      <p:sp>
        <p:nvSpPr>
          <p:cNvPr id="15" name="">
            <a:extLst xmlns:a="http://schemas.openxmlformats.org/drawingml/2006/main">
              <a:ext uri="{FF2B5EF4-FFF2-40B4-BE49-F238E27FC236}">
                <a16:creationId xmlns:a16="http://schemas.microsoft.com/office/drawing/2014/main" id="{5AA52610-5E47-40E3-BED6-06BBA137CB16}"/>
              </a:ext>
            </a:extLst>
          </p:cNvPr>
          <p:cNvSpPr>
            <a:spLocks xmlns:a="http://schemas.openxmlformats.org/drawingml/2006/main" noGrp="1"/>
          </p:cNvSpPr>
          <p:nvPr/>
        </p:nvSpPr>
        <p:spPr>
          <a:xfrm xmlns:a="http://schemas.openxmlformats.org/drawingml/2006/main">
            <a:off x="6534150" y="404812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196"/>
          </a:bodyPr>
          <a:lstStyle xmlns:a="http://schemas.openxmlformats.org/drawingml/2006/main"/>
          <a:p xmlns:a="http://schemas.openxmlformats.org/drawingml/2006/main">
            <a:pPr algn="l">
              <a:buNone/>
              <a:defRPr sz="1275" b="1">
                <a:solidFill>
                  <a:srgbClr val="19B8A5"/>
                </a:solidFill>
                <a:latin typeface="Aptos"/>
                <a:ea typeface="Aptos"/>
                <a:cs typeface="Aptos"/>
              </a:defRPr>
            </a:pPr>
            <a:r>
              <a:rPr sz="1275" b="1">
                <a:solidFill>
                  <a:srgbClr val="19B8A5"/>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EAC59123-EE53-4822-AD7C-9EE58F8FD845}"/>
              </a:ext>
            </a:extLst>
          </p:cNvPr>
          <p:cNvSpPr>
            <a:spLocks xmlns:a="http://schemas.openxmlformats.org/drawingml/2006/main" noGrp="1"/>
          </p:cNvSpPr>
          <p:nvPr/>
        </p:nvSpPr>
        <p:spPr>
          <a:xfrm xmlns:a="http://schemas.openxmlformats.org/drawingml/2006/main">
            <a:off x="6534150" y="44767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444"/>
          </a:bodyPr>
          <a:lstStyle xmlns:a="http://schemas.openxmlformats.org/drawingml/2006/main"/>
          <a:p xmlns:a="http://schemas.openxmlformats.org/drawingml/2006/main">
            <a:pPr algn="l">
              <a:buNone/>
              <a:defRPr sz="2250" b="1">
                <a:solidFill>
                  <a:srgbClr val="10212E"/>
                </a:solidFill>
                <a:latin typeface="Aptos"/>
                <a:ea typeface="Aptos"/>
                <a:cs typeface="Aptos"/>
              </a:defRPr>
            </a:pPr>
            <a:r>
              <a:rPr sz="2250" b="1">
                <a:solidFill>
                  <a:srgbClr val="10212E"/>
                </a:solidFill>
                <a:latin typeface="Aptos"/>
                <a:ea typeface="Aptos"/>
                <a:cs typeface="Aptos"/>
              </a:rPr>
              <a:t>Learning roadmap</a:t>
            </a:r>
          </a:p>
        </p:txBody>
      </p:sp>
      <p:sp>
        <p:nvSpPr>
          <p:cNvPr id="17" name="">
            <a:extLst xmlns:a="http://schemas.openxmlformats.org/drawingml/2006/main">
              <a:ext uri="{FF2B5EF4-FFF2-40B4-BE49-F238E27FC236}">
                <a16:creationId xmlns:a16="http://schemas.microsoft.com/office/drawing/2014/main" id="{57A26E47-B774-4A54-AF20-D80C58B6BE01}"/>
              </a:ext>
            </a:extLst>
          </p:cNvPr>
          <p:cNvSpPr>
            <a:spLocks xmlns:a="http://schemas.openxmlformats.org/drawingml/2006/main" noGrp="1"/>
          </p:cNvSpPr>
          <p:nvPr/>
        </p:nvSpPr>
        <p:spPr>
          <a:xfrm xmlns:a="http://schemas.openxmlformats.org/drawingml/2006/main">
            <a:off x="6534150" y="50006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575" b="0">
                <a:solidFill>
                  <a:srgbClr val="5D7080"/>
                </a:solidFill>
                <a:latin typeface="Aptos"/>
                <a:ea typeface="Aptos"/>
                <a:cs typeface="Aptos"/>
              </a:defRPr>
            </a:pPr>
            <a:r>
              <a:rPr sz="1575" b="0">
                <a:solidFill>
                  <a:srgbClr val="5D7080"/>
                </a:solidFill>
                <a:latin typeface="Aptos"/>
                <a:ea typeface="Aptos"/>
                <a:cs typeface="Aptos"/>
              </a:rPr>
              <a:t>Priority focus, weak dimensions, quick wins, ordered study steps and next-session practice prompts.</a:t>
            </a:r>
          </a:p>
        </p:txBody>
      </p:sp>
      <p:sp>
        <p:nvSpPr>
          <p:cNvPr id="18" name="">
            <a:extLst xmlns:a="http://schemas.openxmlformats.org/drawingml/2006/main">
              <a:ext uri="{FF2B5EF4-FFF2-40B4-BE49-F238E27FC236}">
                <a16:creationId xmlns:a16="http://schemas.microsoft.com/office/drawing/2014/main" id="{C02F527B-FD45-4B0E-9124-5FF8D4BB086B}"/>
              </a:ext>
            </a:extLst>
          </p:cNvPr>
          <p:cNvSpPr>
            <a:spLocks xmlns:a="http://schemas.openxmlformats.org/drawingml/2006/main" noGrp="1"/>
          </p:cNvSpPr>
          <p:nvPr/>
        </p:nvSpPr>
        <p:spPr>
          <a:xfrm xmlns:a="http://schemas.openxmlformats.org/drawingml/2006/main">
            <a:off x="533400" y="5953125"/>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buNone/>
              <a:defRPr sz="1875" b="1">
                <a:solidFill>
                  <a:srgbClr val="19B8A5"/>
                </a:solidFill>
                <a:latin typeface="Aptos"/>
                <a:ea typeface="Aptos"/>
                <a:cs typeface="Aptos"/>
              </a:defRPr>
            </a:pPr>
            <a:r>
              <a:rPr sz="1875" b="1">
                <a:solidFill>
                  <a:srgbClr val="19B8A5"/>
                </a:solidFill>
                <a:latin typeface="Aptos"/>
                <a:ea typeface="Aptos"/>
                <a:cs typeface="Aptos"/>
              </a:rPr>
              <a:t>Dashboard and history show completed, scored sessions—not placeholder analytics.</a:t>
            </a:r>
          </a:p>
        </p:txBody>
      </p:sp>
    </p:spTree>
    <p:extLst>
      <p:ext uri="{BB962C8B-B14F-4D97-AF65-F5344CB8AC3E}">
        <p14:creationId xmlns:p14="http://schemas.microsoft.com/office/powerpoint/2010/main" val="973948799"/>
      </p:ext>
    </p:extLst>
  </p:cSld>
</p:sld>
</file>

<file path=ppt/slides/slide7.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3E1391-7347-441F-BB71-5BCC19210C0D}"/>
              </a:ext>
            </a:extLst>
          </p:cNvPr>
          <p:cNvSpPr>
            <a:spLocks xmlns:a="http://schemas.openxmlformats.org/drawingml/2006/main" noGrp="1"/>
          </p:cNvSpPr>
          <p:nvPr/>
        </p:nvSpPr>
        <p:spPr>
          <a:xfrm xmlns:a="http://schemas.openxmlformats.org/drawingml/2006/main">
            <a:off x="533400" y="333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200" b="1">
                <a:solidFill>
                  <a:srgbClr val="68D9D0"/>
                </a:solidFill>
                <a:latin typeface="Aptos"/>
                <a:ea typeface="Aptos"/>
                <a:cs typeface="Aptos"/>
              </a:defRPr>
            </a:pPr>
            <a:r>
              <a:rPr sz="1200" b="1">
                <a:solidFill>
                  <a:srgbClr val="68D9D0"/>
                </a:solidFill>
                <a:latin typeface="Aptos"/>
                <a:ea typeface="Aptos"/>
                <a:cs typeface="Aptos"/>
              </a:rPr>
              <a:t>TEAM PHANTOM · SUHANI MAHAJAN · DIVYAM MADAN</a:t>
            </a:r>
          </a:p>
        </p:txBody>
      </p:sp>
      <p:sp>
        <p:nvSpPr>
          <p:cNvPr id="2" name="">
            <a:extLst xmlns:a="http://schemas.openxmlformats.org/drawingml/2006/main">
              <a:ext uri="{FF2B5EF4-FFF2-40B4-BE49-F238E27FC236}">
                <a16:creationId xmlns:a16="http://schemas.microsoft.com/office/drawing/2014/main" id="{69559CA4-2901-4A88-B60E-5B53AAE4D2C1}"/>
              </a:ext>
            </a:extLst>
          </p:cNvPr>
          <p:cNvSpPr>
            <a:spLocks xmlns:a="http://schemas.openxmlformats.org/drawingml/2006/main" noGrp="1"/>
          </p:cNvSpPr>
          <p:nvPr/>
        </p:nvSpPr>
        <p:spPr>
          <a:xfrm xmlns:a="http://schemas.openxmlformats.org/drawingml/2006/main">
            <a:off x="5334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3600" b="1">
                <a:solidFill>
                  <a:srgbClr val="FFFFFF"/>
                </a:solidFill>
                <a:latin typeface="Aptos"/>
                <a:ea typeface="Aptos"/>
                <a:cs typeface="Aptos"/>
              </a:defRPr>
            </a:pPr>
            <a:r>
              <a:rPr sz="3600" b="1">
                <a:solidFill>
                  <a:srgbClr val="FFFFFF"/>
                </a:solidFill>
                <a:latin typeface="Aptos"/>
                <a:ea typeface="Aptos"/>
                <a:cs typeface="Aptos"/>
              </a:rPr>
              <a:t>Built securely, designed to improve readiness</a:t>
            </a:r>
          </a:p>
        </p:txBody>
      </p:sp>
      <p:sp>
        <p:nvSpPr>
          <p:cNvPr id="3" name="">
            <a:extLst xmlns:a="http://schemas.openxmlformats.org/drawingml/2006/main">
              <a:ext uri="{FF2B5EF4-FFF2-40B4-BE49-F238E27FC236}">
                <a16:creationId xmlns:a16="http://schemas.microsoft.com/office/drawing/2014/main" id="{AF91C2E9-56A9-4A6B-B707-0EF1E33173EB}"/>
              </a:ext>
            </a:extLst>
          </p:cNvPr>
          <p:cNvSpPr>
            <a:spLocks xmlns:a="http://schemas.openxmlformats.org/drawingml/2006/main" noGrp="1"/>
          </p:cNvSpPr>
          <p:nvPr/>
        </p:nvSpPr>
        <p:spPr>
          <a:xfrm xmlns:a="http://schemas.openxmlformats.org/drawingml/2006/main">
            <a:off x="11163300" y="381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r">
              <a:buNone/>
              <a:defRPr sz="1200" b="1">
                <a:solidFill>
                  <a:srgbClr val="68D9D0"/>
                </a:solidFill>
                <a:latin typeface="Aptos"/>
                <a:ea typeface="Aptos"/>
                <a:cs typeface="Aptos"/>
              </a:defRPr>
            </a:pPr>
            <a:r>
              <a:rPr sz="1200" b="1">
                <a:solidFill>
                  <a:srgbClr val="68D9D0"/>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9F195CEC-CBAA-4B5D-A069-2D6701981CCB}"/>
              </a:ext>
            </a:extLst>
          </p:cNvPr>
          <p:cNvSpPr>
            <a:spLocks xmlns:a="http://schemas.openxmlformats.org/drawingml/2006/main" noGrp="1"/>
          </p:cNvSpPr>
          <p:nvPr/>
        </p:nvSpPr>
        <p:spPr>
          <a:xfrm xmlns:a="http://schemas.openxmlformats.org/drawingml/2006/main">
            <a:off x="533400" y="1428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buNone/>
              <a:defRPr sz="1725" b="0">
                <a:solidFill>
                  <a:srgbClr val="C7D5DC"/>
                </a:solidFill>
                <a:latin typeface="Aptos"/>
                <a:ea typeface="Aptos"/>
                <a:cs typeface="Aptos"/>
              </a:defRPr>
            </a:pPr>
            <a:r>
              <a:rPr sz="1725" b="0">
                <a:solidFill>
                  <a:srgbClr val="C7D5DC"/>
                </a:solidFill>
                <a:latin typeface="Aptos"/>
                <a:ea typeface="Aptos"/>
                <a:cs typeface="Aptos"/>
              </a:rPr>
              <a:t>Server-side GenAI architecture keeps candidate context, data and secrets protected.</a:t>
            </a:r>
          </a:p>
        </p:txBody>
      </p:sp>
      <p:cxnSp>
        <p:nvCxnSpPr>
          <p:cNvPr id="56" name=""/>
          <p:cNvCxnSpPr/>
          <p:nvPr/>
        </p:nvCxnSpPr>
        <p:spPr>
          <a:xfrm xmlns:a="http://schemas.openxmlformats.org/drawingml/2006/main">
            <a:off x="291465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57" name=""/>
          <p:cNvCxnSpPr/>
          <p:nvPr/>
        </p:nvCxnSpPr>
        <p:spPr>
          <a:xfrm xmlns:a="http://schemas.openxmlformats.org/drawingml/2006/main">
            <a:off x="5753100" y="3238500"/>
            <a:ext cx="666750" cy="0"/>
          </a:xfrm>
          <a:prstGeom xmlns:a="http://schemas.openxmlformats.org/drawingml/2006/main" prst="straightConnector1">
            <a:avLst/>
          </a:prstGeom>
          <a:ln xmlns:a="http://schemas.openxmlformats.org/drawingml/2006/main" w="38100">
            <a:solidFill>
              <a:srgbClr val="4B7682"/>
            </a:solidFill>
            <a:prstDash val="solid"/>
          </a:ln>
        </p:spPr>
      </p:cxnSp>
      <p:cxnSp>
        <p:nvCxnSpPr>
          <p:cNvPr id="58" name=""/>
          <p:cNvCxnSpPr/>
          <p:nvPr/>
        </p:nvCxnSpPr>
        <p:spPr>
          <a:xfrm xmlns:a="http://schemas.openxmlformats.org/drawingml/2006/main">
            <a:off x="8591550" y="3238500"/>
            <a:ext cx="666750" cy="0"/>
          </a:xfrm>
          <a:prstGeom xmlns:a="http://schemas.openxmlformats.org/drawingml/2006/main" prst="straightConnector1">
            <a:avLst/>
          </a:prstGeom>
          <a:ln xmlns:a="http://schemas.openxmlformats.org/drawingml/2006/main" w="38100">
            <a:solidFill>
              <a:srgbClr val="4B7682"/>
            </a:solidFill>
            <a:prstDash val="solid"/>
          </a:ln>
        </p:spPr>
      </p:cxnSp>
      <p:sp>
        <p:nvSpPr>
          <p:cNvPr id="8" name="">
            <a:extLst xmlns:a="http://schemas.openxmlformats.org/drawingml/2006/main">
              <a:ext uri="{FF2B5EF4-FFF2-40B4-BE49-F238E27FC236}">
                <a16:creationId xmlns:a16="http://schemas.microsoft.com/office/drawing/2014/main" id="{28DCC9E0-72E2-475D-B496-50E91F56F03F}"/>
              </a:ext>
            </a:extLst>
          </p:cNvPr>
          <p:cNvSpPr>
            <a:spLocks xmlns:a="http://schemas.openxmlformats.org/drawingml/2006/main" noGrp="1"/>
          </p:cNvSpPr>
          <p:nvPr/>
        </p:nvSpPr>
        <p:spPr>
          <a:xfrm xmlns:a="http://schemas.openxmlformats.org/drawingml/2006/main">
            <a:off x="7429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9" name="">
            <a:extLst xmlns:a="http://schemas.openxmlformats.org/drawingml/2006/main">
              <a:ext uri="{FF2B5EF4-FFF2-40B4-BE49-F238E27FC236}">
                <a16:creationId xmlns:a16="http://schemas.microsoft.com/office/drawing/2014/main" id="{959449A1-CA81-4611-A569-CDCB2833BEA6}"/>
              </a:ext>
            </a:extLst>
          </p:cNvPr>
          <p:cNvSpPr>
            <a:spLocks xmlns:a="http://schemas.openxmlformats.org/drawingml/2006/main" noGrp="1"/>
          </p:cNvSpPr>
          <p:nvPr/>
        </p:nvSpPr>
        <p:spPr>
          <a:xfrm xmlns:a="http://schemas.openxmlformats.org/drawingml/2006/main">
            <a:off x="9525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APPLICATION</a:t>
            </a:r>
          </a:p>
        </p:txBody>
      </p:sp>
      <p:sp>
        <p:nvSpPr>
          <p:cNvPr id="10" name="">
            <a:extLst xmlns:a="http://schemas.openxmlformats.org/drawingml/2006/main">
              <a:ext uri="{FF2B5EF4-FFF2-40B4-BE49-F238E27FC236}">
                <a16:creationId xmlns:a16="http://schemas.microsoft.com/office/drawing/2014/main" id="{7654F579-F425-457F-A7D0-AB8F18172F19}"/>
              </a:ext>
            </a:extLst>
          </p:cNvPr>
          <p:cNvSpPr>
            <a:spLocks xmlns:a="http://schemas.openxmlformats.org/drawingml/2006/main" noGrp="1"/>
          </p:cNvSpPr>
          <p:nvPr/>
        </p:nvSpPr>
        <p:spPr>
          <a:xfrm xmlns:a="http://schemas.openxmlformats.org/drawingml/2006/main">
            <a:off x="9334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React · TanStack Start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Voice recorder · TTS</a:t>
            </a:r>
          </a:p>
        </p:txBody>
      </p:sp>
      <p:sp>
        <p:nvSpPr>
          <p:cNvPr id="11" name="">
            <a:extLst xmlns:a="http://schemas.openxmlformats.org/drawingml/2006/main">
              <a:ext uri="{FF2B5EF4-FFF2-40B4-BE49-F238E27FC236}">
                <a16:creationId xmlns:a16="http://schemas.microsoft.com/office/drawing/2014/main" id="{0ECEB208-AFFD-4119-B6F3-5AC0CBE5E3D0}"/>
              </a:ext>
            </a:extLst>
          </p:cNvPr>
          <p:cNvSpPr>
            <a:spLocks xmlns:a="http://schemas.openxmlformats.org/drawingml/2006/main" noGrp="1"/>
          </p:cNvSpPr>
          <p:nvPr/>
        </p:nvSpPr>
        <p:spPr>
          <a:xfrm xmlns:a="http://schemas.openxmlformats.org/drawingml/2006/main">
            <a:off x="3581400" y="2381250"/>
            <a:ext cx="2190750" cy="1762125"/>
          </a:xfrm>
          <a:prstGeom xmlns:a="http://schemas.openxmlformats.org/drawingml/2006/main" prst="roundRect">
            <a:avLst>
              <a:gd name="adj" fmla="val 6486"/>
            </a:avLst>
          </a:prstGeom>
          <a:solidFill xmlns:a="http://schemas.openxmlformats.org/drawingml/2006/main">
            <a:srgbClr val="19B8A5"/>
          </a:solidFill>
          <a:ln xmlns:a="http://schemas.openxmlformats.org/drawingml/2006/main" w="19050">
            <a:solidFill>
              <a:srgbClr val="19B8A5"/>
            </a:solidFill>
            <a:prstDash val="solid"/>
          </a:ln>
        </p:spPr>
      </p:sp>
      <p:sp>
        <p:nvSpPr>
          <p:cNvPr id="12" name="">
            <a:extLst xmlns:a="http://schemas.openxmlformats.org/drawingml/2006/main">
              <a:ext uri="{FF2B5EF4-FFF2-40B4-BE49-F238E27FC236}">
                <a16:creationId xmlns:a16="http://schemas.microsoft.com/office/drawing/2014/main" id="{4C6792BD-5960-4506-B4AC-AC28529CB0D2}"/>
              </a:ext>
            </a:extLst>
          </p:cNvPr>
          <p:cNvSpPr>
            <a:spLocks xmlns:a="http://schemas.openxmlformats.org/drawingml/2006/main" noGrp="1"/>
          </p:cNvSpPr>
          <p:nvPr/>
        </p:nvSpPr>
        <p:spPr>
          <a:xfrm xmlns:a="http://schemas.openxmlformats.org/drawingml/2006/main">
            <a:off x="37909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SERVER LAYER</a:t>
            </a:r>
          </a:p>
        </p:txBody>
      </p:sp>
      <p:sp>
        <p:nvSpPr>
          <p:cNvPr id="13" name="">
            <a:extLst xmlns:a="http://schemas.openxmlformats.org/drawingml/2006/main">
              <a:ext uri="{FF2B5EF4-FFF2-40B4-BE49-F238E27FC236}">
                <a16:creationId xmlns:a16="http://schemas.microsoft.com/office/drawing/2014/main" id="{4F65D222-DEEB-48CF-AC97-1C275C31FDF5}"/>
              </a:ext>
            </a:extLst>
          </p:cNvPr>
          <p:cNvSpPr>
            <a:spLocks xmlns:a="http://schemas.openxmlformats.org/drawingml/2006/main" noGrp="1"/>
          </p:cNvSpPr>
          <p:nvPr/>
        </p:nvSpPr>
        <p:spPr>
          <a:xfrm xmlns:a="http://schemas.openxmlformats.org/drawingml/2006/main">
            <a:off x="37719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000"/>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Typed server functions</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CSRF protection</a:t>
            </a:r>
          </a:p>
        </p:txBody>
      </p:sp>
      <p:sp>
        <p:nvSpPr>
          <p:cNvPr id="14" name="">
            <a:extLst xmlns:a="http://schemas.openxmlformats.org/drawingml/2006/main">
              <a:ext uri="{FF2B5EF4-FFF2-40B4-BE49-F238E27FC236}">
                <a16:creationId xmlns:a16="http://schemas.microsoft.com/office/drawing/2014/main" id="{1FE26167-228D-431F-8256-F575340BF162}"/>
              </a:ext>
            </a:extLst>
          </p:cNvPr>
          <p:cNvSpPr>
            <a:spLocks xmlns:a="http://schemas.openxmlformats.org/drawingml/2006/main" noGrp="1"/>
          </p:cNvSpPr>
          <p:nvPr/>
        </p:nvSpPr>
        <p:spPr>
          <a:xfrm xmlns:a="http://schemas.openxmlformats.org/drawingml/2006/main">
            <a:off x="641985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5" name="">
            <a:extLst xmlns:a="http://schemas.openxmlformats.org/drawingml/2006/main">
              <a:ext uri="{FF2B5EF4-FFF2-40B4-BE49-F238E27FC236}">
                <a16:creationId xmlns:a16="http://schemas.microsoft.com/office/drawing/2014/main" id="{8B3BBFE4-7573-4175-8AB4-501B45F8E847}"/>
              </a:ext>
            </a:extLst>
          </p:cNvPr>
          <p:cNvSpPr>
            <a:spLocks xmlns:a="http://schemas.openxmlformats.org/drawingml/2006/main" noGrp="1"/>
          </p:cNvSpPr>
          <p:nvPr/>
        </p:nvSpPr>
        <p:spPr>
          <a:xfrm xmlns:a="http://schemas.openxmlformats.org/drawingml/2006/main">
            <a:off x="662940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AI LAYER</a:t>
            </a:r>
          </a:p>
        </p:txBody>
      </p:sp>
      <p:sp>
        <p:nvSpPr>
          <p:cNvPr id="16" name="">
            <a:extLst xmlns:a="http://schemas.openxmlformats.org/drawingml/2006/main">
              <a:ext uri="{FF2B5EF4-FFF2-40B4-BE49-F238E27FC236}">
                <a16:creationId xmlns:a16="http://schemas.microsoft.com/office/drawing/2014/main" id="{62939ACA-30C7-4B3A-A370-6B0F0F9D00A4}"/>
              </a:ext>
            </a:extLst>
          </p:cNvPr>
          <p:cNvSpPr>
            <a:spLocks xmlns:a="http://schemas.openxmlformats.org/drawingml/2006/main" noGrp="1"/>
          </p:cNvSpPr>
          <p:nvPr/>
        </p:nvSpPr>
        <p:spPr>
          <a:xfrm xmlns:a="http://schemas.openxmlformats.org/drawingml/2006/main">
            <a:off x="661035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6027"/>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Groq + Whisper STT</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OpenRouter fallback</a:t>
            </a:r>
          </a:p>
        </p:txBody>
      </p:sp>
      <p:sp>
        <p:nvSpPr>
          <p:cNvPr id="17" name="">
            <a:extLst xmlns:a="http://schemas.openxmlformats.org/drawingml/2006/main">
              <a:ext uri="{FF2B5EF4-FFF2-40B4-BE49-F238E27FC236}">
                <a16:creationId xmlns:a16="http://schemas.microsoft.com/office/drawing/2014/main" id="{9DBFA245-E6D4-4F86-A391-3C1941FA4854}"/>
              </a:ext>
            </a:extLst>
          </p:cNvPr>
          <p:cNvSpPr>
            <a:spLocks xmlns:a="http://schemas.openxmlformats.org/drawingml/2006/main" noGrp="1"/>
          </p:cNvSpPr>
          <p:nvPr/>
        </p:nvSpPr>
        <p:spPr>
          <a:xfrm xmlns:a="http://schemas.openxmlformats.org/drawingml/2006/main">
            <a:off x="9258300" y="2381250"/>
            <a:ext cx="2190750" cy="1762125"/>
          </a:xfrm>
          <a:prstGeom xmlns:a="http://schemas.openxmlformats.org/drawingml/2006/main" prst="roundRect">
            <a:avLst>
              <a:gd name="adj" fmla="val 6486"/>
            </a:avLst>
          </a:prstGeom>
          <a:solidFill xmlns:a="http://schemas.openxmlformats.org/drawingml/2006/main">
            <a:srgbClr val="102637"/>
          </a:solidFill>
          <a:ln xmlns:a="http://schemas.openxmlformats.org/drawingml/2006/main" w="19050">
            <a:solidFill>
              <a:srgbClr val="355466"/>
            </a:solidFill>
            <a:prstDash val="solid"/>
          </a:ln>
        </p:spPr>
      </p:sp>
      <p:sp>
        <p:nvSpPr>
          <p:cNvPr id="18" name="">
            <a:extLst xmlns:a="http://schemas.openxmlformats.org/drawingml/2006/main">
              <a:ext uri="{FF2B5EF4-FFF2-40B4-BE49-F238E27FC236}">
                <a16:creationId xmlns:a16="http://schemas.microsoft.com/office/drawing/2014/main" id="{99578FD5-FD4A-47D7-9A9F-A74B191C1E74}"/>
              </a:ext>
            </a:extLst>
          </p:cNvPr>
          <p:cNvSpPr>
            <a:spLocks xmlns:a="http://schemas.openxmlformats.org/drawingml/2006/main" noGrp="1"/>
          </p:cNvSpPr>
          <p:nvPr/>
        </p:nvSpPr>
        <p:spPr>
          <a:xfrm xmlns:a="http://schemas.openxmlformats.org/drawingml/2006/main">
            <a:off x="9467850" y="26289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buNone/>
              <a:defRPr sz="1275" b="1">
                <a:solidFill>
                  <a:srgbClr val="68D9D0"/>
                </a:solidFill>
                <a:latin typeface="Aptos"/>
                <a:ea typeface="Aptos"/>
                <a:cs typeface="Aptos"/>
              </a:defRPr>
            </a:pPr>
            <a:r>
              <a:rPr sz="1275" b="1">
                <a:solidFill>
                  <a:srgbClr val="68D9D0"/>
                </a:solidFill>
                <a:latin typeface="Aptos"/>
                <a:ea typeface="Aptos"/>
                <a:cs typeface="Aptos"/>
              </a:rPr>
              <a:t>DATA LAYER</a:t>
            </a:r>
          </a:p>
        </p:txBody>
      </p:sp>
      <p:sp>
        <p:nvSpPr>
          <p:cNvPr id="19" name="">
            <a:extLst xmlns:a="http://schemas.openxmlformats.org/drawingml/2006/main">
              <a:ext uri="{FF2B5EF4-FFF2-40B4-BE49-F238E27FC236}">
                <a16:creationId xmlns:a16="http://schemas.microsoft.com/office/drawing/2014/main" id="{B1F229CF-8663-4463-AC23-799FFE1023AE}"/>
              </a:ext>
            </a:extLst>
          </p:cNvPr>
          <p:cNvSpPr>
            <a:spLocks xmlns:a="http://schemas.openxmlformats.org/drawingml/2006/main" noGrp="1"/>
          </p:cNvSpPr>
          <p:nvPr/>
        </p:nvSpPr>
        <p:spPr>
          <a:xfrm xmlns:a="http://schemas.openxmlformats.org/drawingml/2006/main">
            <a:off x="9448800" y="317182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2162"/>
          </a:bodyPr>
          <a:lstStyle xmlns:a="http://schemas.openxmlformats.org/drawingml/2006/main"/>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Supabase Auth · Postgres</a:t>
            </a:r>
          </a:p>
          <a:p xmlns:a="http://schemas.openxmlformats.org/drawingml/2006/main">
            <a:pPr algn="ctr">
              <a:buNone/>
              <a:defRPr sz="1500" b="0">
                <a:solidFill>
                  <a:srgbClr val="FFFFFF"/>
                </a:solidFill>
                <a:latin typeface="Aptos"/>
                <a:ea typeface="Aptos"/>
                <a:cs typeface="Aptos"/>
              </a:defRPr>
            </a:pPr>
            <a:r>
              <a:rPr sz="1500" b="0">
                <a:solidFill>
                  <a:srgbClr val="FFFFFF"/>
                </a:solidFill>
                <a:latin typeface="Aptos"/>
                <a:ea typeface="Aptos"/>
                <a:cs typeface="Aptos"/>
              </a:rPr>
              <a:t>Private resumes · RLS</a:t>
            </a:r>
          </a:p>
        </p:txBody>
      </p:sp>
      <p:sp>
        <p:nvSpPr>
          <p:cNvPr id="20" name="">
            <a:extLst xmlns:a="http://schemas.openxmlformats.org/drawingml/2006/main">
              <a:ext uri="{FF2B5EF4-FFF2-40B4-BE49-F238E27FC236}">
                <a16:creationId xmlns:a16="http://schemas.microsoft.com/office/drawing/2014/main" id="{B4831715-756A-4976-BB5D-6A0EA4FC7BCD}"/>
              </a:ext>
            </a:extLst>
          </p:cNvPr>
          <p:cNvSpPr>
            <a:spLocks xmlns:a="http://schemas.openxmlformats.org/drawingml/2006/main" noGrp="1"/>
          </p:cNvSpPr>
          <p:nvPr/>
        </p:nvSpPr>
        <p:spPr>
          <a:xfrm xmlns:a="http://schemas.openxmlformats.org/drawingml/2006/main">
            <a:off x="762000" y="51911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4837"/>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Email verification + auth gates</a:t>
            </a:r>
          </a:p>
        </p:txBody>
      </p:sp>
      <p:sp>
        <p:nvSpPr>
          <p:cNvPr id="21" name="">
            <a:extLst xmlns:a="http://schemas.openxmlformats.org/drawingml/2006/main">
              <a:ext uri="{FF2B5EF4-FFF2-40B4-BE49-F238E27FC236}">
                <a16:creationId xmlns:a16="http://schemas.microsoft.com/office/drawing/2014/main" id="{236C04EB-D46A-4A5C-9E67-B18B58D42C41}"/>
              </a:ext>
            </a:extLst>
          </p:cNvPr>
          <p:cNvSpPr>
            <a:spLocks xmlns:a="http://schemas.openxmlformats.org/drawingml/2006/main" noGrp="1"/>
          </p:cNvSpPr>
          <p:nvPr/>
        </p:nvSpPr>
        <p:spPr>
          <a:xfrm xmlns:a="http://schemas.openxmlformats.org/drawingml/2006/main">
            <a:off x="3657600" y="51911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Server-only API keys</a:t>
            </a:r>
          </a:p>
        </p:txBody>
      </p:sp>
      <p:sp>
        <p:nvSpPr>
          <p:cNvPr id="22" name="">
            <a:extLst xmlns:a="http://schemas.openxmlformats.org/drawingml/2006/main">
              <a:ext uri="{FF2B5EF4-FFF2-40B4-BE49-F238E27FC236}">
                <a16:creationId xmlns:a16="http://schemas.microsoft.com/office/drawing/2014/main" id="{FBBFF76A-E3E3-4405-8409-1945F13DF796}"/>
              </a:ext>
            </a:extLst>
          </p:cNvPr>
          <p:cNvSpPr>
            <a:spLocks xmlns:a="http://schemas.openxmlformats.org/drawingml/2006/main" noGrp="1"/>
          </p:cNvSpPr>
          <p:nvPr/>
        </p:nvSpPr>
        <p:spPr>
          <a:xfrm xmlns:a="http://schemas.openxmlformats.org/drawingml/2006/main">
            <a:off x="7677150" y="5191125"/>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333"/>
          </a:bodyPr>
          <a:lstStyle xmlns:a="http://schemas.openxmlformats.org/drawingml/2006/main"/>
          <a:p xmlns:a="http://schemas.openxmlformats.org/drawingml/2006/main">
            <a:pPr algn="l">
              <a:buNone/>
              <a:defRPr sz="1500" b="1">
                <a:solidFill>
                  <a:srgbClr val="68D9D0"/>
                </a:solidFill>
                <a:latin typeface="Aptos"/>
                <a:ea typeface="Aptos"/>
                <a:cs typeface="Aptos"/>
              </a:defRPr>
            </a:pPr>
            <a:r>
              <a:rPr sz="1500" b="1">
                <a:solidFill>
                  <a:srgbClr val="68D9D0"/>
                </a:solidFill>
                <a:latin typeface="Aptos"/>
                <a:ea typeface="Aptos"/>
                <a:cs typeface="Aptos"/>
              </a:rPr>
              <a:t>Private user-scoped data</a:t>
            </a:r>
          </a:p>
        </p:txBody>
      </p:sp>
      <p:sp>
        <p:nvSpPr>
          <p:cNvPr id="23" name="">
            <a:extLst xmlns:a="http://schemas.openxmlformats.org/drawingml/2006/main">
              <a:ext uri="{FF2B5EF4-FFF2-40B4-BE49-F238E27FC236}">
                <a16:creationId xmlns:a16="http://schemas.microsoft.com/office/drawing/2014/main" id="{1117A1E6-E9CA-4E29-85BA-C198A535F58F}"/>
              </a:ext>
            </a:extLst>
          </p:cNvPr>
          <p:cNvSpPr>
            <a:spLocks xmlns:a="http://schemas.openxmlformats.org/drawingml/2006/main" noGrp="1"/>
          </p:cNvSpPr>
          <p:nvPr/>
        </p:nvSpPr>
        <p:spPr>
          <a:xfrm xmlns:a="http://schemas.openxmlformats.org/drawingml/2006/main">
            <a:off x="762000" y="588645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8406"/>
          </a:bodyPr>
          <a:lstStyle xmlns:a="http://schemas.openxmlformats.org/drawingml/2006/main"/>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PrepPilot understands the candidate, adapts the interview and turns every weakness into a clear next step.</a:t>
            </a:r>
          </a:p>
        </p:txBody>
      </p:sp>
    </p:spTree>
    <p:extLst>
      <p:ext uri="{BB962C8B-B14F-4D97-AF65-F5344CB8AC3E}">
        <p14:creationId xmlns:p14="http://schemas.microsoft.com/office/powerpoint/2010/main" val="33433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2026-07-25T20:50:22.9150000Z</dcterms:created>
  <dcterms:modified xsi:type="dcterms:W3CDTF">2026-07-25T20:50:22.9150000Z</dcterms:modified>
</coreProperties>
</file>