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8068dfd6fe845a4" /><Relationship Type="http://schemas.openxmlformats.org/officeDocument/2006/relationships/extended-properties" Target="/docProps/app.xml" Id="R00b0bc406190451c" /><Relationship Type="http://schemas.openxmlformats.org/officeDocument/2006/relationships/officeDocument" Target="/ppt/presentation.xml" Id="R03602b7a1dd84007" /></Relationships>
</file>

<file path=ppt/presentation.xml><?xml version="1.0" encoding="utf-8"?>
<p:presentation xmlns:p="http://schemas.openxmlformats.org/presentationml/2006/main">
  <p:sldMasterIdLst>
    <p:sldMasterId xmlns:r="http://schemas.openxmlformats.org/officeDocument/2006/relationships" id="2147483648" r:id="R15b11de907524d01"/>
  </p:sldMasterIdLst>
  <p:notesMasterIdLst>
    <p:notesMasterId xmlns:r="http://schemas.openxmlformats.org/officeDocument/2006/relationships" r:id="Rf01e9acca2494aac"/>
  </p:notesMasterIdLst>
  <p:sldIdLst>
    <p:sldId xmlns:r="http://schemas.openxmlformats.org/officeDocument/2006/relationships" id="256" r:id="Rdde13f55ccd34481"/>
    <p:sldId xmlns:r="http://schemas.openxmlformats.org/officeDocument/2006/relationships" id="257" r:id="R321e5bc7377f414d"/>
    <p:sldId xmlns:r="http://schemas.openxmlformats.org/officeDocument/2006/relationships" id="258" r:id="R8a7585c648784d9f"/>
    <p:sldId xmlns:r="http://schemas.openxmlformats.org/officeDocument/2006/relationships" id="259" r:id="Rb889293953cd4ada"/>
    <p:sldId xmlns:r="http://schemas.openxmlformats.org/officeDocument/2006/relationships" id="260" r:id="R664a113603154271"/>
    <p:sldId xmlns:r="http://schemas.openxmlformats.org/officeDocument/2006/relationships" id="261" r:id="Rbb2beb25907347ca"/>
    <p:sldId xmlns:r="http://schemas.openxmlformats.org/officeDocument/2006/relationships" id="262" r:id="R546b97f85d314022"/>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f91febf847a46f5" /><Relationship Type="http://schemas.openxmlformats.org/officeDocument/2006/relationships/slideMaster" Target="/ppt/slideMasters/slideMaster1.xml" Id="R15b11de907524d01" /><Relationship Type="http://schemas.openxmlformats.org/officeDocument/2006/relationships/notesMaster" Target="/ppt/notesMasters/notesMaster1.xml" Id="Rf01e9acca2494aac" /><Relationship Type="http://schemas.openxmlformats.org/officeDocument/2006/relationships/presProps" Target="/ppt/presProps.xml" Id="R8a3d298c1e0f4708" /><Relationship Type="http://schemas.openxmlformats.org/officeDocument/2006/relationships/tableStyles" Target="/ppt/tableStyles.xml" Id="R292a52678c49485b" /><Relationship Type="http://schemas.openxmlformats.org/officeDocument/2006/relationships/slide" Target="/ppt/slides/slide1.xml" Id="Rdde13f55ccd34481" /><Relationship Type="http://schemas.openxmlformats.org/officeDocument/2006/relationships/slide" Target="/ppt/slides/slide2.xml" Id="R321e5bc7377f414d" /><Relationship Type="http://schemas.openxmlformats.org/officeDocument/2006/relationships/slide" Target="/ppt/slides/slide3.xml" Id="R8a7585c648784d9f" /><Relationship Type="http://schemas.openxmlformats.org/officeDocument/2006/relationships/slide" Target="/ppt/slides/slide4.xml" Id="Rb889293953cd4ada" /><Relationship Type="http://schemas.openxmlformats.org/officeDocument/2006/relationships/slide" Target="/ppt/slides/slide5.xml" Id="R664a113603154271" /><Relationship Type="http://schemas.openxmlformats.org/officeDocument/2006/relationships/slide" Target="/ppt/slides/slide6.xml" Id="Rbb2beb25907347ca" /><Relationship Type="http://schemas.openxmlformats.org/officeDocument/2006/relationships/slide" Target="/ppt/slides/slide7.xml" Id="R546b97f85d31402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9c51a4433eb495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e5a1dba774945d3" /><Relationship Type="http://schemas.openxmlformats.org/officeDocument/2006/relationships/notesMaster" Target="/ppt/notesMasters/notesMaster1.xml" Id="Rfc1815aba750436a" /></Relationships>
</file>

<file path=ppt/notesSlides/_rels/notesSlide2.xml.rels>&#65279;<?xml version="1.0" encoding="utf-8"?><Relationships xmlns="http://schemas.openxmlformats.org/package/2006/relationships"><Relationship Type="http://schemas.openxmlformats.org/officeDocument/2006/relationships/slide" Target="/ppt/slides/slide2.xml" Id="Rfe27b84194f24a23" /><Relationship Type="http://schemas.openxmlformats.org/officeDocument/2006/relationships/notesMaster" Target="/ppt/notesMasters/notesMaster1.xml" Id="R4c5c5fe06a2743b3" /></Relationships>
</file>

<file path=ppt/notesSlides/_rels/notesSlide3.xml.rels>&#65279;<?xml version="1.0" encoding="utf-8"?><Relationships xmlns="http://schemas.openxmlformats.org/package/2006/relationships"><Relationship Type="http://schemas.openxmlformats.org/officeDocument/2006/relationships/slide" Target="/ppt/slides/slide3.xml" Id="R8650481cb2ad4a17" /><Relationship Type="http://schemas.openxmlformats.org/officeDocument/2006/relationships/notesMaster" Target="/ppt/notesMasters/notesMaster1.xml" Id="Rdd42460793c04667" /></Relationships>
</file>

<file path=ppt/notesSlides/_rels/notesSlide4.xml.rels>&#65279;<?xml version="1.0" encoding="utf-8"?><Relationships xmlns="http://schemas.openxmlformats.org/package/2006/relationships"><Relationship Type="http://schemas.openxmlformats.org/officeDocument/2006/relationships/slide" Target="/ppt/slides/slide4.xml" Id="R863770f8ea4c4ddf" /><Relationship Type="http://schemas.openxmlformats.org/officeDocument/2006/relationships/notesMaster" Target="/ppt/notesMasters/notesMaster1.xml" Id="R9a0a30c4ba4d4b3d" /></Relationships>
</file>

<file path=ppt/notesSlides/_rels/notesSlide5.xml.rels>&#65279;<?xml version="1.0" encoding="utf-8"?><Relationships xmlns="http://schemas.openxmlformats.org/package/2006/relationships"><Relationship Type="http://schemas.openxmlformats.org/officeDocument/2006/relationships/slide" Target="/ppt/slides/slide5.xml" Id="R6819f8c0765841d8" /><Relationship Type="http://schemas.openxmlformats.org/officeDocument/2006/relationships/notesMaster" Target="/ppt/notesMasters/notesMaster1.xml" Id="R7f1583d0f26b462e" /></Relationships>
</file>

<file path=ppt/notesSlides/_rels/notesSlide6.xml.rels>&#65279;<?xml version="1.0" encoding="utf-8"?><Relationships xmlns="http://schemas.openxmlformats.org/package/2006/relationships"><Relationship Type="http://schemas.openxmlformats.org/officeDocument/2006/relationships/slide" Target="/ppt/slides/slide6.xml" Id="R72ba4a1f30314d29" /><Relationship Type="http://schemas.openxmlformats.org/officeDocument/2006/relationships/notesMaster" Target="/ppt/notesMasters/notesMaster1.xml" Id="Rfa3c5e5f05ae49dd" /></Relationships>
</file>

<file path=ppt/notesSlides/_rels/notesSlide7.xml.rels>&#65279;<?xml version="1.0" encoding="utf-8"?><Relationships xmlns="http://schemas.openxmlformats.org/package/2006/relationships"><Relationship Type="http://schemas.openxmlformats.org/officeDocument/2006/relationships/slide" Target="/ppt/slides/slide7.xml" Id="Rb29a9c593e374945" /><Relationship Type="http://schemas.openxmlformats.org/officeDocument/2006/relationships/notesMaster" Target="/ppt/notesMasters/notesMaster1.xml" Id="Ra4c5839adcb0409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Introduce Team Phantom and PrepPilot. State that the selected track is Gen AI and Problem Statement 2 is an AI mock interview platform. Preview the product’s differentiators: resume-aware setup, locked Voice/Text modes, adaptive conversations and measurable improvement.</a:t>
            </a:r>
          </a:p>
          <a:p xmlns:a="http://schemas.openxmlformats.org/drawingml/2006/main">
            <a:r>
              <a:t/>
            </a:r>
          </a:p>
          <a:p xmlns:a="http://schemas.openxmlformats.org/drawingml/2006/main">
            <a:r>
              <a:t>[Sources]</a:t>
            </a:r>
          </a:p>
          <a:p xmlns:a="http://schemas.openxmlformats.org/drawingml/2006/main">
            <a:r>
              <a:t>- PrepPilot repository: current routes, server functions, transcription handler and Supabase migrations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Show that PrepPilot begins before the interview room. A PDF resume is stored privately and converted into an editable candidate profile. The candidate then configures role, experience level, interview type, any duration from 5 to 180 minutes, job description and a required interview mode. The selected mode is persisted and cannot be changed mid-interview.</a:t>
            </a:r>
          </a:p>
          <a:p xmlns:a="http://schemas.openxmlformats.org/drawingml/2006/main">
            <a:r>
              <a:t/>
            </a:r>
          </a:p>
          <a:p xmlns:a="http://schemas.openxmlformats.org/drawingml/2006/main">
            <a:r>
              <a:t>[Sources]</a:t>
            </a:r>
          </a:p>
          <a:p xmlns:a="http://schemas.openxmlformats.org/drawingml/2006/main">
            <a:r>
              <a:t>- PrepPilot repository: current routes, server functions, transcription handler and Supabase migrations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the two implemented modes. Voice uses the existing browser recorder, Groq transcription and text-to-speech. Text displays the introduction and waits for Begin Interview. In both modes the AI gives a real introduction, the timer begins afterward, and the session ends with a closing message before report generation. Tab and fullscreen safeguards protect session integrity.</a:t>
            </a:r>
          </a:p>
          <a:p xmlns:a="http://schemas.openxmlformats.org/drawingml/2006/main">
            <a:r>
              <a:t/>
            </a:r>
          </a:p>
          <a:p xmlns:a="http://schemas.openxmlformats.org/drawingml/2006/main">
            <a:r>
              <a:t>[Sources]</a:t>
            </a:r>
          </a:p>
          <a:p xmlns:a="http://schemas.openxmlformats.org/drawingml/2006/main">
            <a:r>
              <a:t>- PrepPilot repository: current routes, server functions, transcription handler and Supabase migrations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Walk through the actual session lifecycle. Resume intelligence and setup form the context. The interviewer introduces the session, then every response generates an acknowledgement, transition and adaptive question. There is no fixed question count; the countdown controls the session, and the completed interview produces five scores, readiness, detailed feedback and a roadmap.</a:t>
            </a:r>
          </a:p>
          <a:p xmlns:a="http://schemas.openxmlformats.org/drawingml/2006/main">
            <a:r>
              <a:t/>
            </a:r>
          </a:p>
          <a:p xmlns:a="http://schemas.openxmlformats.org/drawingml/2006/main">
            <a:r>
              <a:t>[Sources]</a:t>
            </a:r>
          </a:p>
          <a:p xmlns:a="http://schemas.openxmlformats.org/drawingml/2006/main">
            <a:r>
              <a:t>- PrepPilot repository: current routes, server functions, transcription handler and Supabase migrations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Describe the implementation. The UI is React on TanStack Start. Typed server functions create, begin, submit and end interviews, protected by CSRF middleware. Groq handles the primary LLM and Whisper transcription, with OpenRouter as a text-generation fallback. Supabase provides authentication, Postgres and private resume storage with row-level security. Mode is stored inside the interview context, while evaluations, reports and roadmaps are persisted separately.</a:t>
            </a:r>
          </a:p>
          <a:p xmlns:a="http://schemas.openxmlformats.org/drawingml/2006/main">
            <a:r>
              <a:t/>
            </a:r>
          </a:p>
          <a:p xmlns:a="http://schemas.openxmlformats.org/drawingml/2006/main">
            <a:r>
              <a:t>[Sources]</a:t>
            </a:r>
          </a:p>
          <a:p xmlns:a="http://schemas.openxmlformats.org/drawingml/2006/main">
            <a:r>
              <a:t>- PrepPilot repository: current routes, server functions, transcription handler and Supabase migrations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how the adaptive loop works. The model receives the previous answer, resume, interview type, history and remaining seconds. It changes behavior at the beginning, middle, final five minutes and final minute. Short answers invite deeper follow-ups; detailed answers move the interview onward. Each answer is scored on Technical Accuracy, Clarity, Relevance, Problem Solving and Communication. The report then drives priority areas, quick wins, ordered study steps and practice prompts.</a:t>
            </a:r>
          </a:p>
          <a:p xmlns:a="http://schemas.openxmlformats.org/drawingml/2006/main">
            <a:r>
              <a:t/>
            </a:r>
          </a:p>
          <a:p xmlns:a="http://schemas.openxmlformats.org/drawingml/2006/main">
            <a:r>
              <a:t>[Sources]</a:t>
            </a:r>
          </a:p>
          <a:p xmlns:a="http://schemas.openxmlformats.org/drawingml/2006/main">
            <a:r>
              <a:t>- PrepPilot repository: current routes, server functions, transcription handler and Supabase migrations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with the complete product loop: PrepPilot understands the candidate, runs a realistic adaptive interview, measures each answer and converts weaknesses into a next-step plan. Invite the judges to view the live demo or ask questions.</a:t>
            </a:r>
          </a:p>
          <a:p xmlns:a="http://schemas.openxmlformats.org/drawingml/2006/main">
            <a:r>
              <a:t/>
            </a:r>
          </a:p>
          <a:p xmlns:a="http://schemas.openxmlformats.org/drawingml/2006/main">
            <a:r>
              <a:t>[Sources]</a:t>
            </a:r>
          </a:p>
          <a:p xmlns:a="http://schemas.openxmlformats.org/drawingml/2006/main">
            <a:r>
              <a:t>- PrepPilot repository: current routes, server functions, transcription handler and Supabase migrations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c9b148d547e4eb8"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0af052a60124901" /><Relationship Type="http://schemas.openxmlformats.org/officeDocument/2006/relationships/slideLayout" Target="/ppt/slideLayouts/slideLayout1.xml" Id="R0ac623fce8294b5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ac623fce8294b5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e516725c65be4a3b" /><Relationship Type="http://schemas.openxmlformats.org/officeDocument/2006/relationships/notesSlide" Target="/ppt/notesSlides/notesSlide1.xml" Id="R61324b000aa8423d"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223165ae48f04311" /><Relationship Type="http://schemas.openxmlformats.org/officeDocument/2006/relationships/notesSlide" Target="/ppt/notesSlides/notesSlide2.xml" Id="R31f64c913f1b4086"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f9bfbf5c0df0410a" /><Relationship Type="http://schemas.openxmlformats.org/officeDocument/2006/relationships/notesSlide" Target="/ppt/notesSlides/notesSlide3.xml" Id="R8cc1e8e5938b499c"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6b911f45d3d14463" /><Relationship Type="http://schemas.openxmlformats.org/officeDocument/2006/relationships/notesSlide" Target="/ppt/notesSlides/notesSlide4.xml" Id="R2c078815392b40f8"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7998ced28baf4169" /><Relationship Type="http://schemas.openxmlformats.org/officeDocument/2006/relationships/notesSlide" Target="/ppt/notesSlides/notesSlide5.xml" Id="R8c653947c5a94b82"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8cd4cfdfe30f4dd0" /><Relationship Type="http://schemas.openxmlformats.org/officeDocument/2006/relationships/notesSlide" Target="/ppt/notesSlides/notesSlide6.xml" Id="Rfc5cefab85774418"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513e05444d6f4d25" /><Relationship Type="http://schemas.openxmlformats.org/officeDocument/2006/relationships/notesSlide" Target="/ppt/notesSlides/notesSlide7.xml" Id="R487d02403b214886" /></Relationships>
</file>

<file path=ppt/slides/slide1.xml><?xml version="1.0" encoding="utf-8"?>
<p:sld xmlns:p="http://schemas.openxmlformats.org/presentationml/2006/main">
  <p:cSld>
    <p:bg>
      <p:bgPr>
        <a:solidFill xmlns:a="http://schemas.openxmlformats.org/drawingml/2006/main">
          <a:srgbClr val="081521"/>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2D225078-3C8B-478E-B62E-9F67426E730F}"/>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oundRect">
            <a:avLst>
              <a:gd name="adj" fmla="val 50000"/>
            </a:avLst>
          </a:prstGeom>
          <a:solidFill xmlns:a="http://schemas.openxmlformats.org/drawingml/2006/main">
            <a:srgbClr val="19B8A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CC0B3F3F-D6DC-4C86-B6F7-5E954F406620}"/>
              </a:ext>
            </a:extLst>
          </p:cNvPr>
          <p:cNvSpPr>
            <a:spLocks xmlns:a="http://schemas.openxmlformats.org/drawingml/2006/main" noGrp="1"/>
          </p:cNvSpPr>
          <p:nvPr/>
        </p:nvSpPr>
        <p:spPr>
          <a:xfrm xmlns:a="http://schemas.openxmlformats.org/drawingml/2006/main">
            <a:off x="666750" y="552450"/>
            <a:ext cx="4762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buNone/>
              <a:defRPr sz="1350" b="1">
                <a:solidFill>
                  <a:srgbClr val="68D9D0"/>
                </a:solidFill>
                <a:latin typeface="Aptos"/>
                <a:ea typeface="Aptos"/>
                <a:cs typeface="Aptos"/>
              </a:defRPr>
            </a:pPr>
            <a:r>
              <a:rPr sz="1350" b="1">
                <a:solidFill>
                  <a:srgbClr val="68D9D0"/>
                </a:solidFill>
                <a:latin typeface="Aptos"/>
                <a:ea typeface="Aptos"/>
                <a:cs typeface="Aptos"/>
              </a:rPr>
              <a:t>GEN AI · PROBLEM STATEMENT 2</a:t>
            </a:r>
          </a:p>
        </p:txBody>
      </p:sp>
      <p:sp>
        <p:nvSpPr>
          <p:cNvPr id="3" name="">
            <a:extLst xmlns:a="http://schemas.openxmlformats.org/drawingml/2006/main">
              <a:ext uri="{FF2B5EF4-FFF2-40B4-BE49-F238E27FC236}">
                <a16:creationId xmlns:a16="http://schemas.microsoft.com/office/drawing/2014/main" id="{15CBB8FD-A7BE-423F-98EF-4BC816A36980}"/>
              </a:ext>
            </a:extLst>
          </p:cNvPr>
          <p:cNvSpPr>
            <a:spLocks xmlns:a="http://schemas.openxmlformats.org/drawingml/2006/main" noGrp="1"/>
          </p:cNvSpPr>
          <p:nvPr/>
        </p:nvSpPr>
        <p:spPr>
          <a:xfrm xmlns:a="http://schemas.openxmlformats.org/drawingml/2006/main">
            <a:off x="666750" y="1676400"/>
            <a:ext cx="68580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96951"/>
          </a:bodyPr>
          <a:lstStyle xmlns:a="http://schemas.openxmlformats.org/drawingml/2006/main"/>
          <a:p xmlns:a="http://schemas.openxmlformats.org/drawingml/2006/main">
            <a:pPr algn="l">
              <a:buNone/>
              <a:defRPr sz="6150" b="1">
                <a:solidFill>
                  <a:srgbClr val="FFFFFF"/>
                </a:solidFill>
                <a:latin typeface="Aptos"/>
                <a:ea typeface="Aptos"/>
                <a:cs typeface="Aptos"/>
              </a:defRPr>
            </a:pPr>
            <a:r>
              <a:rPr sz="6150" b="1">
                <a:solidFill>
                  <a:srgbClr val="FFFFFF"/>
                </a:solidFill>
                <a:latin typeface="Aptos"/>
                <a:ea typeface="Aptos"/>
                <a:cs typeface="Aptos"/>
              </a:rPr>
              <a:t>PrepPilot</a:t>
            </a:r>
          </a:p>
        </p:txBody>
      </p:sp>
      <p:sp>
        <p:nvSpPr>
          <p:cNvPr id="4" name="">
            <a:extLst xmlns:a="http://schemas.openxmlformats.org/drawingml/2006/main">
              <a:ext uri="{FF2B5EF4-FFF2-40B4-BE49-F238E27FC236}">
                <a16:creationId xmlns:a16="http://schemas.microsoft.com/office/drawing/2014/main" id="{3B13ED0B-6732-4CC0-9D43-B572F1CAE713}"/>
              </a:ext>
            </a:extLst>
          </p:cNvPr>
          <p:cNvSpPr>
            <a:spLocks xmlns:a="http://schemas.openxmlformats.org/drawingml/2006/main" noGrp="1"/>
          </p:cNvSpPr>
          <p:nvPr/>
        </p:nvSpPr>
        <p:spPr>
          <a:xfrm xmlns:a="http://schemas.openxmlformats.org/drawingml/2006/main">
            <a:off x="704850" y="2857500"/>
            <a:ext cx="6191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buNone/>
              <a:defRPr sz="2400" b="0">
                <a:solidFill>
                  <a:srgbClr val="68D9D0"/>
                </a:solidFill>
                <a:latin typeface="Aptos"/>
                <a:ea typeface="Aptos"/>
                <a:cs typeface="Aptos"/>
              </a:defRPr>
            </a:pPr>
            <a:r>
              <a:rPr sz="2400" b="0">
                <a:solidFill>
                  <a:srgbClr val="68D9D0"/>
                </a:solidFill>
                <a:latin typeface="Aptos"/>
                <a:ea typeface="Aptos"/>
                <a:cs typeface="Aptos"/>
              </a:rPr>
              <a:t>From resume to ready.</a:t>
            </a:r>
          </a:p>
        </p:txBody>
      </p:sp>
      <p:sp>
        <p:nvSpPr>
          <p:cNvPr id="5" name="">
            <a:extLst xmlns:a="http://schemas.openxmlformats.org/drawingml/2006/main">
              <a:ext uri="{FF2B5EF4-FFF2-40B4-BE49-F238E27FC236}">
                <a16:creationId xmlns:a16="http://schemas.microsoft.com/office/drawing/2014/main" id="{22BFC63A-1A1B-457F-B4AE-B04B00BF6C93}"/>
              </a:ext>
            </a:extLst>
          </p:cNvPr>
          <p:cNvSpPr>
            <a:spLocks xmlns:a="http://schemas.openxmlformats.org/drawingml/2006/main" noGrp="1"/>
          </p:cNvSpPr>
          <p:nvPr/>
        </p:nvSpPr>
        <p:spPr>
          <a:xfrm xmlns:a="http://schemas.openxmlformats.org/drawingml/2006/main">
            <a:off x="704850" y="3619500"/>
            <a:ext cx="6572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buNone/>
              <a:defRPr sz="1950" b="0">
                <a:solidFill>
                  <a:srgbClr val="C7D5DC"/>
                </a:solidFill>
                <a:latin typeface="Aptos"/>
                <a:ea typeface="Aptos"/>
                <a:cs typeface="Aptos"/>
              </a:defRPr>
            </a:pPr>
            <a:r>
              <a:rPr sz="1950" b="0">
                <a:solidFill>
                  <a:srgbClr val="C7D5DC"/>
                </a:solidFill>
                <a:latin typeface="Aptos"/>
                <a:ea typeface="Aptos"/>
                <a:cs typeface="Aptos"/>
              </a:rPr>
              <a:t>Resume-aware · Voice/Text · Adaptive · Measurable</a:t>
            </a:r>
          </a:p>
        </p:txBody>
      </p:sp>
      <p:cxnSp>
        <p:nvCxnSpPr>
          <p:cNvPr id="30" name=""/>
          <p:cNvCxnSpPr/>
          <p:nvPr/>
        </p:nvCxnSpPr>
        <p:spPr>
          <a:xfrm xmlns:a="http://schemas.openxmlformats.org/drawingml/2006/main">
            <a:off x="8382000" y="1047750"/>
            <a:ext cx="0" cy="4762500"/>
          </a:xfrm>
          <a:prstGeom xmlns:a="http://schemas.openxmlformats.org/drawingml/2006/main" prst="straightConnector1">
            <a:avLst/>
          </a:prstGeom>
          <a:ln xmlns:a="http://schemas.openxmlformats.org/drawingml/2006/main" w="19050">
            <a:solidFill>
              <a:srgbClr val="274557"/>
            </a:solidFill>
            <a:prstDash val="solid"/>
          </a:ln>
        </p:spPr>
      </p:cxnSp>
      <p:sp>
        <p:nvSpPr>
          <p:cNvPr id="7" name="">
            <a:extLst xmlns:a="http://schemas.openxmlformats.org/drawingml/2006/main">
              <a:ext uri="{FF2B5EF4-FFF2-40B4-BE49-F238E27FC236}">
                <a16:creationId xmlns:a16="http://schemas.microsoft.com/office/drawing/2014/main" id="{841DD792-F899-45E2-99C6-C4BE2EB91607}"/>
              </a:ext>
            </a:extLst>
          </p:cNvPr>
          <p:cNvSpPr>
            <a:spLocks xmlns:a="http://schemas.openxmlformats.org/drawingml/2006/main" noGrp="1"/>
          </p:cNvSpPr>
          <p:nvPr/>
        </p:nvSpPr>
        <p:spPr>
          <a:xfrm xmlns:a="http://schemas.openxmlformats.org/drawingml/2006/main">
            <a:off x="8858250" y="1428750"/>
            <a:ext cx="2286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buNone/>
              <a:defRPr sz="1200" b="1">
                <a:solidFill>
                  <a:srgbClr val="68D9D0"/>
                </a:solidFill>
                <a:latin typeface="Aptos"/>
                <a:ea typeface="Aptos"/>
                <a:cs typeface="Aptos"/>
              </a:defRPr>
            </a:pPr>
            <a:r>
              <a:rPr sz="1200" b="1">
                <a:solidFill>
                  <a:srgbClr val="68D9D0"/>
                </a:solidFill>
                <a:latin typeface="Aptos"/>
                <a:ea typeface="Aptos"/>
                <a:cs typeface="Aptos"/>
              </a:rPr>
              <a:t>TEAM</a:t>
            </a:r>
          </a:p>
        </p:txBody>
      </p:sp>
      <p:sp>
        <p:nvSpPr>
          <p:cNvPr id="8" name="">
            <a:extLst xmlns:a="http://schemas.openxmlformats.org/drawingml/2006/main">
              <a:ext uri="{FF2B5EF4-FFF2-40B4-BE49-F238E27FC236}">
                <a16:creationId xmlns:a16="http://schemas.microsoft.com/office/drawing/2014/main" id="{79666CF8-812C-4D49-998E-58EC90704EB8}"/>
              </a:ext>
            </a:extLst>
          </p:cNvPr>
          <p:cNvSpPr>
            <a:spLocks xmlns:a="http://schemas.openxmlformats.org/drawingml/2006/main" noGrp="1"/>
          </p:cNvSpPr>
          <p:nvPr/>
        </p:nvSpPr>
        <p:spPr>
          <a:xfrm xmlns:a="http://schemas.openxmlformats.org/drawingml/2006/main">
            <a:off x="8858250" y="1809750"/>
            <a:ext cx="24765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99561"/>
          </a:bodyPr>
          <a:lstStyle xmlns:a="http://schemas.openxmlformats.org/drawingml/2006/main"/>
          <a:p xmlns:a="http://schemas.openxmlformats.org/drawingml/2006/main">
            <a:pPr algn="l">
              <a:buNone/>
              <a:defRPr sz="2850" b="1">
                <a:solidFill>
                  <a:srgbClr val="FFFFFF"/>
                </a:solidFill>
                <a:latin typeface="Aptos"/>
                <a:ea typeface="Aptos"/>
                <a:cs typeface="Aptos"/>
              </a:defRPr>
            </a:pPr>
            <a:r>
              <a:rPr sz="2850" b="1">
                <a:solidFill>
                  <a:srgbClr val="FFFFFF"/>
                </a:solidFill>
                <a:latin typeface="Aptos"/>
                <a:ea typeface="Aptos"/>
                <a:cs typeface="Aptos"/>
              </a:rPr>
              <a:t>PHANTOM</a:t>
            </a:r>
          </a:p>
        </p:txBody>
      </p:sp>
      <p:sp>
        <p:nvSpPr>
          <p:cNvPr id="9" name="">
            <a:extLst xmlns:a="http://schemas.openxmlformats.org/drawingml/2006/main">
              <a:ext uri="{FF2B5EF4-FFF2-40B4-BE49-F238E27FC236}">
                <a16:creationId xmlns:a16="http://schemas.microsoft.com/office/drawing/2014/main" id="{925691CC-2BCE-4514-8644-527850CF41C0}"/>
              </a:ext>
            </a:extLst>
          </p:cNvPr>
          <p:cNvSpPr>
            <a:spLocks xmlns:a="http://schemas.openxmlformats.org/drawingml/2006/main" noGrp="1"/>
          </p:cNvSpPr>
          <p:nvPr/>
        </p:nvSpPr>
        <p:spPr>
          <a:xfrm xmlns:a="http://schemas.openxmlformats.org/drawingml/2006/main">
            <a:off x="8858250" y="3143250"/>
            <a:ext cx="2286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90196"/>
          </a:bodyPr>
          <a:lstStyle xmlns:a="http://schemas.openxmlformats.org/drawingml/2006/main"/>
          <a:p xmlns:a="http://schemas.openxmlformats.org/drawingml/2006/main">
            <a:pPr algn="l">
              <a:buNone/>
              <a:defRPr sz="1275" b="0">
                <a:solidFill>
                  <a:srgbClr val="68D9D0"/>
                </a:solidFill>
                <a:latin typeface="Aptos"/>
                <a:ea typeface="Aptos"/>
                <a:cs typeface="Aptos"/>
              </a:defRPr>
            </a:pPr>
            <a:r>
              <a:rPr sz="1275" b="0">
                <a:solidFill>
                  <a:srgbClr val="68D9D0"/>
                </a:solidFill>
                <a:latin typeface="Aptos"/>
                <a:ea typeface="Aptos"/>
                <a:cs typeface="Aptos"/>
              </a:rPr>
              <a:t>Team Leader</a:t>
            </a:r>
          </a:p>
        </p:txBody>
      </p:sp>
      <p:sp>
        <p:nvSpPr>
          <p:cNvPr id="10" name="">
            <a:extLst xmlns:a="http://schemas.openxmlformats.org/drawingml/2006/main">
              <a:ext uri="{FF2B5EF4-FFF2-40B4-BE49-F238E27FC236}">
                <a16:creationId xmlns:a16="http://schemas.microsoft.com/office/drawing/2014/main" id="{664FE65C-0C24-45B6-9E32-C2A521B34BFE}"/>
              </a:ext>
            </a:extLst>
          </p:cNvPr>
          <p:cNvSpPr>
            <a:spLocks xmlns:a="http://schemas.openxmlformats.org/drawingml/2006/main" noGrp="1"/>
          </p:cNvSpPr>
          <p:nvPr/>
        </p:nvSpPr>
        <p:spPr>
          <a:xfrm xmlns:a="http://schemas.openxmlformats.org/drawingml/2006/main">
            <a:off x="8858250" y="3476625"/>
            <a:ext cx="2476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97436"/>
          </a:bodyPr>
          <a:lstStyle xmlns:a="http://schemas.openxmlformats.org/drawingml/2006/main"/>
          <a:p xmlns:a="http://schemas.openxmlformats.org/drawingml/2006/main">
            <a:pPr algn="l">
              <a:buNone/>
              <a:defRPr sz="1950" b="1">
                <a:solidFill>
                  <a:srgbClr val="FFFFFF"/>
                </a:solidFill>
                <a:latin typeface="Aptos"/>
                <a:ea typeface="Aptos"/>
                <a:cs typeface="Aptos"/>
              </a:defRPr>
            </a:pPr>
            <a:r>
              <a:rPr sz="1950" b="1">
                <a:solidFill>
                  <a:srgbClr val="FFFFFF"/>
                </a:solidFill>
                <a:latin typeface="Aptos"/>
                <a:ea typeface="Aptos"/>
                <a:cs typeface="Aptos"/>
              </a:rPr>
              <a:t>Suhani Mahajan</a:t>
            </a:r>
          </a:p>
        </p:txBody>
      </p:sp>
      <p:sp>
        <p:nvSpPr>
          <p:cNvPr id="11" name="">
            <a:extLst xmlns:a="http://schemas.openxmlformats.org/drawingml/2006/main">
              <a:ext uri="{FF2B5EF4-FFF2-40B4-BE49-F238E27FC236}">
                <a16:creationId xmlns:a16="http://schemas.microsoft.com/office/drawing/2014/main" id="{E308AD31-FCFB-4E6F-A89D-C3B14BA667A8}"/>
              </a:ext>
            </a:extLst>
          </p:cNvPr>
          <p:cNvSpPr>
            <a:spLocks xmlns:a="http://schemas.openxmlformats.org/drawingml/2006/main" noGrp="1"/>
          </p:cNvSpPr>
          <p:nvPr/>
        </p:nvSpPr>
        <p:spPr>
          <a:xfrm xmlns:a="http://schemas.openxmlformats.org/drawingml/2006/main">
            <a:off x="8858250" y="4286250"/>
            <a:ext cx="2286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90196"/>
          </a:bodyPr>
          <a:lstStyle xmlns:a="http://schemas.openxmlformats.org/drawingml/2006/main"/>
          <a:p xmlns:a="http://schemas.openxmlformats.org/drawingml/2006/main">
            <a:pPr algn="l">
              <a:buNone/>
              <a:defRPr sz="1275" b="0">
                <a:solidFill>
                  <a:srgbClr val="68D9D0"/>
                </a:solidFill>
                <a:latin typeface="Aptos"/>
                <a:ea typeface="Aptos"/>
                <a:cs typeface="Aptos"/>
              </a:defRPr>
            </a:pPr>
            <a:r>
              <a:rPr sz="1275" b="0">
                <a:solidFill>
                  <a:srgbClr val="68D9D0"/>
                </a:solidFill>
                <a:latin typeface="Aptos"/>
                <a:ea typeface="Aptos"/>
                <a:cs typeface="Aptos"/>
              </a:rPr>
              <a:t>Team Member</a:t>
            </a:r>
          </a:p>
        </p:txBody>
      </p:sp>
      <p:sp>
        <p:nvSpPr>
          <p:cNvPr id="12" name="">
            <a:extLst xmlns:a="http://schemas.openxmlformats.org/drawingml/2006/main">
              <a:ext uri="{FF2B5EF4-FFF2-40B4-BE49-F238E27FC236}">
                <a16:creationId xmlns:a16="http://schemas.microsoft.com/office/drawing/2014/main" id="{4D0D0510-D95D-427A-A3D2-7D15008B6EC8}"/>
              </a:ext>
            </a:extLst>
          </p:cNvPr>
          <p:cNvSpPr>
            <a:spLocks xmlns:a="http://schemas.openxmlformats.org/drawingml/2006/main" noGrp="1"/>
          </p:cNvSpPr>
          <p:nvPr/>
        </p:nvSpPr>
        <p:spPr>
          <a:xfrm xmlns:a="http://schemas.openxmlformats.org/drawingml/2006/main">
            <a:off x="8858250" y="4619625"/>
            <a:ext cx="2476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97436"/>
          </a:bodyPr>
          <a:lstStyle xmlns:a="http://schemas.openxmlformats.org/drawingml/2006/main"/>
          <a:p xmlns:a="http://schemas.openxmlformats.org/drawingml/2006/main">
            <a:pPr algn="l">
              <a:buNone/>
              <a:defRPr sz="1950" b="1">
                <a:solidFill>
                  <a:srgbClr val="FFFFFF"/>
                </a:solidFill>
                <a:latin typeface="Aptos"/>
                <a:ea typeface="Aptos"/>
                <a:cs typeface="Aptos"/>
              </a:defRPr>
            </a:pPr>
            <a:r>
              <a:rPr sz="1950" b="1">
                <a:solidFill>
                  <a:srgbClr val="FFFFFF"/>
                </a:solidFill>
                <a:latin typeface="Aptos"/>
                <a:ea typeface="Aptos"/>
                <a:cs typeface="Aptos"/>
              </a:rPr>
              <a:t>Divyam Madan</a:t>
            </a:r>
          </a:p>
        </p:txBody>
      </p:sp>
    </p:spTree>
    <p:extLst>
      <p:ext uri="{BB962C8B-B14F-4D97-AF65-F5344CB8AC3E}">
        <p14:creationId xmlns:p14="http://schemas.microsoft.com/office/powerpoint/2010/main" val="1499703517"/>
      </p:ext>
    </p:extLst>
  </p:cSld>
</p:sld>
</file>

<file path=ppt/slides/slide2.xml><?xml version="1.0" encoding="utf-8"?>
<p:sld xmlns:p="http://schemas.openxmlformats.org/presentationml/2006/main">
  <p:cSld>
    <p:bg>
      <p:bgPr>
        <a:solidFill xmlns:a="http://schemas.openxmlformats.org/drawingml/2006/main">
          <a:srgbClr val="F3F8F8"/>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E55CD6F7-C1CC-4A38-B878-C982272BCFAF}"/>
              </a:ext>
            </a:extLst>
          </p:cNvPr>
          <p:cNvSpPr>
            <a:spLocks xmlns:a="http://schemas.openxmlformats.org/drawingml/2006/main" noGrp="1"/>
          </p:cNvSpPr>
          <p:nvPr/>
        </p:nvSpPr>
        <p:spPr>
          <a:xfrm xmlns:a="http://schemas.openxmlformats.org/drawingml/2006/main">
            <a:off x="533400" y="333375"/>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buNone/>
              <a:defRPr sz="1200" b="1">
                <a:solidFill>
                  <a:srgbClr val="19B8A5"/>
                </a:solidFill>
                <a:latin typeface="Aptos"/>
                <a:ea typeface="Aptos"/>
                <a:cs typeface="Aptos"/>
              </a:defRPr>
            </a:pPr>
            <a:r>
              <a:rPr sz="1200" b="1">
                <a:solidFill>
                  <a:srgbClr val="19B8A5"/>
                </a:solidFill>
                <a:latin typeface="Aptos"/>
                <a:ea typeface="Aptos"/>
                <a:cs typeface="Aptos"/>
              </a:rPr>
              <a:t>PREPPILOT · TEAM PHANTOM</a:t>
            </a:r>
          </a:p>
        </p:txBody>
      </p:sp>
      <p:sp>
        <p:nvSpPr>
          <p:cNvPr id="2" name="">
            <a:extLst xmlns:a="http://schemas.openxmlformats.org/drawingml/2006/main">
              <a:ext uri="{FF2B5EF4-FFF2-40B4-BE49-F238E27FC236}">
                <a16:creationId xmlns:a16="http://schemas.microsoft.com/office/drawing/2014/main" id="{7BF25245-102F-4BE5-BE39-8298E2EF7DF4}"/>
              </a:ext>
            </a:extLst>
          </p:cNvPr>
          <p:cNvSpPr>
            <a:spLocks xmlns:a="http://schemas.openxmlformats.org/drawingml/2006/main" noGrp="1"/>
          </p:cNvSpPr>
          <p:nvPr/>
        </p:nvSpPr>
        <p:spPr>
          <a:xfrm xmlns:a="http://schemas.openxmlformats.org/drawingml/2006/main">
            <a:off x="533400" y="72390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buNone/>
              <a:defRPr sz="3600" b="1">
                <a:solidFill>
                  <a:srgbClr val="10212E"/>
                </a:solidFill>
                <a:latin typeface="Aptos"/>
                <a:ea typeface="Aptos"/>
                <a:cs typeface="Aptos"/>
              </a:defRPr>
            </a:pPr>
            <a:r>
              <a:rPr sz="3600" b="1">
                <a:solidFill>
                  <a:srgbClr val="10212E"/>
                </a:solidFill>
                <a:latin typeface="Aptos"/>
                <a:ea typeface="Aptos"/>
                <a:cs typeface="Aptos"/>
              </a:rPr>
              <a:t>Setup makes every interview candidate-specific</a:t>
            </a:r>
          </a:p>
        </p:txBody>
      </p:sp>
      <p:sp>
        <p:nvSpPr>
          <p:cNvPr id="3" name="">
            <a:extLst xmlns:a="http://schemas.openxmlformats.org/drawingml/2006/main">
              <a:ext uri="{FF2B5EF4-FFF2-40B4-BE49-F238E27FC236}">
                <a16:creationId xmlns:a16="http://schemas.microsoft.com/office/drawing/2014/main" id="{C5BBAE0D-1679-4F31-A3AD-D41ED4FBF3C9}"/>
              </a:ext>
            </a:extLst>
          </p:cNvPr>
          <p:cNvSpPr>
            <a:spLocks xmlns:a="http://schemas.openxmlformats.org/drawingml/2006/main" noGrp="1"/>
          </p:cNvSpPr>
          <p:nvPr/>
        </p:nvSpPr>
        <p:spPr>
          <a:xfrm xmlns:a="http://schemas.openxmlformats.org/drawingml/2006/main">
            <a:off x="11163300" y="381000"/>
            <a:ext cx="495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95833"/>
          </a:bodyPr>
          <a:lstStyle xmlns:a="http://schemas.openxmlformats.org/drawingml/2006/main"/>
          <a:p xmlns:a="http://schemas.openxmlformats.org/drawingml/2006/main">
            <a:pPr algn="r">
              <a:buNone/>
              <a:defRPr sz="1200" b="1">
                <a:solidFill>
                  <a:srgbClr val="5D7080"/>
                </a:solidFill>
                <a:latin typeface="Aptos"/>
                <a:ea typeface="Aptos"/>
                <a:cs typeface="Aptos"/>
              </a:defRPr>
            </a:pPr>
            <a:r>
              <a:rPr sz="1200" b="1">
                <a:solidFill>
                  <a:srgbClr val="5D7080"/>
                </a:solidFill>
                <a:latin typeface="Aptos"/>
                <a:ea typeface="Aptos"/>
                <a:cs typeface="Aptos"/>
              </a:rPr>
              <a:t>02</a:t>
            </a:r>
          </a:p>
        </p:txBody>
      </p:sp>
      <p:sp>
        <p:nvSpPr>
          <p:cNvPr id="4" name="">
            <a:extLst xmlns:a="http://schemas.openxmlformats.org/drawingml/2006/main">
              <a:ext uri="{FF2B5EF4-FFF2-40B4-BE49-F238E27FC236}">
                <a16:creationId xmlns:a16="http://schemas.microsoft.com/office/drawing/2014/main" id="{A2EFE8F9-8375-4994-A32A-3BA58AC2B122}"/>
              </a:ext>
            </a:extLst>
          </p:cNvPr>
          <p:cNvSpPr>
            <a:spLocks xmlns:a="http://schemas.openxmlformats.org/drawingml/2006/main" noGrp="1"/>
          </p:cNvSpPr>
          <p:nvPr/>
        </p:nvSpPr>
        <p:spPr>
          <a:xfrm xmlns:a="http://schemas.openxmlformats.org/drawingml/2006/main">
            <a:off x="533400" y="1638300"/>
            <a:ext cx="102870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buNone/>
              <a:defRPr sz="2250" b="0">
                <a:solidFill>
                  <a:srgbClr val="10212E"/>
                </a:solidFill>
                <a:latin typeface="Aptos"/>
                <a:ea typeface="Aptos"/>
                <a:cs typeface="Aptos"/>
              </a:defRPr>
            </a:pPr>
            <a:r>
              <a:rPr sz="2250" b="0">
                <a:solidFill>
                  <a:srgbClr val="10212E"/>
                </a:solidFill>
                <a:latin typeface="Aptos"/>
                <a:ea typeface="Aptos"/>
                <a:cs typeface="Aptos"/>
              </a:rPr>
              <a:t>PrepPilot combines resume intelligence with a required, fully configurable interview setup.</a:t>
            </a:r>
          </a:p>
        </p:txBody>
      </p:sp>
      <p:cxnSp>
        <p:nvCxnSpPr>
          <p:cNvPr id="33" name=""/>
          <p:cNvCxnSpPr/>
          <p:nvPr/>
        </p:nvCxnSpPr>
        <p:spPr>
          <a:xfrm xmlns:a="http://schemas.openxmlformats.org/drawingml/2006/main">
            <a:off x="4038600" y="3143250"/>
            <a:ext cx="0" cy="2428875"/>
          </a:xfrm>
          <a:prstGeom xmlns:a="http://schemas.openxmlformats.org/drawingml/2006/main" prst="straightConnector1">
            <a:avLst/>
          </a:prstGeom>
          <a:ln xmlns:a="http://schemas.openxmlformats.org/drawingml/2006/main" w="19050">
            <a:solidFill>
              <a:srgbClr val="C9D9DC"/>
            </a:solidFill>
            <a:prstDash val="solid"/>
          </a:ln>
        </p:spPr>
      </p:cxnSp>
      <p:cxnSp>
        <p:nvCxnSpPr>
          <p:cNvPr id="34" name=""/>
          <p:cNvCxnSpPr/>
          <p:nvPr/>
        </p:nvCxnSpPr>
        <p:spPr>
          <a:xfrm xmlns:a="http://schemas.openxmlformats.org/drawingml/2006/main">
            <a:off x="7772400" y="3143250"/>
            <a:ext cx="0" cy="2428875"/>
          </a:xfrm>
          <a:prstGeom xmlns:a="http://schemas.openxmlformats.org/drawingml/2006/main" prst="straightConnector1">
            <a:avLst/>
          </a:prstGeom>
          <a:ln xmlns:a="http://schemas.openxmlformats.org/drawingml/2006/main" w="19050">
            <a:solidFill>
              <a:srgbClr val="C9D9DC"/>
            </a:solidFill>
            <a:prstDash val="solid"/>
          </a:ln>
        </p:spPr>
      </p:cxnSp>
      <p:sp>
        <p:nvSpPr>
          <p:cNvPr id="7" name="">
            <a:extLst xmlns:a="http://schemas.openxmlformats.org/drawingml/2006/main">
              <a:ext uri="{FF2B5EF4-FFF2-40B4-BE49-F238E27FC236}">
                <a16:creationId xmlns:a16="http://schemas.microsoft.com/office/drawing/2014/main" id="{01210D17-5090-4D52-8BED-469223730833}"/>
              </a:ext>
            </a:extLst>
          </p:cNvPr>
          <p:cNvSpPr>
            <a:spLocks xmlns:a="http://schemas.openxmlformats.org/drawingml/2006/main" noGrp="1"/>
          </p:cNvSpPr>
          <p:nvPr/>
        </p:nvSpPr>
        <p:spPr>
          <a:xfrm xmlns:a="http://schemas.openxmlformats.org/drawingml/2006/main">
            <a:off x="533400" y="3143250"/>
            <a:ext cx="666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buNone/>
              <a:defRPr sz="1350" b="1">
                <a:solidFill>
                  <a:srgbClr val="19B8A5"/>
                </a:solidFill>
                <a:latin typeface="Aptos"/>
                <a:ea typeface="Aptos"/>
                <a:cs typeface="Aptos"/>
              </a:defRPr>
            </a:pPr>
            <a:r>
              <a:rPr sz="1350" b="1">
                <a:solidFill>
                  <a:srgbClr val="19B8A5"/>
                </a:solidFill>
                <a:latin typeface="Aptos"/>
                <a:ea typeface="Aptos"/>
                <a:cs typeface="Aptos"/>
              </a:rPr>
              <a:t>01</a:t>
            </a:r>
          </a:p>
        </p:txBody>
      </p:sp>
      <p:sp>
        <p:nvSpPr>
          <p:cNvPr id="8" name="">
            <a:extLst xmlns:a="http://schemas.openxmlformats.org/drawingml/2006/main">
              <a:ext uri="{FF2B5EF4-FFF2-40B4-BE49-F238E27FC236}">
                <a16:creationId xmlns:a16="http://schemas.microsoft.com/office/drawing/2014/main" id="{2B92B409-3C5A-41CA-BB45-B8AD840A7D08}"/>
              </a:ext>
            </a:extLst>
          </p:cNvPr>
          <p:cNvSpPr>
            <a:spLocks xmlns:a="http://schemas.openxmlformats.org/drawingml/2006/main" noGrp="1"/>
          </p:cNvSpPr>
          <p:nvPr/>
        </p:nvSpPr>
        <p:spPr>
          <a:xfrm xmlns:a="http://schemas.openxmlformats.org/drawingml/2006/main">
            <a:off x="533400" y="3667125"/>
            <a:ext cx="2857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94495"/>
          </a:bodyPr>
          <a:lstStyle xmlns:a="http://schemas.openxmlformats.org/drawingml/2006/main"/>
          <a:p xmlns:a="http://schemas.openxmlformats.org/drawingml/2006/main">
            <a:pPr algn="l">
              <a:buNone/>
              <a:defRPr sz="2400" b="1">
                <a:solidFill>
                  <a:srgbClr val="10212E"/>
                </a:solidFill>
                <a:latin typeface="Aptos"/>
                <a:ea typeface="Aptos"/>
                <a:cs typeface="Aptos"/>
              </a:defRPr>
            </a:pPr>
            <a:r>
              <a:rPr sz="2400" b="1">
                <a:solidFill>
                  <a:srgbClr val="10212E"/>
                </a:solidFill>
                <a:latin typeface="Aptos"/>
                <a:ea typeface="Aptos"/>
                <a:cs typeface="Aptos"/>
              </a:rPr>
              <a:t>Resume intelligence</a:t>
            </a:r>
          </a:p>
        </p:txBody>
      </p:sp>
      <p:sp>
        <p:nvSpPr>
          <p:cNvPr id="9" name="">
            <a:extLst xmlns:a="http://schemas.openxmlformats.org/drawingml/2006/main">
              <a:ext uri="{FF2B5EF4-FFF2-40B4-BE49-F238E27FC236}">
                <a16:creationId xmlns:a16="http://schemas.microsoft.com/office/drawing/2014/main" id="{348C120B-4929-4352-B9CD-E3CDFAC8FB4E}"/>
              </a:ext>
            </a:extLst>
          </p:cNvPr>
          <p:cNvSpPr>
            <a:spLocks xmlns:a="http://schemas.openxmlformats.org/drawingml/2006/main" noGrp="1"/>
          </p:cNvSpPr>
          <p:nvPr/>
        </p:nvSpPr>
        <p:spPr>
          <a:xfrm xmlns:a="http://schemas.openxmlformats.org/drawingml/2006/main">
            <a:off x="533400" y="4333875"/>
            <a:ext cx="300037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buNone/>
              <a:defRPr sz="1575" b="0">
                <a:solidFill>
                  <a:srgbClr val="5D7080"/>
                </a:solidFill>
                <a:latin typeface="Aptos"/>
                <a:ea typeface="Aptos"/>
                <a:cs typeface="Aptos"/>
              </a:defRPr>
            </a:pPr>
            <a:r>
              <a:rPr sz="1575" b="0">
                <a:solidFill>
                  <a:srgbClr val="5D7080"/>
                </a:solidFill>
                <a:latin typeface="Aptos"/>
                <a:ea typeface="Aptos"/>
                <a:cs typeface="Aptos"/>
              </a:rPr>
              <a:t>PDF upload → private storage → editable profile of skills, projects, education and experience.</a:t>
            </a:r>
          </a:p>
        </p:txBody>
      </p:sp>
      <p:sp>
        <p:nvSpPr>
          <p:cNvPr id="10" name="">
            <a:extLst xmlns:a="http://schemas.openxmlformats.org/drawingml/2006/main">
              <a:ext uri="{FF2B5EF4-FFF2-40B4-BE49-F238E27FC236}">
                <a16:creationId xmlns:a16="http://schemas.microsoft.com/office/drawing/2014/main" id="{124AB78B-71D5-4E29-817B-4C608DEE50C5}"/>
              </a:ext>
            </a:extLst>
          </p:cNvPr>
          <p:cNvSpPr>
            <a:spLocks xmlns:a="http://schemas.openxmlformats.org/drawingml/2006/main" noGrp="1"/>
          </p:cNvSpPr>
          <p:nvPr/>
        </p:nvSpPr>
        <p:spPr>
          <a:xfrm xmlns:a="http://schemas.openxmlformats.org/drawingml/2006/main">
            <a:off x="4267200" y="3143250"/>
            <a:ext cx="666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buNone/>
              <a:defRPr sz="1350" b="1">
                <a:solidFill>
                  <a:srgbClr val="19B8A5"/>
                </a:solidFill>
                <a:latin typeface="Aptos"/>
                <a:ea typeface="Aptos"/>
                <a:cs typeface="Aptos"/>
              </a:defRPr>
            </a:pPr>
            <a:r>
              <a:rPr sz="1350" b="1">
                <a:solidFill>
                  <a:srgbClr val="19B8A5"/>
                </a:solidFill>
                <a:latin typeface="Aptos"/>
                <a:ea typeface="Aptos"/>
                <a:cs typeface="Aptos"/>
              </a:rPr>
              <a:t>02</a:t>
            </a:r>
          </a:p>
        </p:txBody>
      </p:sp>
      <p:sp>
        <p:nvSpPr>
          <p:cNvPr id="11" name="">
            <a:extLst xmlns:a="http://schemas.openxmlformats.org/drawingml/2006/main">
              <a:ext uri="{FF2B5EF4-FFF2-40B4-BE49-F238E27FC236}">
                <a16:creationId xmlns:a16="http://schemas.microsoft.com/office/drawing/2014/main" id="{F86654AC-0FCC-4633-9813-E27141765BAB}"/>
              </a:ext>
            </a:extLst>
          </p:cNvPr>
          <p:cNvSpPr>
            <a:spLocks xmlns:a="http://schemas.openxmlformats.org/drawingml/2006/main" noGrp="1"/>
          </p:cNvSpPr>
          <p:nvPr/>
        </p:nvSpPr>
        <p:spPr>
          <a:xfrm xmlns:a="http://schemas.openxmlformats.org/drawingml/2006/main">
            <a:off x="4267200" y="3667125"/>
            <a:ext cx="2857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buNone/>
              <a:defRPr sz="2400" b="1">
                <a:solidFill>
                  <a:srgbClr val="10212E"/>
                </a:solidFill>
                <a:latin typeface="Aptos"/>
                <a:ea typeface="Aptos"/>
                <a:cs typeface="Aptos"/>
              </a:defRPr>
            </a:pPr>
            <a:r>
              <a:rPr sz="2400" b="1">
                <a:solidFill>
                  <a:srgbClr val="10212E"/>
                </a:solidFill>
                <a:latin typeface="Aptos"/>
                <a:ea typeface="Aptos"/>
                <a:cs typeface="Aptos"/>
              </a:rPr>
              <a:t>Interview setup</a:t>
            </a:r>
          </a:p>
        </p:txBody>
      </p:sp>
      <p:sp>
        <p:nvSpPr>
          <p:cNvPr id="12" name="">
            <a:extLst xmlns:a="http://schemas.openxmlformats.org/drawingml/2006/main">
              <a:ext uri="{FF2B5EF4-FFF2-40B4-BE49-F238E27FC236}">
                <a16:creationId xmlns:a16="http://schemas.microsoft.com/office/drawing/2014/main" id="{66B55126-15A1-4967-A3B6-B20341682B54}"/>
              </a:ext>
            </a:extLst>
          </p:cNvPr>
          <p:cNvSpPr>
            <a:spLocks xmlns:a="http://schemas.openxmlformats.org/drawingml/2006/main" noGrp="1"/>
          </p:cNvSpPr>
          <p:nvPr/>
        </p:nvSpPr>
        <p:spPr>
          <a:xfrm xmlns:a="http://schemas.openxmlformats.org/drawingml/2006/main">
            <a:off x="4267200" y="4333875"/>
            <a:ext cx="300037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buNone/>
              <a:defRPr sz="1575" b="0">
                <a:solidFill>
                  <a:srgbClr val="5D7080"/>
                </a:solidFill>
                <a:latin typeface="Aptos"/>
                <a:ea typeface="Aptos"/>
                <a:cs typeface="Aptos"/>
              </a:defRPr>
            </a:pPr>
            <a:r>
              <a:rPr sz="1575" b="0">
                <a:solidFill>
                  <a:srgbClr val="5D7080"/>
                </a:solidFill>
                <a:latin typeface="Aptos"/>
                <a:ea typeface="Aptos"/>
                <a:cs typeface="Aptos"/>
              </a:rPr>
              <a:t>Role, experience level, interview type, 5–180 minute duration, job description and review.</a:t>
            </a:r>
          </a:p>
        </p:txBody>
      </p:sp>
      <p:sp>
        <p:nvSpPr>
          <p:cNvPr id="13" name="">
            <a:extLst xmlns:a="http://schemas.openxmlformats.org/drawingml/2006/main">
              <a:ext uri="{FF2B5EF4-FFF2-40B4-BE49-F238E27FC236}">
                <a16:creationId xmlns:a16="http://schemas.microsoft.com/office/drawing/2014/main" id="{D3F28AFD-B5AA-4B41-8B04-6AC88CFE1BF0}"/>
              </a:ext>
            </a:extLst>
          </p:cNvPr>
          <p:cNvSpPr>
            <a:spLocks xmlns:a="http://schemas.openxmlformats.org/drawingml/2006/main" noGrp="1"/>
          </p:cNvSpPr>
          <p:nvPr/>
        </p:nvSpPr>
        <p:spPr>
          <a:xfrm xmlns:a="http://schemas.openxmlformats.org/drawingml/2006/main">
            <a:off x="8001000" y="3143250"/>
            <a:ext cx="666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buNone/>
              <a:defRPr sz="1350" b="1">
                <a:solidFill>
                  <a:srgbClr val="19B8A5"/>
                </a:solidFill>
                <a:latin typeface="Aptos"/>
                <a:ea typeface="Aptos"/>
                <a:cs typeface="Aptos"/>
              </a:defRPr>
            </a:pPr>
            <a:r>
              <a:rPr sz="1350" b="1">
                <a:solidFill>
                  <a:srgbClr val="19B8A5"/>
                </a:solidFill>
                <a:latin typeface="Aptos"/>
                <a:ea typeface="Aptos"/>
                <a:cs typeface="Aptos"/>
              </a:rPr>
              <a:t>03</a:t>
            </a:r>
          </a:p>
        </p:txBody>
      </p:sp>
      <p:sp>
        <p:nvSpPr>
          <p:cNvPr id="14" name="">
            <a:extLst xmlns:a="http://schemas.openxmlformats.org/drawingml/2006/main">
              <a:ext uri="{FF2B5EF4-FFF2-40B4-BE49-F238E27FC236}">
                <a16:creationId xmlns:a16="http://schemas.microsoft.com/office/drawing/2014/main" id="{002BD5AC-81A9-417C-A115-E2FF70D4541E}"/>
              </a:ext>
            </a:extLst>
          </p:cNvPr>
          <p:cNvSpPr>
            <a:spLocks xmlns:a="http://schemas.openxmlformats.org/drawingml/2006/main" noGrp="1"/>
          </p:cNvSpPr>
          <p:nvPr/>
        </p:nvSpPr>
        <p:spPr>
          <a:xfrm xmlns:a="http://schemas.openxmlformats.org/drawingml/2006/main">
            <a:off x="8001000" y="3667125"/>
            <a:ext cx="2857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buNone/>
              <a:defRPr sz="2400" b="1">
                <a:solidFill>
                  <a:srgbClr val="10212E"/>
                </a:solidFill>
                <a:latin typeface="Aptos"/>
                <a:ea typeface="Aptos"/>
                <a:cs typeface="Aptos"/>
              </a:defRPr>
            </a:pPr>
            <a:r>
              <a:rPr sz="2400" b="1">
                <a:solidFill>
                  <a:srgbClr val="10212E"/>
                </a:solidFill>
                <a:latin typeface="Aptos"/>
                <a:ea typeface="Aptos"/>
                <a:cs typeface="Aptos"/>
              </a:rPr>
              <a:t>Mode selection</a:t>
            </a:r>
          </a:p>
        </p:txBody>
      </p:sp>
      <p:sp>
        <p:nvSpPr>
          <p:cNvPr id="15" name="">
            <a:extLst xmlns:a="http://schemas.openxmlformats.org/drawingml/2006/main">
              <a:ext uri="{FF2B5EF4-FFF2-40B4-BE49-F238E27FC236}">
                <a16:creationId xmlns:a16="http://schemas.microsoft.com/office/drawing/2014/main" id="{FCC636BD-835B-4CA3-B8A5-4D796B2EF128}"/>
              </a:ext>
            </a:extLst>
          </p:cNvPr>
          <p:cNvSpPr>
            <a:spLocks xmlns:a="http://schemas.openxmlformats.org/drawingml/2006/main" noGrp="1"/>
          </p:cNvSpPr>
          <p:nvPr/>
        </p:nvSpPr>
        <p:spPr>
          <a:xfrm xmlns:a="http://schemas.openxmlformats.org/drawingml/2006/main">
            <a:off x="8001000" y="4333875"/>
            <a:ext cx="300037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buNone/>
              <a:defRPr sz="1575" b="0">
                <a:solidFill>
                  <a:srgbClr val="5D7080"/>
                </a:solidFill>
                <a:latin typeface="Aptos"/>
                <a:ea typeface="Aptos"/>
                <a:cs typeface="Aptos"/>
              </a:defRPr>
            </a:pPr>
            <a:r>
              <a:rPr sz="1575" b="0">
                <a:solidFill>
                  <a:srgbClr val="5D7080"/>
                </a:solidFill>
                <a:latin typeface="Aptos"/>
                <a:ea typeface="Aptos"/>
                <a:cs typeface="Aptos"/>
              </a:rPr>
              <a:t>Voice or Text is required, stored in session context and locked after the interview launches.</a:t>
            </a:r>
          </a:p>
        </p:txBody>
      </p:sp>
      <p:sp>
        <p:nvSpPr>
          <p:cNvPr id="16" name="">
            <a:extLst xmlns:a="http://schemas.openxmlformats.org/drawingml/2006/main">
              <a:ext uri="{FF2B5EF4-FFF2-40B4-BE49-F238E27FC236}">
                <a16:creationId xmlns:a16="http://schemas.microsoft.com/office/drawing/2014/main" id="{25C9BA71-4238-4E6B-AD35-47F2853A654A}"/>
              </a:ext>
            </a:extLst>
          </p:cNvPr>
          <p:cNvSpPr>
            <a:spLocks xmlns:a="http://schemas.openxmlformats.org/drawingml/2006/main" noGrp="1"/>
          </p:cNvSpPr>
          <p:nvPr/>
        </p:nvSpPr>
        <p:spPr>
          <a:xfrm xmlns:a="http://schemas.openxmlformats.org/drawingml/2006/main">
            <a:off x="533400" y="5924550"/>
            <a:ext cx="7810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94667"/>
          </a:bodyPr>
          <a:lstStyle xmlns:a="http://schemas.openxmlformats.org/drawingml/2006/main"/>
          <a:p xmlns:a="http://schemas.openxmlformats.org/drawingml/2006/main">
            <a:pPr algn="l">
              <a:buNone/>
              <a:defRPr sz="1875" b="1">
                <a:solidFill>
                  <a:srgbClr val="19B8A5"/>
                </a:solidFill>
                <a:latin typeface="Aptos"/>
                <a:ea typeface="Aptos"/>
                <a:cs typeface="Aptos"/>
              </a:defRPr>
            </a:pPr>
            <a:r>
              <a:rPr sz="1875" b="1">
                <a:solidFill>
                  <a:srgbClr val="19B8A5"/>
                </a:solidFill>
                <a:latin typeface="Aptos"/>
                <a:ea typeface="Aptos"/>
                <a:cs typeface="Aptos"/>
              </a:rPr>
              <a:t>That configuration becomes context for every adaptive question.</a:t>
            </a:r>
          </a:p>
        </p:txBody>
      </p:sp>
    </p:spTree>
    <p:extLst>
      <p:ext uri="{BB962C8B-B14F-4D97-AF65-F5344CB8AC3E}">
        <p14:creationId xmlns:p14="http://schemas.microsoft.com/office/powerpoint/2010/main" val="2098206243"/>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2C4A2AC1-15C7-4B66-9FCE-063A7B150BEB}"/>
              </a:ext>
            </a:extLst>
          </p:cNvPr>
          <p:cNvSpPr>
            <a:spLocks xmlns:a="http://schemas.openxmlformats.org/drawingml/2006/main" noGrp="1"/>
          </p:cNvSpPr>
          <p:nvPr/>
        </p:nvSpPr>
        <p:spPr>
          <a:xfrm xmlns:a="http://schemas.openxmlformats.org/drawingml/2006/main">
            <a:off x="533400" y="333375"/>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buNone/>
              <a:defRPr sz="1200" b="1">
                <a:solidFill>
                  <a:srgbClr val="19B8A5"/>
                </a:solidFill>
                <a:latin typeface="Aptos"/>
                <a:ea typeface="Aptos"/>
                <a:cs typeface="Aptos"/>
              </a:defRPr>
            </a:pPr>
            <a:r>
              <a:rPr sz="1200" b="1">
                <a:solidFill>
                  <a:srgbClr val="19B8A5"/>
                </a:solidFill>
                <a:latin typeface="Aptos"/>
                <a:ea typeface="Aptos"/>
                <a:cs typeface="Aptos"/>
              </a:rPr>
              <a:t>PREPPILOT · TEAM PHANTOM</a:t>
            </a:r>
          </a:p>
        </p:txBody>
      </p:sp>
      <p:sp>
        <p:nvSpPr>
          <p:cNvPr id="2" name="">
            <a:extLst xmlns:a="http://schemas.openxmlformats.org/drawingml/2006/main">
              <a:ext uri="{FF2B5EF4-FFF2-40B4-BE49-F238E27FC236}">
                <a16:creationId xmlns:a16="http://schemas.microsoft.com/office/drawing/2014/main" id="{4610D81A-045B-4C50-9297-94BC9316EFC5}"/>
              </a:ext>
            </a:extLst>
          </p:cNvPr>
          <p:cNvSpPr>
            <a:spLocks xmlns:a="http://schemas.openxmlformats.org/drawingml/2006/main" noGrp="1"/>
          </p:cNvSpPr>
          <p:nvPr/>
        </p:nvSpPr>
        <p:spPr>
          <a:xfrm xmlns:a="http://schemas.openxmlformats.org/drawingml/2006/main">
            <a:off x="533400" y="72390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buNone/>
              <a:defRPr sz="3600" b="1">
                <a:solidFill>
                  <a:srgbClr val="10212E"/>
                </a:solidFill>
                <a:latin typeface="Aptos"/>
                <a:ea typeface="Aptos"/>
                <a:cs typeface="Aptos"/>
              </a:defRPr>
            </a:pPr>
            <a:r>
              <a:rPr sz="3600" b="1">
                <a:solidFill>
                  <a:srgbClr val="10212E"/>
                </a:solidFill>
                <a:latin typeface="Aptos"/>
                <a:ea typeface="Aptos"/>
                <a:cs typeface="Aptos"/>
              </a:rPr>
              <a:t>Voice and Text use one adaptive interview engine</a:t>
            </a:r>
          </a:p>
        </p:txBody>
      </p:sp>
      <p:sp>
        <p:nvSpPr>
          <p:cNvPr id="3" name="">
            <a:extLst xmlns:a="http://schemas.openxmlformats.org/drawingml/2006/main">
              <a:ext uri="{FF2B5EF4-FFF2-40B4-BE49-F238E27FC236}">
                <a16:creationId xmlns:a16="http://schemas.microsoft.com/office/drawing/2014/main" id="{3D3D312F-D3E8-49B2-9E13-FE15C2A94644}"/>
              </a:ext>
            </a:extLst>
          </p:cNvPr>
          <p:cNvSpPr>
            <a:spLocks xmlns:a="http://schemas.openxmlformats.org/drawingml/2006/main" noGrp="1"/>
          </p:cNvSpPr>
          <p:nvPr/>
        </p:nvSpPr>
        <p:spPr>
          <a:xfrm xmlns:a="http://schemas.openxmlformats.org/drawingml/2006/main">
            <a:off x="11163300" y="381000"/>
            <a:ext cx="495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95833"/>
          </a:bodyPr>
          <a:lstStyle xmlns:a="http://schemas.openxmlformats.org/drawingml/2006/main"/>
          <a:p xmlns:a="http://schemas.openxmlformats.org/drawingml/2006/main">
            <a:pPr algn="r">
              <a:buNone/>
              <a:defRPr sz="1200" b="1">
                <a:solidFill>
                  <a:srgbClr val="5D7080"/>
                </a:solidFill>
                <a:latin typeface="Aptos"/>
                <a:ea typeface="Aptos"/>
                <a:cs typeface="Aptos"/>
              </a:defRPr>
            </a:pPr>
            <a:r>
              <a:rPr sz="1200" b="1">
                <a:solidFill>
                  <a:srgbClr val="5D7080"/>
                </a:solidFill>
                <a:latin typeface="Aptos"/>
                <a:ea typeface="Aptos"/>
                <a:cs typeface="Aptos"/>
              </a:rPr>
              <a:t>03</a:t>
            </a:r>
          </a:p>
        </p:txBody>
      </p:sp>
      <p:sp>
        <p:nvSpPr>
          <p:cNvPr id="4" name="">
            <a:extLst xmlns:a="http://schemas.openxmlformats.org/drawingml/2006/main">
              <a:ext uri="{FF2B5EF4-FFF2-40B4-BE49-F238E27FC236}">
                <a16:creationId xmlns:a16="http://schemas.microsoft.com/office/drawing/2014/main" id="{B9AE4F19-BE18-4472-B487-9CD2D7EAD8BC}"/>
              </a:ext>
            </a:extLst>
          </p:cNvPr>
          <p:cNvSpPr>
            <a:spLocks xmlns:a="http://schemas.openxmlformats.org/drawingml/2006/main" noGrp="1"/>
          </p:cNvSpPr>
          <p:nvPr/>
        </p:nvSpPr>
        <p:spPr>
          <a:xfrm xmlns:a="http://schemas.openxmlformats.org/drawingml/2006/main">
            <a:off x="533400" y="1809750"/>
            <a:ext cx="4000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buNone/>
              <a:defRPr sz="1950" b="1">
                <a:solidFill>
                  <a:srgbClr val="19B8A5"/>
                </a:solidFill>
                <a:latin typeface="Aptos"/>
                <a:ea typeface="Aptos"/>
                <a:cs typeface="Aptos"/>
              </a:defRPr>
            </a:pPr>
            <a:r>
              <a:rPr sz="1950" b="1">
                <a:solidFill>
                  <a:srgbClr val="19B8A5"/>
                </a:solidFill>
                <a:latin typeface="Aptos"/>
                <a:ea typeface="Aptos"/>
                <a:cs typeface="Aptos"/>
              </a:rPr>
              <a:t>Two modes, one AI engine</a:t>
            </a:r>
          </a:p>
        </p:txBody>
      </p:sp>
      <p:sp>
        <p:nvSpPr>
          <p:cNvPr id="5" name="">
            <a:extLst xmlns:a="http://schemas.openxmlformats.org/drawingml/2006/main">
              <a:ext uri="{FF2B5EF4-FFF2-40B4-BE49-F238E27FC236}">
                <a16:creationId xmlns:a16="http://schemas.microsoft.com/office/drawing/2014/main" id="{71EBAA0D-532F-4DCB-800D-FF258A671F96}"/>
              </a:ext>
            </a:extLst>
          </p:cNvPr>
          <p:cNvSpPr>
            <a:spLocks xmlns:a="http://schemas.openxmlformats.org/drawingml/2006/main" noGrp="1"/>
          </p:cNvSpPr>
          <p:nvPr/>
        </p:nvSpPr>
        <p:spPr>
          <a:xfrm xmlns:a="http://schemas.openxmlformats.org/drawingml/2006/main">
            <a:off x="533400" y="2381250"/>
            <a:ext cx="4762500" cy="1381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buNone/>
              <a:defRPr sz="3150" b="1">
                <a:solidFill>
                  <a:srgbClr val="10212E"/>
                </a:solidFill>
                <a:latin typeface="Aptos"/>
                <a:ea typeface="Aptos"/>
                <a:cs typeface="Aptos"/>
              </a:defRPr>
            </a:pPr>
            <a:r>
              <a:rPr sz="3150" b="1">
                <a:solidFill>
                  <a:srgbClr val="10212E"/>
                </a:solidFill>
                <a:latin typeface="Aptos"/>
                <a:ea typeface="Aptos"/>
                <a:cs typeface="Aptos"/>
              </a:rPr>
              <a:t>A natural interview from introduction to closing.</a:t>
            </a:r>
          </a:p>
        </p:txBody>
      </p:sp>
      <p:sp>
        <p:nvSpPr>
          <p:cNvPr id="6" name="">
            <a:extLst xmlns:a="http://schemas.openxmlformats.org/drawingml/2006/main">
              <a:ext uri="{FF2B5EF4-FFF2-40B4-BE49-F238E27FC236}">
                <a16:creationId xmlns:a16="http://schemas.microsoft.com/office/drawing/2014/main" id="{46B05042-C04C-45F0-9259-9EB247846F1A}"/>
              </a:ext>
            </a:extLst>
          </p:cNvPr>
          <p:cNvSpPr>
            <a:spLocks xmlns:a="http://schemas.openxmlformats.org/drawingml/2006/main" noGrp="1"/>
          </p:cNvSpPr>
          <p:nvPr/>
        </p:nvSpPr>
        <p:spPr>
          <a:xfrm xmlns:a="http://schemas.openxmlformats.org/drawingml/2006/main">
            <a:off x="533400" y="4095750"/>
            <a:ext cx="476250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buNone/>
              <a:defRPr sz="1650" b="0">
                <a:solidFill>
                  <a:srgbClr val="5D7080"/>
                </a:solidFill>
                <a:latin typeface="Aptos"/>
                <a:ea typeface="Aptos"/>
                <a:cs typeface="Aptos"/>
              </a:defRPr>
            </a:pPr>
            <a:r>
              <a:rPr sz="1650" b="0">
                <a:solidFill>
                  <a:srgbClr val="5D7080"/>
                </a:solidFill>
                <a:latin typeface="Aptos"/>
                <a:ea typeface="Aptos"/>
                <a:cs typeface="Aptos"/>
              </a:rPr>
              <a:t>Voice speaks the introduction with TTS; Text waits for Begin Interview. The timer starts only after the introduction.</a:t>
            </a:r>
          </a:p>
        </p:txBody>
      </p:sp>
      <p:cxnSp>
        <p:nvCxnSpPr>
          <p:cNvPr id="37" name=""/>
          <p:cNvCxnSpPr/>
          <p:nvPr/>
        </p:nvCxnSpPr>
        <p:spPr>
          <a:xfrm xmlns:a="http://schemas.openxmlformats.org/drawingml/2006/main">
            <a:off x="6191250" y="2095500"/>
            <a:ext cx="0" cy="3429000"/>
          </a:xfrm>
          <a:prstGeom xmlns:a="http://schemas.openxmlformats.org/drawingml/2006/main" prst="straightConnector1">
            <a:avLst/>
          </a:prstGeom>
          <a:ln xmlns:a="http://schemas.openxmlformats.org/drawingml/2006/main" w="19050">
            <a:solidFill>
              <a:srgbClr val="C9D9DC"/>
            </a:solidFill>
            <a:prstDash val="solid"/>
          </a:ln>
        </p:spPr>
      </p:cxnSp>
      <p:sp>
        <p:nvSpPr>
          <p:cNvPr id="8" name="">
            <a:extLst xmlns:a="http://schemas.openxmlformats.org/drawingml/2006/main">
              <a:ext uri="{FF2B5EF4-FFF2-40B4-BE49-F238E27FC236}">
                <a16:creationId xmlns:a16="http://schemas.microsoft.com/office/drawing/2014/main" id="{D3B24727-4608-467B-8723-DF01F7E642B2}"/>
              </a:ext>
            </a:extLst>
          </p:cNvPr>
          <p:cNvSpPr>
            <a:spLocks xmlns:a="http://schemas.openxmlformats.org/drawingml/2006/main" noGrp="1"/>
          </p:cNvSpPr>
          <p:nvPr/>
        </p:nvSpPr>
        <p:spPr>
          <a:xfrm xmlns:a="http://schemas.openxmlformats.org/drawingml/2006/main">
            <a:off x="6762750" y="1809750"/>
            <a:ext cx="4476750" cy="1095375"/>
          </a:xfrm>
          <a:prstGeom xmlns:a="http://schemas.openxmlformats.org/drawingml/2006/main" prst="roundRect">
            <a:avLst>
              <a:gd name="adj" fmla="val 10435"/>
            </a:avLst>
          </a:prstGeom>
          <a:solidFill xmlns:a="http://schemas.openxmlformats.org/drawingml/2006/main">
            <a:srgbClr val="DDF7F4"/>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13A04EBB-4811-4274-849B-F46C31265588}"/>
              </a:ext>
            </a:extLst>
          </p:cNvPr>
          <p:cNvSpPr>
            <a:spLocks xmlns:a="http://schemas.openxmlformats.org/drawingml/2006/main" noGrp="1"/>
          </p:cNvSpPr>
          <p:nvPr/>
        </p:nvSpPr>
        <p:spPr>
          <a:xfrm xmlns:a="http://schemas.openxmlformats.org/drawingml/2006/main">
            <a:off x="7067550" y="2000250"/>
            <a:ext cx="1714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85417"/>
          </a:bodyPr>
          <a:lstStyle xmlns:a="http://schemas.openxmlformats.org/drawingml/2006/main"/>
          <a:p xmlns:a="http://schemas.openxmlformats.org/drawingml/2006/main">
            <a:pPr algn="l">
              <a:buNone/>
              <a:defRPr sz="1200" b="1">
                <a:solidFill>
                  <a:srgbClr val="19B8A5"/>
                </a:solidFill>
                <a:latin typeface="Aptos"/>
                <a:ea typeface="Aptos"/>
                <a:cs typeface="Aptos"/>
              </a:defRPr>
            </a:pPr>
            <a:r>
              <a:rPr sz="1200" b="1">
                <a:solidFill>
                  <a:srgbClr val="19B8A5"/>
                </a:solidFill>
                <a:latin typeface="Aptos"/>
                <a:ea typeface="Aptos"/>
                <a:cs typeface="Aptos"/>
              </a:rPr>
              <a:t>VOICE MODE</a:t>
            </a:r>
          </a:p>
        </p:txBody>
      </p:sp>
      <p:sp>
        <p:nvSpPr>
          <p:cNvPr id="10" name="">
            <a:extLst xmlns:a="http://schemas.openxmlformats.org/drawingml/2006/main">
              <a:ext uri="{FF2B5EF4-FFF2-40B4-BE49-F238E27FC236}">
                <a16:creationId xmlns:a16="http://schemas.microsoft.com/office/drawing/2014/main" id="{5B2DA56A-E310-479E-9DC5-A0DAD2604BA5}"/>
              </a:ext>
            </a:extLst>
          </p:cNvPr>
          <p:cNvSpPr>
            <a:spLocks xmlns:a="http://schemas.openxmlformats.org/drawingml/2006/main" noGrp="1"/>
          </p:cNvSpPr>
          <p:nvPr/>
        </p:nvSpPr>
        <p:spPr>
          <a:xfrm xmlns:a="http://schemas.openxmlformats.org/drawingml/2006/main">
            <a:off x="7067550" y="2333625"/>
            <a:ext cx="3810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buNone/>
              <a:defRPr sz="1875" b="1">
                <a:solidFill>
                  <a:srgbClr val="10212E"/>
                </a:solidFill>
                <a:latin typeface="Aptos"/>
                <a:ea typeface="Aptos"/>
                <a:cs typeface="Aptos"/>
              </a:defRPr>
            </a:pPr>
            <a:r>
              <a:rPr sz="1875" b="1">
                <a:solidFill>
                  <a:srgbClr val="10212E"/>
                </a:solidFill>
                <a:latin typeface="Aptos"/>
                <a:ea typeface="Aptos"/>
                <a:cs typeface="Aptos"/>
              </a:rPr>
              <a:t>TTS intro · mic · Groq STT</a:t>
            </a:r>
          </a:p>
        </p:txBody>
      </p:sp>
      <p:sp>
        <p:nvSpPr>
          <p:cNvPr id="11" name="">
            <a:extLst xmlns:a="http://schemas.openxmlformats.org/drawingml/2006/main">
              <a:ext uri="{FF2B5EF4-FFF2-40B4-BE49-F238E27FC236}">
                <a16:creationId xmlns:a16="http://schemas.microsoft.com/office/drawing/2014/main" id="{DC604C5C-89C0-4A57-A2F8-1B64CDBD7278}"/>
              </a:ext>
            </a:extLst>
          </p:cNvPr>
          <p:cNvSpPr>
            <a:spLocks xmlns:a="http://schemas.openxmlformats.org/drawingml/2006/main" noGrp="1"/>
          </p:cNvSpPr>
          <p:nvPr/>
        </p:nvSpPr>
        <p:spPr>
          <a:xfrm xmlns:a="http://schemas.openxmlformats.org/drawingml/2006/main">
            <a:off x="6762750" y="3238500"/>
            <a:ext cx="4476750" cy="1095375"/>
          </a:xfrm>
          <a:prstGeom xmlns:a="http://schemas.openxmlformats.org/drawingml/2006/main" prst="roundRect">
            <a:avLst>
              <a:gd name="adj" fmla="val 10435"/>
            </a:avLst>
          </a:prstGeom>
          <a:solidFill xmlns:a="http://schemas.openxmlformats.org/drawingml/2006/main">
            <a:srgbClr val="102637"/>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34D787F9-3E8F-47DF-9CB8-4F5A217120E5}"/>
              </a:ext>
            </a:extLst>
          </p:cNvPr>
          <p:cNvSpPr>
            <a:spLocks xmlns:a="http://schemas.openxmlformats.org/drawingml/2006/main" noGrp="1"/>
          </p:cNvSpPr>
          <p:nvPr/>
        </p:nvSpPr>
        <p:spPr>
          <a:xfrm xmlns:a="http://schemas.openxmlformats.org/drawingml/2006/main">
            <a:off x="7067550" y="3429000"/>
            <a:ext cx="1714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85417"/>
          </a:bodyPr>
          <a:lstStyle xmlns:a="http://schemas.openxmlformats.org/drawingml/2006/main"/>
          <a:p xmlns:a="http://schemas.openxmlformats.org/drawingml/2006/main">
            <a:pPr algn="l">
              <a:buNone/>
              <a:defRPr sz="1200" b="1">
                <a:solidFill>
                  <a:srgbClr val="68D9D0"/>
                </a:solidFill>
                <a:latin typeface="Aptos"/>
                <a:ea typeface="Aptos"/>
                <a:cs typeface="Aptos"/>
              </a:defRPr>
            </a:pPr>
            <a:r>
              <a:rPr sz="1200" b="1">
                <a:solidFill>
                  <a:srgbClr val="68D9D0"/>
                </a:solidFill>
                <a:latin typeface="Aptos"/>
                <a:ea typeface="Aptos"/>
                <a:cs typeface="Aptos"/>
              </a:rPr>
              <a:t>TEXT MODE</a:t>
            </a:r>
          </a:p>
        </p:txBody>
      </p:sp>
      <p:sp>
        <p:nvSpPr>
          <p:cNvPr id="13" name="">
            <a:extLst xmlns:a="http://schemas.openxmlformats.org/drawingml/2006/main">
              <a:ext uri="{FF2B5EF4-FFF2-40B4-BE49-F238E27FC236}">
                <a16:creationId xmlns:a16="http://schemas.microsoft.com/office/drawing/2014/main" id="{BAE5AEDA-EDCD-4284-B1E6-16573E4932CD}"/>
              </a:ext>
            </a:extLst>
          </p:cNvPr>
          <p:cNvSpPr>
            <a:spLocks xmlns:a="http://schemas.openxmlformats.org/drawingml/2006/main" noGrp="1"/>
          </p:cNvSpPr>
          <p:nvPr/>
        </p:nvSpPr>
        <p:spPr>
          <a:xfrm xmlns:a="http://schemas.openxmlformats.org/drawingml/2006/main">
            <a:off x="7067550" y="3762375"/>
            <a:ext cx="3810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88950"/>
          </a:bodyPr>
          <a:lstStyle xmlns:a="http://schemas.openxmlformats.org/drawingml/2006/main"/>
          <a:p xmlns:a="http://schemas.openxmlformats.org/drawingml/2006/main">
            <a:pPr algn="l">
              <a:buNone/>
              <a:defRPr sz="1875" b="1">
                <a:solidFill>
                  <a:srgbClr val="FFFFFF"/>
                </a:solidFill>
                <a:latin typeface="Aptos"/>
                <a:ea typeface="Aptos"/>
                <a:cs typeface="Aptos"/>
              </a:defRPr>
            </a:pPr>
            <a:r>
              <a:rPr sz="1875" b="1">
                <a:solidFill>
                  <a:srgbClr val="FFFFFF"/>
                </a:solidFill>
                <a:latin typeface="Aptos"/>
                <a:ea typeface="Aptos"/>
                <a:cs typeface="Aptos"/>
              </a:rPr>
              <a:t>Intro · Begin Interview · typed answers</a:t>
            </a:r>
          </a:p>
        </p:txBody>
      </p:sp>
      <p:sp>
        <p:nvSpPr>
          <p:cNvPr id="14" name="">
            <a:extLst xmlns:a="http://schemas.openxmlformats.org/drawingml/2006/main">
              <a:ext uri="{FF2B5EF4-FFF2-40B4-BE49-F238E27FC236}">
                <a16:creationId xmlns:a16="http://schemas.microsoft.com/office/drawing/2014/main" id="{2AF2DD6C-9416-4645-987D-F797F1F5CDB9}"/>
              </a:ext>
            </a:extLst>
          </p:cNvPr>
          <p:cNvSpPr>
            <a:spLocks xmlns:a="http://schemas.openxmlformats.org/drawingml/2006/main" noGrp="1"/>
          </p:cNvSpPr>
          <p:nvPr/>
        </p:nvSpPr>
        <p:spPr>
          <a:xfrm xmlns:a="http://schemas.openxmlformats.org/drawingml/2006/main">
            <a:off x="6762750" y="4667250"/>
            <a:ext cx="4476750" cy="1095375"/>
          </a:xfrm>
          <a:prstGeom xmlns:a="http://schemas.openxmlformats.org/drawingml/2006/main" prst="roundRect">
            <a:avLst>
              <a:gd name="adj" fmla="val 10435"/>
            </a:avLst>
          </a:prstGeom>
          <a:solidFill xmlns:a="http://schemas.openxmlformats.org/drawingml/2006/main">
            <a:srgbClr val="DDF7F4"/>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53C9587F-FF86-44D3-947C-FBA71B15FA70}"/>
              </a:ext>
            </a:extLst>
          </p:cNvPr>
          <p:cNvSpPr>
            <a:spLocks xmlns:a="http://schemas.openxmlformats.org/drawingml/2006/main" noGrp="1"/>
          </p:cNvSpPr>
          <p:nvPr/>
        </p:nvSpPr>
        <p:spPr>
          <a:xfrm xmlns:a="http://schemas.openxmlformats.org/drawingml/2006/main">
            <a:off x="7067550" y="4857750"/>
            <a:ext cx="1714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85417"/>
          </a:bodyPr>
          <a:lstStyle xmlns:a="http://schemas.openxmlformats.org/drawingml/2006/main"/>
          <a:p xmlns:a="http://schemas.openxmlformats.org/drawingml/2006/main">
            <a:pPr algn="l">
              <a:buNone/>
              <a:defRPr sz="1200" b="1">
                <a:solidFill>
                  <a:srgbClr val="19B8A5"/>
                </a:solidFill>
                <a:latin typeface="Aptos"/>
                <a:ea typeface="Aptos"/>
                <a:cs typeface="Aptos"/>
              </a:defRPr>
            </a:pPr>
            <a:r>
              <a:rPr sz="1200" b="1">
                <a:solidFill>
                  <a:srgbClr val="19B8A5"/>
                </a:solidFill>
                <a:latin typeface="Aptos"/>
                <a:ea typeface="Aptos"/>
                <a:cs typeface="Aptos"/>
              </a:rPr>
              <a:t>SESSION RULE</a:t>
            </a:r>
          </a:p>
        </p:txBody>
      </p:sp>
      <p:sp>
        <p:nvSpPr>
          <p:cNvPr id="16" name="">
            <a:extLst xmlns:a="http://schemas.openxmlformats.org/drawingml/2006/main">
              <a:ext uri="{FF2B5EF4-FFF2-40B4-BE49-F238E27FC236}">
                <a16:creationId xmlns:a16="http://schemas.microsoft.com/office/drawing/2014/main" id="{960595C3-FD41-45D2-85F9-AE185E72B53C}"/>
              </a:ext>
            </a:extLst>
          </p:cNvPr>
          <p:cNvSpPr>
            <a:spLocks xmlns:a="http://schemas.openxmlformats.org/drawingml/2006/main" noGrp="1"/>
          </p:cNvSpPr>
          <p:nvPr/>
        </p:nvSpPr>
        <p:spPr>
          <a:xfrm xmlns:a="http://schemas.openxmlformats.org/drawingml/2006/main">
            <a:off x="7067550" y="5191125"/>
            <a:ext cx="3810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89290"/>
          </a:bodyPr>
          <a:lstStyle xmlns:a="http://schemas.openxmlformats.org/drawingml/2006/main"/>
          <a:p xmlns:a="http://schemas.openxmlformats.org/drawingml/2006/main">
            <a:pPr algn="l">
              <a:buNone/>
              <a:defRPr sz="1875" b="1">
                <a:solidFill>
                  <a:srgbClr val="10212E"/>
                </a:solidFill>
                <a:latin typeface="Aptos"/>
                <a:ea typeface="Aptos"/>
                <a:cs typeface="Aptos"/>
              </a:defRPr>
            </a:pPr>
            <a:r>
              <a:rPr sz="1875" b="1">
                <a:solidFill>
                  <a:srgbClr val="10212E"/>
                </a:solidFill>
                <a:latin typeface="Aptos"/>
                <a:ea typeface="Aptos"/>
                <a:cs typeface="Aptos"/>
              </a:rPr>
              <a:t>Mode locked · countdown · anti-cheat</a:t>
            </a:r>
          </a:p>
        </p:txBody>
      </p:sp>
    </p:spTree>
    <p:extLst>
      <p:ext uri="{BB962C8B-B14F-4D97-AF65-F5344CB8AC3E}">
        <p14:creationId xmlns:p14="http://schemas.microsoft.com/office/powerpoint/2010/main" val="300777323"/>
      </p:ext>
    </p:extLst>
  </p:cSld>
</p:sld>
</file>

<file path=ppt/slides/slide4.xml><?xml version="1.0" encoding="utf-8"?>
<p:sld xmlns:p="http://schemas.openxmlformats.org/presentationml/2006/main">
  <p:cSld>
    <p:bg>
      <p:bgPr>
        <a:solidFill xmlns:a="http://schemas.openxmlformats.org/drawingml/2006/main">
          <a:srgbClr val="F3F8F8"/>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FCA4746D-F071-4AC6-94C7-48E54EE9C03C}"/>
              </a:ext>
            </a:extLst>
          </p:cNvPr>
          <p:cNvSpPr>
            <a:spLocks xmlns:a="http://schemas.openxmlformats.org/drawingml/2006/main" noGrp="1"/>
          </p:cNvSpPr>
          <p:nvPr/>
        </p:nvSpPr>
        <p:spPr>
          <a:xfrm xmlns:a="http://schemas.openxmlformats.org/drawingml/2006/main">
            <a:off x="533400" y="333375"/>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buNone/>
              <a:defRPr sz="1200" b="1">
                <a:solidFill>
                  <a:srgbClr val="19B8A5"/>
                </a:solidFill>
                <a:latin typeface="Aptos"/>
                <a:ea typeface="Aptos"/>
                <a:cs typeface="Aptos"/>
              </a:defRPr>
            </a:pPr>
            <a:r>
              <a:rPr sz="1200" b="1">
                <a:solidFill>
                  <a:srgbClr val="19B8A5"/>
                </a:solidFill>
                <a:latin typeface="Aptos"/>
                <a:ea typeface="Aptos"/>
                <a:cs typeface="Aptos"/>
              </a:rPr>
              <a:t>PREPPILOT · TEAM PHANTOM</a:t>
            </a:r>
          </a:p>
        </p:txBody>
      </p:sp>
      <p:sp>
        <p:nvSpPr>
          <p:cNvPr id="2" name="">
            <a:extLst xmlns:a="http://schemas.openxmlformats.org/drawingml/2006/main">
              <a:ext uri="{FF2B5EF4-FFF2-40B4-BE49-F238E27FC236}">
                <a16:creationId xmlns:a16="http://schemas.microsoft.com/office/drawing/2014/main" id="{5729C88D-25BF-42F1-BF83-41D9358475D9}"/>
              </a:ext>
            </a:extLst>
          </p:cNvPr>
          <p:cNvSpPr>
            <a:spLocks xmlns:a="http://schemas.openxmlformats.org/drawingml/2006/main" noGrp="1"/>
          </p:cNvSpPr>
          <p:nvPr/>
        </p:nvSpPr>
        <p:spPr>
          <a:xfrm xmlns:a="http://schemas.openxmlformats.org/drawingml/2006/main">
            <a:off x="533400" y="72390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88634"/>
          </a:bodyPr>
          <a:lstStyle xmlns:a="http://schemas.openxmlformats.org/drawingml/2006/main"/>
          <a:p xmlns:a="http://schemas.openxmlformats.org/drawingml/2006/main">
            <a:pPr algn="l">
              <a:buNone/>
              <a:defRPr sz="3600" b="1">
                <a:solidFill>
                  <a:srgbClr val="10212E"/>
                </a:solidFill>
                <a:latin typeface="Aptos"/>
                <a:ea typeface="Aptos"/>
                <a:cs typeface="Aptos"/>
              </a:defRPr>
            </a:pPr>
            <a:r>
              <a:rPr sz="3600" b="1">
                <a:solidFill>
                  <a:srgbClr val="10212E"/>
                </a:solidFill>
                <a:latin typeface="Aptos"/>
                <a:ea typeface="Aptos"/>
                <a:cs typeface="Aptos"/>
              </a:rPr>
              <a:t>One session moves from profile to personalised roadmap</a:t>
            </a:r>
          </a:p>
        </p:txBody>
      </p:sp>
      <p:sp>
        <p:nvSpPr>
          <p:cNvPr id="3" name="">
            <a:extLst xmlns:a="http://schemas.openxmlformats.org/drawingml/2006/main">
              <a:ext uri="{FF2B5EF4-FFF2-40B4-BE49-F238E27FC236}">
                <a16:creationId xmlns:a16="http://schemas.microsoft.com/office/drawing/2014/main" id="{07F6E988-12B7-4957-BFB8-F6820A1062C9}"/>
              </a:ext>
            </a:extLst>
          </p:cNvPr>
          <p:cNvSpPr>
            <a:spLocks xmlns:a="http://schemas.openxmlformats.org/drawingml/2006/main" noGrp="1"/>
          </p:cNvSpPr>
          <p:nvPr/>
        </p:nvSpPr>
        <p:spPr>
          <a:xfrm xmlns:a="http://schemas.openxmlformats.org/drawingml/2006/main">
            <a:off x="11163300" y="381000"/>
            <a:ext cx="495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95833"/>
          </a:bodyPr>
          <a:lstStyle xmlns:a="http://schemas.openxmlformats.org/drawingml/2006/main"/>
          <a:p xmlns:a="http://schemas.openxmlformats.org/drawingml/2006/main">
            <a:pPr algn="r">
              <a:buNone/>
              <a:defRPr sz="1200" b="1">
                <a:solidFill>
                  <a:srgbClr val="5D7080"/>
                </a:solidFill>
                <a:latin typeface="Aptos"/>
                <a:ea typeface="Aptos"/>
                <a:cs typeface="Aptos"/>
              </a:defRPr>
            </a:pPr>
            <a:r>
              <a:rPr sz="1200" b="1">
                <a:solidFill>
                  <a:srgbClr val="5D7080"/>
                </a:solidFill>
                <a:latin typeface="Aptos"/>
                <a:ea typeface="Aptos"/>
                <a:cs typeface="Aptos"/>
              </a:rPr>
              <a:t>04</a:t>
            </a:r>
          </a:p>
        </p:txBody>
      </p:sp>
      <p:sp>
        <p:nvSpPr>
          <p:cNvPr id="4" name="">
            <a:extLst xmlns:a="http://schemas.openxmlformats.org/drawingml/2006/main">
              <a:ext uri="{FF2B5EF4-FFF2-40B4-BE49-F238E27FC236}">
                <a16:creationId xmlns:a16="http://schemas.microsoft.com/office/drawing/2014/main" id="{78CD3498-0272-4F71-9987-497E2A98570C}"/>
              </a:ext>
            </a:extLst>
          </p:cNvPr>
          <p:cNvSpPr>
            <a:spLocks xmlns:a="http://schemas.openxmlformats.org/drawingml/2006/main" noGrp="1"/>
          </p:cNvSpPr>
          <p:nvPr/>
        </p:nvSpPr>
        <p:spPr>
          <a:xfrm xmlns:a="http://schemas.openxmlformats.org/drawingml/2006/main">
            <a:off x="533400" y="1428750"/>
            <a:ext cx="800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buNone/>
              <a:defRPr sz="1800" b="0">
                <a:solidFill>
                  <a:srgbClr val="5D7080"/>
                </a:solidFill>
                <a:latin typeface="Aptos"/>
                <a:ea typeface="Aptos"/>
                <a:cs typeface="Aptos"/>
              </a:defRPr>
            </a:pPr>
            <a:r>
              <a:rPr sz="1800" b="0">
                <a:solidFill>
                  <a:srgbClr val="5D7080"/>
                </a:solidFill>
                <a:latin typeface="Aptos"/>
                <a:ea typeface="Aptos"/>
                <a:cs typeface="Aptos"/>
              </a:rPr>
              <a:t>The interview lifecycle is controlled, conversational and measurable.</a:t>
            </a:r>
          </a:p>
        </p:txBody>
      </p:sp>
      <p:cxnSp>
        <p:nvCxnSpPr>
          <p:cNvPr id="50" name=""/>
          <p:cNvCxnSpPr/>
          <p:nvPr/>
        </p:nvCxnSpPr>
        <p:spPr>
          <a:xfrm xmlns:a="http://schemas.openxmlformats.org/drawingml/2006/main">
            <a:off x="1695450" y="2914650"/>
            <a:ext cx="1790700" cy="0"/>
          </a:xfrm>
          <a:prstGeom xmlns:a="http://schemas.openxmlformats.org/drawingml/2006/main" prst="straightConnector1">
            <a:avLst/>
          </a:prstGeom>
          <a:ln xmlns:a="http://schemas.openxmlformats.org/drawingml/2006/main" w="47625">
            <a:solidFill>
              <a:srgbClr val="C9D9DC"/>
            </a:solidFill>
            <a:prstDash val="solid"/>
          </a:ln>
        </p:spPr>
      </p:cxnSp>
      <p:cxnSp>
        <p:nvCxnSpPr>
          <p:cNvPr id="51" name=""/>
          <p:cNvCxnSpPr/>
          <p:nvPr/>
        </p:nvCxnSpPr>
        <p:spPr>
          <a:xfrm xmlns:a="http://schemas.openxmlformats.org/drawingml/2006/main">
            <a:off x="3857625" y="2914650"/>
            <a:ext cx="1790700" cy="0"/>
          </a:xfrm>
          <a:prstGeom xmlns:a="http://schemas.openxmlformats.org/drawingml/2006/main" prst="straightConnector1">
            <a:avLst/>
          </a:prstGeom>
          <a:ln xmlns:a="http://schemas.openxmlformats.org/drawingml/2006/main" w="47625">
            <a:solidFill>
              <a:srgbClr val="C9D9DC"/>
            </a:solidFill>
            <a:prstDash val="solid"/>
          </a:ln>
        </p:spPr>
      </p:cxnSp>
      <p:cxnSp>
        <p:nvCxnSpPr>
          <p:cNvPr id="52" name=""/>
          <p:cNvCxnSpPr/>
          <p:nvPr/>
        </p:nvCxnSpPr>
        <p:spPr>
          <a:xfrm xmlns:a="http://schemas.openxmlformats.org/drawingml/2006/main">
            <a:off x="6019800" y="2914650"/>
            <a:ext cx="1790700" cy="0"/>
          </a:xfrm>
          <a:prstGeom xmlns:a="http://schemas.openxmlformats.org/drawingml/2006/main" prst="straightConnector1">
            <a:avLst/>
          </a:prstGeom>
          <a:ln xmlns:a="http://schemas.openxmlformats.org/drawingml/2006/main" w="47625">
            <a:solidFill>
              <a:srgbClr val="C9D9DC"/>
            </a:solidFill>
            <a:prstDash val="solid"/>
          </a:ln>
        </p:spPr>
      </p:cxnSp>
      <p:cxnSp>
        <p:nvCxnSpPr>
          <p:cNvPr id="53" name=""/>
          <p:cNvCxnSpPr/>
          <p:nvPr/>
        </p:nvCxnSpPr>
        <p:spPr>
          <a:xfrm xmlns:a="http://schemas.openxmlformats.org/drawingml/2006/main">
            <a:off x="8181975" y="2914650"/>
            <a:ext cx="1790700" cy="0"/>
          </a:xfrm>
          <a:prstGeom xmlns:a="http://schemas.openxmlformats.org/drawingml/2006/main" prst="straightConnector1">
            <a:avLst/>
          </a:prstGeom>
          <a:ln xmlns:a="http://schemas.openxmlformats.org/drawingml/2006/main" w="47625">
            <a:solidFill>
              <a:srgbClr val="C9D9DC"/>
            </a:solidFill>
            <a:prstDash val="solid"/>
          </a:ln>
        </p:spPr>
      </p:cxnSp>
      <p:sp>
        <p:nvSpPr>
          <p:cNvPr id="9" name="">
            <a:extLst xmlns:a="http://schemas.openxmlformats.org/drawingml/2006/main">
              <a:ext uri="{FF2B5EF4-FFF2-40B4-BE49-F238E27FC236}">
                <a16:creationId xmlns:a16="http://schemas.microsoft.com/office/drawing/2014/main" id="{ADC257D5-CE21-4FEF-9855-876711B6A44B}"/>
              </a:ext>
            </a:extLst>
          </p:cNvPr>
          <p:cNvSpPr>
            <a:spLocks xmlns:a="http://schemas.openxmlformats.org/drawingml/2006/main" noGrp="1"/>
          </p:cNvSpPr>
          <p:nvPr/>
        </p:nvSpPr>
        <p:spPr>
          <a:xfrm xmlns:a="http://schemas.openxmlformats.org/drawingml/2006/main">
            <a:off x="1047750" y="2590800"/>
            <a:ext cx="647700" cy="647700"/>
          </a:xfrm>
          <a:prstGeom xmlns:a="http://schemas.openxmlformats.org/drawingml/2006/main" prst="ellipse">
            <a:avLst/>
          </a:prstGeom>
          <a:solidFill xmlns:a="http://schemas.openxmlformats.org/drawingml/2006/main">
            <a:srgbClr val="19B8A5"/>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32748050-F345-4FC7-A1A8-18F8B5DEF40D}"/>
              </a:ext>
            </a:extLst>
          </p:cNvPr>
          <p:cNvSpPr>
            <a:spLocks xmlns:a="http://schemas.openxmlformats.org/drawingml/2006/main" noGrp="1"/>
          </p:cNvSpPr>
          <p:nvPr/>
        </p:nvSpPr>
        <p:spPr>
          <a:xfrm xmlns:a="http://schemas.openxmlformats.org/drawingml/2006/main">
            <a:off x="1047750" y="2733675"/>
            <a:ext cx="6477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normAutofit fontScale="88000"/>
          </a:bodyPr>
          <a:lstStyle xmlns:a="http://schemas.openxmlformats.org/drawingml/2006/main"/>
          <a:p xmlns:a="http://schemas.openxmlformats.org/drawingml/2006/main">
            <a:pPr algn="ctr">
              <a:buNone/>
              <a:defRPr sz="1875" b="1">
                <a:solidFill>
                  <a:srgbClr val="FFFFFF"/>
                </a:solidFill>
                <a:latin typeface="Aptos"/>
                <a:ea typeface="Aptos"/>
                <a:cs typeface="Aptos"/>
              </a:defRPr>
            </a:pPr>
            <a:r>
              <a:rPr sz="1875" b="1">
                <a:solidFill>
                  <a:srgbClr val="FFFFFF"/>
                </a:solidFill>
                <a:latin typeface="Aptos"/>
                <a:ea typeface="Aptos"/>
                <a:cs typeface="Aptos"/>
              </a:rPr>
              <a:t>1</a:t>
            </a:r>
          </a:p>
        </p:txBody>
      </p:sp>
      <p:sp>
        <p:nvSpPr>
          <p:cNvPr id="11" name="">
            <a:extLst xmlns:a="http://schemas.openxmlformats.org/drawingml/2006/main">
              <a:ext uri="{FF2B5EF4-FFF2-40B4-BE49-F238E27FC236}">
                <a16:creationId xmlns:a16="http://schemas.microsoft.com/office/drawing/2014/main" id="{7AF30528-3B6D-462F-827D-E0E99A1A5DDA}"/>
              </a:ext>
            </a:extLst>
          </p:cNvPr>
          <p:cNvSpPr>
            <a:spLocks xmlns:a="http://schemas.openxmlformats.org/drawingml/2006/main" noGrp="1"/>
          </p:cNvSpPr>
          <p:nvPr/>
        </p:nvSpPr>
        <p:spPr>
          <a:xfrm xmlns:a="http://schemas.openxmlformats.org/drawingml/2006/main">
            <a:off x="523875" y="3524250"/>
            <a:ext cx="16954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ctr">
              <a:buNone/>
              <a:defRPr sz="1875" b="1">
                <a:solidFill>
                  <a:srgbClr val="10212E"/>
                </a:solidFill>
                <a:latin typeface="Aptos"/>
                <a:ea typeface="Aptos"/>
                <a:cs typeface="Aptos"/>
              </a:defRPr>
            </a:pPr>
            <a:r>
              <a:rPr sz="1875" b="1">
                <a:solidFill>
                  <a:srgbClr val="10212E"/>
                </a:solidFill>
                <a:latin typeface="Aptos"/>
                <a:ea typeface="Aptos"/>
                <a:cs typeface="Aptos"/>
              </a:rPr>
              <a:t>Profile</a:t>
            </a:r>
          </a:p>
        </p:txBody>
      </p:sp>
      <p:sp>
        <p:nvSpPr>
          <p:cNvPr id="12" name="">
            <a:extLst xmlns:a="http://schemas.openxmlformats.org/drawingml/2006/main">
              <a:ext uri="{FF2B5EF4-FFF2-40B4-BE49-F238E27FC236}">
                <a16:creationId xmlns:a16="http://schemas.microsoft.com/office/drawing/2014/main" id="{00E2B241-45E1-40C1-BDC7-710F7517E744}"/>
              </a:ext>
            </a:extLst>
          </p:cNvPr>
          <p:cNvSpPr>
            <a:spLocks xmlns:a="http://schemas.openxmlformats.org/drawingml/2006/main" noGrp="1"/>
          </p:cNvSpPr>
          <p:nvPr/>
        </p:nvSpPr>
        <p:spPr>
          <a:xfrm xmlns:a="http://schemas.openxmlformats.org/drawingml/2006/main">
            <a:off x="523875" y="4000500"/>
            <a:ext cx="16954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85745"/>
          </a:bodyPr>
          <a:lstStyle xmlns:a="http://schemas.openxmlformats.org/drawingml/2006/main"/>
          <a:p xmlns:a="http://schemas.openxmlformats.org/drawingml/2006/main">
            <a:pPr algn="ctr">
              <a:buNone/>
              <a:defRPr sz="1425" b="0">
                <a:solidFill>
                  <a:srgbClr val="5D7080"/>
                </a:solidFill>
                <a:latin typeface="Aptos"/>
                <a:ea typeface="Aptos"/>
                <a:cs typeface="Aptos"/>
              </a:defRPr>
            </a:pPr>
            <a:r>
              <a:rPr sz="1425" b="0">
                <a:solidFill>
                  <a:srgbClr val="5D7080"/>
                </a:solidFill>
                <a:latin typeface="Aptos"/>
                <a:ea typeface="Aptos"/>
                <a:cs typeface="Aptos"/>
              </a:rPr>
              <a:t>Resume PDF becomes an editable profile of skills, projects and experience.</a:t>
            </a:r>
          </a:p>
        </p:txBody>
      </p:sp>
      <p:sp>
        <p:nvSpPr>
          <p:cNvPr id="13" name="">
            <a:extLst xmlns:a="http://schemas.openxmlformats.org/drawingml/2006/main">
              <a:ext uri="{FF2B5EF4-FFF2-40B4-BE49-F238E27FC236}">
                <a16:creationId xmlns:a16="http://schemas.microsoft.com/office/drawing/2014/main" id="{444DD332-3C0D-4B8C-8FB4-56C51B28C658}"/>
              </a:ext>
            </a:extLst>
          </p:cNvPr>
          <p:cNvSpPr>
            <a:spLocks xmlns:a="http://schemas.openxmlformats.org/drawingml/2006/main" noGrp="1"/>
          </p:cNvSpPr>
          <p:nvPr/>
        </p:nvSpPr>
        <p:spPr>
          <a:xfrm xmlns:a="http://schemas.openxmlformats.org/drawingml/2006/main">
            <a:off x="3209925" y="2590800"/>
            <a:ext cx="647700" cy="647700"/>
          </a:xfrm>
          <a:prstGeom xmlns:a="http://schemas.openxmlformats.org/drawingml/2006/main" prst="ellipse">
            <a:avLst/>
          </a:prstGeom>
          <a:solidFill xmlns:a="http://schemas.openxmlformats.org/drawingml/2006/main">
            <a:srgbClr val="19B8A5"/>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8548411A-999F-4FB9-9697-1C3923FCC93D}"/>
              </a:ext>
            </a:extLst>
          </p:cNvPr>
          <p:cNvSpPr>
            <a:spLocks xmlns:a="http://schemas.openxmlformats.org/drawingml/2006/main" noGrp="1"/>
          </p:cNvSpPr>
          <p:nvPr/>
        </p:nvSpPr>
        <p:spPr>
          <a:xfrm xmlns:a="http://schemas.openxmlformats.org/drawingml/2006/main">
            <a:off x="3209925" y="2733675"/>
            <a:ext cx="6477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normAutofit fontScale="88000"/>
          </a:bodyPr>
          <a:lstStyle xmlns:a="http://schemas.openxmlformats.org/drawingml/2006/main"/>
          <a:p xmlns:a="http://schemas.openxmlformats.org/drawingml/2006/main">
            <a:pPr algn="ctr">
              <a:buNone/>
              <a:defRPr sz="1875" b="1">
                <a:solidFill>
                  <a:srgbClr val="FFFFFF"/>
                </a:solidFill>
                <a:latin typeface="Aptos"/>
                <a:ea typeface="Aptos"/>
                <a:cs typeface="Aptos"/>
              </a:defRPr>
            </a:pPr>
            <a:r>
              <a:rPr sz="1875" b="1">
                <a:solidFill>
                  <a:srgbClr val="FFFFFF"/>
                </a:solidFill>
                <a:latin typeface="Aptos"/>
                <a:ea typeface="Aptos"/>
                <a:cs typeface="Aptos"/>
              </a:rPr>
              <a:t>2</a:t>
            </a:r>
          </a:p>
        </p:txBody>
      </p:sp>
      <p:sp>
        <p:nvSpPr>
          <p:cNvPr id="15" name="">
            <a:extLst xmlns:a="http://schemas.openxmlformats.org/drawingml/2006/main">
              <a:ext uri="{FF2B5EF4-FFF2-40B4-BE49-F238E27FC236}">
                <a16:creationId xmlns:a16="http://schemas.microsoft.com/office/drawing/2014/main" id="{BB1B3451-F261-4F2D-ADC4-C2AD6AB0D48A}"/>
              </a:ext>
            </a:extLst>
          </p:cNvPr>
          <p:cNvSpPr>
            <a:spLocks xmlns:a="http://schemas.openxmlformats.org/drawingml/2006/main" noGrp="1"/>
          </p:cNvSpPr>
          <p:nvPr/>
        </p:nvSpPr>
        <p:spPr>
          <a:xfrm xmlns:a="http://schemas.openxmlformats.org/drawingml/2006/main">
            <a:off x="2686050" y="3524250"/>
            <a:ext cx="16954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ctr">
              <a:buNone/>
              <a:defRPr sz="1875" b="1">
                <a:solidFill>
                  <a:srgbClr val="10212E"/>
                </a:solidFill>
                <a:latin typeface="Aptos"/>
                <a:ea typeface="Aptos"/>
                <a:cs typeface="Aptos"/>
              </a:defRPr>
            </a:pPr>
            <a:r>
              <a:rPr sz="1875" b="1">
                <a:solidFill>
                  <a:srgbClr val="10212E"/>
                </a:solidFill>
                <a:latin typeface="Aptos"/>
                <a:ea typeface="Aptos"/>
                <a:cs typeface="Aptos"/>
              </a:rPr>
              <a:t>Configure</a:t>
            </a:r>
          </a:p>
        </p:txBody>
      </p:sp>
      <p:sp>
        <p:nvSpPr>
          <p:cNvPr id="16" name="">
            <a:extLst xmlns:a="http://schemas.openxmlformats.org/drawingml/2006/main">
              <a:ext uri="{FF2B5EF4-FFF2-40B4-BE49-F238E27FC236}">
                <a16:creationId xmlns:a16="http://schemas.microsoft.com/office/drawing/2014/main" id="{EDAAF380-E127-4AA1-975D-80E68E33BF3F}"/>
              </a:ext>
            </a:extLst>
          </p:cNvPr>
          <p:cNvSpPr>
            <a:spLocks xmlns:a="http://schemas.openxmlformats.org/drawingml/2006/main" noGrp="1"/>
          </p:cNvSpPr>
          <p:nvPr/>
        </p:nvSpPr>
        <p:spPr>
          <a:xfrm xmlns:a="http://schemas.openxmlformats.org/drawingml/2006/main">
            <a:off x="2686050" y="4000500"/>
            <a:ext cx="16954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99123"/>
          </a:bodyPr>
          <a:lstStyle xmlns:a="http://schemas.openxmlformats.org/drawingml/2006/main"/>
          <a:p xmlns:a="http://schemas.openxmlformats.org/drawingml/2006/main">
            <a:pPr algn="ctr">
              <a:buNone/>
              <a:defRPr sz="1425" b="0">
                <a:solidFill>
                  <a:srgbClr val="5D7080"/>
                </a:solidFill>
                <a:latin typeface="Aptos"/>
                <a:ea typeface="Aptos"/>
                <a:cs typeface="Aptos"/>
              </a:defRPr>
            </a:pPr>
            <a:r>
              <a:rPr sz="1425" b="0">
                <a:solidFill>
                  <a:srgbClr val="5D7080"/>
                </a:solidFill>
                <a:latin typeface="Aptos"/>
                <a:ea typeface="Aptos"/>
                <a:cs typeface="Aptos"/>
              </a:rPr>
              <a:t>Role, level, type, duration, JD and mode are reviewed before launch.</a:t>
            </a:r>
          </a:p>
        </p:txBody>
      </p:sp>
      <p:sp>
        <p:nvSpPr>
          <p:cNvPr id="17" name="">
            <a:extLst xmlns:a="http://schemas.openxmlformats.org/drawingml/2006/main">
              <a:ext uri="{FF2B5EF4-FFF2-40B4-BE49-F238E27FC236}">
                <a16:creationId xmlns:a16="http://schemas.microsoft.com/office/drawing/2014/main" id="{AF237E93-1EBD-49A6-8F74-87BAF62792C4}"/>
              </a:ext>
            </a:extLst>
          </p:cNvPr>
          <p:cNvSpPr>
            <a:spLocks xmlns:a="http://schemas.openxmlformats.org/drawingml/2006/main" noGrp="1"/>
          </p:cNvSpPr>
          <p:nvPr/>
        </p:nvSpPr>
        <p:spPr>
          <a:xfrm xmlns:a="http://schemas.openxmlformats.org/drawingml/2006/main">
            <a:off x="5372100" y="2590800"/>
            <a:ext cx="647700" cy="647700"/>
          </a:xfrm>
          <a:prstGeom xmlns:a="http://schemas.openxmlformats.org/drawingml/2006/main" prst="ellipse">
            <a:avLst/>
          </a:prstGeom>
          <a:solidFill xmlns:a="http://schemas.openxmlformats.org/drawingml/2006/main">
            <a:srgbClr val="19B8A5"/>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B0EB915B-F9CC-4E68-8B49-E35140DA27CE}"/>
              </a:ext>
            </a:extLst>
          </p:cNvPr>
          <p:cNvSpPr>
            <a:spLocks xmlns:a="http://schemas.openxmlformats.org/drawingml/2006/main" noGrp="1"/>
          </p:cNvSpPr>
          <p:nvPr/>
        </p:nvSpPr>
        <p:spPr>
          <a:xfrm xmlns:a="http://schemas.openxmlformats.org/drawingml/2006/main">
            <a:off x="5372100" y="2733675"/>
            <a:ext cx="6477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normAutofit fontScale="88000"/>
          </a:bodyPr>
          <a:lstStyle xmlns:a="http://schemas.openxmlformats.org/drawingml/2006/main"/>
          <a:p xmlns:a="http://schemas.openxmlformats.org/drawingml/2006/main">
            <a:pPr algn="ctr">
              <a:buNone/>
              <a:defRPr sz="1875" b="1">
                <a:solidFill>
                  <a:srgbClr val="FFFFFF"/>
                </a:solidFill>
                <a:latin typeface="Aptos"/>
                <a:ea typeface="Aptos"/>
                <a:cs typeface="Aptos"/>
              </a:defRPr>
            </a:pPr>
            <a:r>
              <a:rPr sz="1875" b="1">
                <a:solidFill>
                  <a:srgbClr val="FFFFFF"/>
                </a:solidFill>
                <a:latin typeface="Aptos"/>
                <a:ea typeface="Aptos"/>
                <a:cs typeface="Aptos"/>
              </a:rPr>
              <a:t>3</a:t>
            </a:r>
          </a:p>
        </p:txBody>
      </p:sp>
      <p:sp>
        <p:nvSpPr>
          <p:cNvPr id="19" name="">
            <a:extLst xmlns:a="http://schemas.openxmlformats.org/drawingml/2006/main">
              <a:ext uri="{FF2B5EF4-FFF2-40B4-BE49-F238E27FC236}">
                <a16:creationId xmlns:a16="http://schemas.microsoft.com/office/drawing/2014/main" id="{FE0E082B-7932-4AB2-BDCB-BFEC1DB392FB}"/>
              </a:ext>
            </a:extLst>
          </p:cNvPr>
          <p:cNvSpPr>
            <a:spLocks xmlns:a="http://schemas.openxmlformats.org/drawingml/2006/main" noGrp="1"/>
          </p:cNvSpPr>
          <p:nvPr/>
        </p:nvSpPr>
        <p:spPr>
          <a:xfrm xmlns:a="http://schemas.openxmlformats.org/drawingml/2006/main">
            <a:off x="4848225" y="3524250"/>
            <a:ext cx="16954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ctr">
              <a:buNone/>
              <a:defRPr sz="1875" b="1">
                <a:solidFill>
                  <a:srgbClr val="10212E"/>
                </a:solidFill>
                <a:latin typeface="Aptos"/>
                <a:ea typeface="Aptos"/>
                <a:cs typeface="Aptos"/>
              </a:defRPr>
            </a:pPr>
            <a:r>
              <a:rPr sz="1875" b="1">
                <a:solidFill>
                  <a:srgbClr val="10212E"/>
                </a:solidFill>
                <a:latin typeface="Aptos"/>
                <a:ea typeface="Aptos"/>
                <a:cs typeface="Aptos"/>
              </a:rPr>
              <a:t>Introduce</a:t>
            </a:r>
          </a:p>
        </p:txBody>
      </p:sp>
      <p:sp>
        <p:nvSpPr>
          <p:cNvPr id="20" name="">
            <a:extLst xmlns:a="http://schemas.openxmlformats.org/drawingml/2006/main">
              <a:ext uri="{FF2B5EF4-FFF2-40B4-BE49-F238E27FC236}">
                <a16:creationId xmlns:a16="http://schemas.microsoft.com/office/drawing/2014/main" id="{913B9095-AA9E-4D68-8FB8-3B46C6FC082C}"/>
              </a:ext>
            </a:extLst>
          </p:cNvPr>
          <p:cNvSpPr>
            <a:spLocks xmlns:a="http://schemas.openxmlformats.org/drawingml/2006/main" noGrp="1"/>
          </p:cNvSpPr>
          <p:nvPr/>
        </p:nvSpPr>
        <p:spPr>
          <a:xfrm xmlns:a="http://schemas.openxmlformats.org/drawingml/2006/main">
            <a:off x="4848225" y="4000500"/>
            <a:ext cx="16954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99123"/>
          </a:bodyPr>
          <a:lstStyle xmlns:a="http://schemas.openxmlformats.org/drawingml/2006/main"/>
          <a:p xmlns:a="http://schemas.openxmlformats.org/drawingml/2006/main">
            <a:pPr algn="ctr">
              <a:buNone/>
              <a:defRPr sz="1425" b="0">
                <a:solidFill>
                  <a:srgbClr val="5D7080"/>
                </a:solidFill>
                <a:latin typeface="Aptos"/>
                <a:ea typeface="Aptos"/>
                <a:cs typeface="Aptos"/>
              </a:defRPr>
            </a:pPr>
            <a:r>
              <a:rPr sz="1425" b="0">
                <a:solidFill>
                  <a:srgbClr val="5D7080"/>
                </a:solidFill>
                <a:latin typeface="Aptos"/>
                <a:ea typeface="Aptos"/>
                <a:cs typeface="Aptos"/>
              </a:rPr>
              <a:t>Greeting explains role, focus and follow-ups; then the timer begins.</a:t>
            </a:r>
          </a:p>
        </p:txBody>
      </p:sp>
      <p:sp>
        <p:nvSpPr>
          <p:cNvPr id="21" name="">
            <a:extLst xmlns:a="http://schemas.openxmlformats.org/drawingml/2006/main">
              <a:ext uri="{FF2B5EF4-FFF2-40B4-BE49-F238E27FC236}">
                <a16:creationId xmlns:a16="http://schemas.microsoft.com/office/drawing/2014/main" id="{FD6B923F-C391-4F8D-95D3-EAE5945C4FAD}"/>
              </a:ext>
            </a:extLst>
          </p:cNvPr>
          <p:cNvSpPr>
            <a:spLocks xmlns:a="http://schemas.openxmlformats.org/drawingml/2006/main" noGrp="1"/>
          </p:cNvSpPr>
          <p:nvPr/>
        </p:nvSpPr>
        <p:spPr>
          <a:xfrm xmlns:a="http://schemas.openxmlformats.org/drawingml/2006/main">
            <a:off x="7534275" y="2590800"/>
            <a:ext cx="647700" cy="647700"/>
          </a:xfrm>
          <a:prstGeom xmlns:a="http://schemas.openxmlformats.org/drawingml/2006/main" prst="ellipse">
            <a:avLst/>
          </a:prstGeom>
          <a:solidFill xmlns:a="http://schemas.openxmlformats.org/drawingml/2006/main">
            <a:srgbClr val="19B8A5"/>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A48C6A53-0AD8-49AB-84EC-FDC03C3F55C9}"/>
              </a:ext>
            </a:extLst>
          </p:cNvPr>
          <p:cNvSpPr>
            <a:spLocks xmlns:a="http://schemas.openxmlformats.org/drawingml/2006/main" noGrp="1"/>
          </p:cNvSpPr>
          <p:nvPr/>
        </p:nvSpPr>
        <p:spPr>
          <a:xfrm xmlns:a="http://schemas.openxmlformats.org/drawingml/2006/main">
            <a:off x="7534275" y="2733675"/>
            <a:ext cx="6477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normAutofit fontScale="88000"/>
          </a:bodyPr>
          <a:lstStyle xmlns:a="http://schemas.openxmlformats.org/drawingml/2006/main"/>
          <a:p xmlns:a="http://schemas.openxmlformats.org/drawingml/2006/main">
            <a:pPr algn="ctr">
              <a:buNone/>
              <a:defRPr sz="1875" b="1">
                <a:solidFill>
                  <a:srgbClr val="FFFFFF"/>
                </a:solidFill>
                <a:latin typeface="Aptos"/>
                <a:ea typeface="Aptos"/>
                <a:cs typeface="Aptos"/>
              </a:defRPr>
            </a:pPr>
            <a:r>
              <a:rPr sz="1875" b="1">
                <a:solidFill>
                  <a:srgbClr val="FFFFFF"/>
                </a:solidFill>
                <a:latin typeface="Aptos"/>
                <a:ea typeface="Aptos"/>
                <a:cs typeface="Aptos"/>
              </a:rPr>
              <a:t>4</a:t>
            </a:r>
          </a:p>
        </p:txBody>
      </p:sp>
      <p:sp>
        <p:nvSpPr>
          <p:cNvPr id="23" name="">
            <a:extLst xmlns:a="http://schemas.openxmlformats.org/drawingml/2006/main">
              <a:ext uri="{FF2B5EF4-FFF2-40B4-BE49-F238E27FC236}">
                <a16:creationId xmlns:a16="http://schemas.microsoft.com/office/drawing/2014/main" id="{1884146F-D6C3-49D7-BBA2-B9E1EC6B2DCB}"/>
              </a:ext>
            </a:extLst>
          </p:cNvPr>
          <p:cNvSpPr>
            <a:spLocks xmlns:a="http://schemas.openxmlformats.org/drawingml/2006/main" noGrp="1"/>
          </p:cNvSpPr>
          <p:nvPr/>
        </p:nvSpPr>
        <p:spPr>
          <a:xfrm xmlns:a="http://schemas.openxmlformats.org/drawingml/2006/main">
            <a:off x="7010400" y="3524250"/>
            <a:ext cx="16954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ctr">
              <a:buNone/>
              <a:defRPr sz="1875" b="1">
                <a:solidFill>
                  <a:srgbClr val="10212E"/>
                </a:solidFill>
                <a:latin typeface="Aptos"/>
                <a:ea typeface="Aptos"/>
                <a:cs typeface="Aptos"/>
              </a:defRPr>
            </a:pPr>
            <a:r>
              <a:rPr sz="1875" b="1">
                <a:solidFill>
                  <a:srgbClr val="10212E"/>
                </a:solidFill>
                <a:latin typeface="Aptos"/>
                <a:ea typeface="Aptos"/>
                <a:cs typeface="Aptos"/>
              </a:rPr>
              <a:t>Adapt</a:t>
            </a:r>
          </a:p>
        </p:txBody>
      </p:sp>
      <p:sp>
        <p:nvSpPr>
          <p:cNvPr id="24" name="">
            <a:extLst xmlns:a="http://schemas.openxmlformats.org/drawingml/2006/main">
              <a:ext uri="{FF2B5EF4-FFF2-40B4-BE49-F238E27FC236}">
                <a16:creationId xmlns:a16="http://schemas.microsoft.com/office/drawing/2014/main" id="{78B65854-EE9D-4FAE-A1D4-88429D3C36E5}"/>
              </a:ext>
            </a:extLst>
          </p:cNvPr>
          <p:cNvSpPr>
            <a:spLocks xmlns:a="http://schemas.openxmlformats.org/drawingml/2006/main" noGrp="1"/>
          </p:cNvSpPr>
          <p:nvPr/>
        </p:nvSpPr>
        <p:spPr>
          <a:xfrm xmlns:a="http://schemas.openxmlformats.org/drawingml/2006/main">
            <a:off x="7010400" y="4000500"/>
            <a:ext cx="16954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99123"/>
          </a:bodyPr>
          <a:lstStyle xmlns:a="http://schemas.openxmlformats.org/drawingml/2006/main"/>
          <a:p xmlns:a="http://schemas.openxmlformats.org/drawingml/2006/main">
            <a:pPr algn="ctr">
              <a:buNone/>
              <a:defRPr sz="1425" b="0">
                <a:solidFill>
                  <a:srgbClr val="5D7080"/>
                </a:solidFill>
                <a:latin typeface="Aptos"/>
                <a:ea typeface="Aptos"/>
                <a:cs typeface="Aptos"/>
              </a:defRPr>
            </a:pPr>
            <a:r>
              <a:rPr sz="1425" b="0">
                <a:solidFill>
                  <a:srgbClr val="5D7080"/>
                </a:solidFill>
                <a:latin typeface="Aptos"/>
                <a:ea typeface="Aptos"/>
                <a:cs typeface="Aptos"/>
              </a:rPr>
              <a:t>Acknowledgement + transition + question responds to every answer.</a:t>
            </a:r>
          </a:p>
        </p:txBody>
      </p:sp>
      <p:sp>
        <p:nvSpPr>
          <p:cNvPr id="25" name="">
            <a:extLst xmlns:a="http://schemas.openxmlformats.org/drawingml/2006/main">
              <a:ext uri="{FF2B5EF4-FFF2-40B4-BE49-F238E27FC236}">
                <a16:creationId xmlns:a16="http://schemas.microsoft.com/office/drawing/2014/main" id="{CB645FB8-9360-4BB4-876F-02888B890128}"/>
              </a:ext>
            </a:extLst>
          </p:cNvPr>
          <p:cNvSpPr>
            <a:spLocks xmlns:a="http://schemas.openxmlformats.org/drawingml/2006/main" noGrp="1"/>
          </p:cNvSpPr>
          <p:nvPr/>
        </p:nvSpPr>
        <p:spPr>
          <a:xfrm xmlns:a="http://schemas.openxmlformats.org/drawingml/2006/main">
            <a:off x="9696450" y="2590800"/>
            <a:ext cx="647700" cy="647700"/>
          </a:xfrm>
          <a:prstGeom xmlns:a="http://schemas.openxmlformats.org/drawingml/2006/main" prst="ellipse">
            <a:avLst/>
          </a:prstGeom>
          <a:solidFill xmlns:a="http://schemas.openxmlformats.org/drawingml/2006/main">
            <a:srgbClr val="19B8A5"/>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95897104-C3DF-4EF1-9035-D70B53913A6C}"/>
              </a:ext>
            </a:extLst>
          </p:cNvPr>
          <p:cNvSpPr>
            <a:spLocks xmlns:a="http://schemas.openxmlformats.org/drawingml/2006/main" noGrp="1"/>
          </p:cNvSpPr>
          <p:nvPr/>
        </p:nvSpPr>
        <p:spPr>
          <a:xfrm xmlns:a="http://schemas.openxmlformats.org/drawingml/2006/main">
            <a:off x="9696450" y="2733675"/>
            <a:ext cx="6477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normAutofit fontScale="88000"/>
          </a:bodyPr>
          <a:lstStyle xmlns:a="http://schemas.openxmlformats.org/drawingml/2006/main"/>
          <a:p xmlns:a="http://schemas.openxmlformats.org/drawingml/2006/main">
            <a:pPr algn="ctr">
              <a:buNone/>
              <a:defRPr sz="1875" b="1">
                <a:solidFill>
                  <a:srgbClr val="FFFFFF"/>
                </a:solidFill>
                <a:latin typeface="Aptos"/>
                <a:ea typeface="Aptos"/>
                <a:cs typeface="Aptos"/>
              </a:defRPr>
            </a:pPr>
            <a:r>
              <a:rPr sz="1875" b="1">
                <a:solidFill>
                  <a:srgbClr val="FFFFFF"/>
                </a:solidFill>
                <a:latin typeface="Aptos"/>
                <a:ea typeface="Aptos"/>
                <a:cs typeface="Aptos"/>
              </a:rPr>
              <a:t>5</a:t>
            </a:r>
          </a:p>
        </p:txBody>
      </p:sp>
      <p:sp>
        <p:nvSpPr>
          <p:cNvPr id="27" name="">
            <a:extLst xmlns:a="http://schemas.openxmlformats.org/drawingml/2006/main">
              <a:ext uri="{FF2B5EF4-FFF2-40B4-BE49-F238E27FC236}">
                <a16:creationId xmlns:a16="http://schemas.microsoft.com/office/drawing/2014/main" id="{F65F7A55-2225-4B1B-B6FB-1103F48DC705}"/>
              </a:ext>
            </a:extLst>
          </p:cNvPr>
          <p:cNvSpPr>
            <a:spLocks xmlns:a="http://schemas.openxmlformats.org/drawingml/2006/main" noGrp="1"/>
          </p:cNvSpPr>
          <p:nvPr/>
        </p:nvSpPr>
        <p:spPr>
          <a:xfrm xmlns:a="http://schemas.openxmlformats.org/drawingml/2006/main">
            <a:off x="9172575" y="3524250"/>
            <a:ext cx="16954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ctr">
              <a:buNone/>
              <a:defRPr sz="1875" b="1">
                <a:solidFill>
                  <a:srgbClr val="10212E"/>
                </a:solidFill>
                <a:latin typeface="Aptos"/>
                <a:ea typeface="Aptos"/>
                <a:cs typeface="Aptos"/>
              </a:defRPr>
            </a:pPr>
            <a:r>
              <a:rPr sz="1875" b="1">
                <a:solidFill>
                  <a:srgbClr val="10212E"/>
                </a:solidFill>
                <a:latin typeface="Aptos"/>
                <a:ea typeface="Aptos"/>
                <a:cs typeface="Aptos"/>
              </a:rPr>
              <a:t>Improve</a:t>
            </a:r>
          </a:p>
        </p:txBody>
      </p:sp>
      <p:sp>
        <p:nvSpPr>
          <p:cNvPr id="28" name="">
            <a:extLst xmlns:a="http://schemas.openxmlformats.org/drawingml/2006/main">
              <a:ext uri="{FF2B5EF4-FFF2-40B4-BE49-F238E27FC236}">
                <a16:creationId xmlns:a16="http://schemas.microsoft.com/office/drawing/2014/main" id="{931469C7-8D7A-435B-8831-7BD19D181B44}"/>
              </a:ext>
            </a:extLst>
          </p:cNvPr>
          <p:cNvSpPr>
            <a:spLocks xmlns:a="http://schemas.openxmlformats.org/drawingml/2006/main" noGrp="1"/>
          </p:cNvSpPr>
          <p:nvPr/>
        </p:nvSpPr>
        <p:spPr>
          <a:xfrm xmlns:a="http://schemas.openxmlformats.org/drawingml/2006/main">
            <a:off x="9172575" y="4000500"/>
            <a:ext cx="16954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85766"/>
          </a:bodyPr>
          <a:lstStyle xmlns:a="http://schemas.openxmlformats.org/drawingml/2006/main"/>
          <a:p xmlns:a="http://schemas.openxmlformats.org/drawingml/2006/main">
            <a:pPr algn="ctr">
              <a:buNone/>
              <a:defRPr sz="1425" b="0">
                <a:solidFill>
                  <a:srgbClr val="5D7080"/>
                </a:solidFill>
                <a:latin typeface="Aptos"/>
                <a:ea typeface="Aptos"/>
                <a:cs typeface="Aptos"/>
              </a:defRPr>
            </a:pPr>
            <a:r>
              <a:rPr sz="1425" b="0">
                <a:solidFill>
                  <a:srgbClr val="5D7080"/>
                </a:solidFill>
                <a:latin typeface="Aptos"/>
                <a:ea typeface="Aptos"/>
                <a:cs typeface="Aptos"/>
              </a:rPr>
              <a:t>Five scores, readiness, per-question feedback and a learning roadmap.</a:t>
            </a:r>
          </a:p>
        </p:txBody>
      </p:sp>
      <p:sp>
        <p:nvSpPr>
          <p:cNvPr id="29" name="">
            <a:extLst xmlns:a="http://schemas.openxmlformats.org/drawingml/2006/main">
              <a:ext uri="{FF2B5EF4-FFF2-40B4-BE49-F238E27FC236}">
                <a16:creationId xmlns:a16="http://schemas.microsoft.com/office/drawing/2014/main" id="{EE39AA1B-649C-4C5A-BED6-7BB1AAD169F0}"/>
              </a:ext>
            </a:extLst>
          </p:cNvPr>
          <p:cNvSpPr>
            <a:spLocks xmlns:a="http://schemas.openxmlformats.org/drawingml/2006/main" noGrp="1"/>
          </p:cNvSpPr>
          <p:nvPr/>
        </p:nvSpPr>
        <p:spPr>
          <a:xfrm xmlns:a="http://schemas.openxmlformats.org/drawingml/2006/main">
            <a:off x="533400" y="5810250"/>
            <a:ext cx="876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92424"/>
          </a:bodyPr>
          <a:lstStyle xmlns:a="http://schemas.openxmlformats.org/drawingml/2006/main"/>
          <a:p xmlns:a="http://schemas.openxmlformats.org/drawingml/2006/main">
            <a:pPr algn="l">
              <a:buNone/>
              <a:defRPr sz="1650" b="1">
                <a:solidFill>
                  <a:srgbClr val="19B8A5"/>
                </a:solidFill>
                <a:latin typeface="Aptos"/>
                <a:ea typeface="Aptos"/>
                <a:cs typeface="Aptos"/>
              </a:defRPr>
            </a:pPr>
            <a:r>
              <a:rPr sz="1650" b="1">
                <a:solidFill>
                  <a:srgbClr val="19B8A5"/>
                </a:solidFill>
                <a:latin typeface="Aptos"/>
                <a:ea typeface="Aptos"/>
                <a:cs typeface="Aptos"/>
              </a:rPr>
              <a:t>No fixed question count: the session closes naturally when time expires.</a:t>
            </a:r>
          </a:p>
        </p:txBody>
      </p:sp>
    </p:spTree>
    <p:extLst>
      <p:ext uri="{BB962C8B-B14F-4D97-AF65-F5344CB8AC3E}">
        <p14:creationId xmlns:p14="http://schemas.microsoft.com/office/powerpoint/2010/main" val="2079110957"/>
      </p:ext>
    </p:extLst>
  </p:cSld>
</p:sld>
</file>

<file path=ppt/slides/slide5.xml><?xml version="1.0" encoding="utf-8"?>
<p:sld xmlns:p="http://schemas.openxmlformats.org/presentationml/2006/main">
  <p:cSld>
    <p:bg>
      <p:bgPr>
        <a:solidFill xmlns:a="http://schemas.openxmlformats.org/drawingml/2006/main">
          <a:srgbClr val="081521"/>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913E1391-7347-441F-BB71-5BCC19210C0D}"/>
              </a:ext>
            </a:extLst>
          </p:cNvPr>
          <p:cNvSpPr>
            <a:spLocks xmlns:a="http://schemas.openxmlformats.org/drawingml/2006/main" noGrp="1"/>
          </p:cNvSpPr>
          <p:nvPr/>
        </p:nvSpPr>
        <p:spPr>
          <a:xfrm xmlns:a="http://schemas.openxmlformats.org/drawingml/2006/main">
            <a:off x="533400" y="333375"/>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buNone/>
              <a:defRPr sz="1200" b="1">
                <a:solidFill>
                  <a:srgbClr val="68D9D0"/>
                </a:solidFill>
                <a:latin typeface="Aptos"/>
                <a:ea typeface="Aptos"/>
                <a:cs typeface="Aptos"/>
              </a:defRPr>
            </a:pPr>
            <a:r>
              <a:rPr sz="1200" b="1">
                <a:solidFill>
                  <a:srgbClr val="68D9D0"/>
                </a:solidFill>
                <a:latin typeface="Aptos"/>
                <a:ea typeface="Aptos"/>
                <a:cs typeface="Aptos"/>
              </a:rPr>
              <a:t>PREPPILOT · TEAM PHANTOM</a:t>
            </a:r>
          </a:p>
        </p:txBody>
      </p:sp>
      <p:sp>
        <p:nvSpPr>
          <p:cNvPr id="2" name="">
            <a:extLst xmlns:a="http://schemas.openxmlformats.org/drawingml/2006/main">
              <a:ext uri="{FF2B5EF4-FFF2-40B4-BE49-F238E27FC236}">
                <a16:creationId xmlns:a16="http://schemas.microsoft.com/office/drawing/2014/main" id="{69559CA4-2901-4A88-B60E-5B53AAE4D2C1}"/>
              </a:ext>
            </a:extLst>
          </p:cNvPr>
          <p:cNvSpPr>
            <a:spLocks xmlns:a="http://schemas.openxmlformats.org/drawingml/2006/main" noGrp="1"/>
          </p:cNvSpPr>
          <p:nvPr/>
        </p:nvSpPr>
        <p:spPr>
          <a:xfrm xmlns:a="http://schemas.openxmlformats.org/drawingml/2006/main">
            <a:off x="533400" y="72390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buNone/>
              <a:defRPr sz="3600" b="1">
                <a:solidFill>
                  <a:srgbClr val="FFFFFF"/>
                </a:solidFill>
                <a:latin typeface="Aptos"/>
                <a:ea typeface="Aptos"/>
                <a:cs typeface="Aptos"/>
              </a:defRPr>
            </a:pPr>
            <a:r>
              <a:rPr sz="3600" b="1">
                <a:solidFill>
                  <a:srgbClr val="FFFFFF"/>
                </a:solidFill>
                <a:latin typeface="Aptos"/>
                <a:ea typeface="Aptos"/>
                <a:cs typeface="Aptos"/>
              </a:rPr>
              <a:t>Context and API keys stay server-side</a:t>
            </a:r>
          </a:p>
        </p:txBody>
      </p:sp>
      <p:sp>
        <p:nvSpPr>
          <p:cNvPr id="3" name="">
            <a:extLst xmlns:a="http://schemas.openxmlformats.org/drawingml/2006/main">
              <a:ext uri="{FF2B5EF4-FFF2-40B4-BE49-F238E27FC236}">
                <a16:creationId xmlns:a16="http://schemas.microsoft.com/office/drawing/2014/main" id="{AF91C2E9-56A9-4A6B-B707-0EF1E33173EB}"/>
              </a:ext>
            </a:extLst>
          </p:cNvPr>
          <p:cNvSpPr>
            <a:spLocks xmlns:a="http://schemas.openxmlformats.org/drawingml/2006/main" noGrp="1"/>
          </p:cNvSpPr>
          <p:nvPr/>
        </p:nvSpPr>
        <p:spPr>
          <a:xfrm xmlns:a="http://schemas.openxmlformats.org/drawingml/2006/main">
            <a:off x="11163300" y="381000"/>
            <a:ext cx="495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95833"/>
          </a:bodyPr>
          <a:lstStyle xmlns:a="http://schemas.openxmlformats.org/drawingml/2006/main"/>
          <a:p xmlns:a="http://schemas.openxmlformats.org/drawingml/2006/main">
            <a:pPr algn="r">
              <a:buNone/>
              <a:defRPr sz="1200" b="1">
                <a:solidFill>
                  <a:srgbClr val="68D9D0"/>
                </a:solidFill>
                <a:latin typeface="Aptos"/>
                <a:ea typeface="Aptos"/>
                <a:cs typeface="Aptos"/>
              </a:defRPr>
            </a:pPr>
            <a:r>
              <a:rPr sz="1200" b="1">
                <a:solidFill>
                  <a:srgbClr val="68D9D0"/>
                </a:solidFill>
                <a:latin typeface="Aptos"/>
                <a:ea typeface="Aptos"/>
                <a:cs typeface="Aptos"/>
              </a:rPr>
              <a:t>05</a:t>
            </a:r>
          </a:p>
        </p:txBody>
      </p:sp>
      <p:sp>
        <p:nvSpPr>
          <p:cNvPr id="4" name="">
            <a:extLst xmlns:a="http://schemas.openxmlformats.org/drawingml/2006/main">
              <a:ext uri="{FF2B5EF4-FFF2-40B4-BE49-F238E27FC236}">
                <a16:creationId xmlns:a16="http://schemas.microsoft.com/office/drawing/2014/main" id="{9F195CEC-CBAA-4B5D-A069-2D6701981CCB}"/>
              </a:ext>
            </a:extLst>
          </p:cNvPr>
          <p:cNvSpPr>
            <a:spLocks xmlns:a="http://schemas.openxmlformats.org/drawingml/2006/main" noGrp="1"/>
          </p:cNvSpPr>
          <p:nvPr/>
        </p:nvSpPr>
        <p:spPr>
          <a:xfrm xmlns:a="http://schemas.openxmlformats.org/drawingml/2006/main">
            <a:off x="533400" y="1428750"/>
            <a:ext cx="9525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buNone/>
              <a:defRPr sz="1725" b="0">
                <a:solidFill>
                  <a:srgbClr val="C7D5DC"/>
                </a:solidFill>
                <a:latin typeface="Aptos"/>
                <a:ea typeface="Aptos"/>
                <a:cs typeface="Aptos"/>
              </a:defRPr>
            </a:pPr>
            <a:r>
              <a:rPr sz="1725" b="0">
                <a:solidFill>
                  <a:srgbClr val="C7D5DC"/>
                </a:solidFill>
                <a:latin typeface="Aptos"/>
                <a:ea typeface="Aptos"/>
                <a:cs typeface="Aptos"/>
              </a:rPr>
              <a:t>TanStack Start server functions connect the interview UI, AI providers and Supabase data layer.</a:t>
            </a:r>
          </a:p>
        </p:txBody>
      </p:sp>
      <p:cxnSp>
        <p:nvCxnSpPr>
          <p:cNvPr id="42" name=""/>
          <p:cNvCxnSpPr/>
          <p:nvPr/>
        </p:nvCxnSpPr>
        <p:spPr>
          <a:xfrm xmlns:a="http://schemas.openxmlformats.org/drawingml/2006/main">
            <a:off x="2914650" y="3238500"/>
            <a:ext cx="666750" cy="0"/>
          </a:xfrm>
          <a:prstGeom xmlns:a="http://schemas.openxmlformats.org/drawingml/2006/main" prst="straightConnector1">
            <a:avLst/>
          </a:prstGeom>
          <a:ln xmlns:a="http://schemas.openxmlformats.org/drawingml/2006/main" w="38100">
            <a:solidFill>
              <a:srgbClr val="4B7682"/>
            </a:solidFill>
            <a:prstDash val="solid"/>
          </a:ln>
        </p:spPr>
      </p:cxnSp>
      <p:cxnSp>
        <p:nvCxnSpPr>
          <p:cNvPr id="43" name=""/>
          <p:cNvCxnSpPr/>
          <p:nvPr/>
        </p:nvCxnSpPr>
        <p:spPr>
          <a:xfrm xmlns:a="http://schemas.openxmlformats.org/drawingml/2006/main">
            <a:off x="5753100" y="3238500"/>
            <a:ext cx="666750" cy="0"/>
          </a:xfrm>
          <a:prstGeom xmlns:a="http://schemas.openxmlformats.org/drawingml/2006/main" prst="straightConnector1">
            <a:avLst/>
          </a:prstGeom>
          <a:ln xmlns:a="http://schemas.openxmlformats.org/drawingml/2006/main" w="38100">
            <a:solidFill>
              <a:srgbClr val="4B7682"/>
            </a:solidFill>
            <a:prstDash val="solid"/>
          </a:ln>
        </p:spPr>
      </p:cxnSp>
      <p:cxnSp>
        <p:nvCxnSpPr>
          <p:cNvPr id="44" name=""/>
          <p:cNvCxnSpPr/>
          <p:nvPr/>
        </p:nvCxnSpPr>
        <p:spPr>
          <a:xfrm xmlns:a="http://schemas.openxmlformats.org/drawingml/2006/main">
            <a:off x="8591550" y="3238500"/>
            <a:ext cx="666750" cy="0"/>
          </a:xfrm>
          <a:prstGeom xmlns:a="http://schemas.openxmlformats.org/drawingml/2006/main" prst="straightConnector1">
            <a:avLst/>
          </a:prstGeom>
          <a:ln xmlns:a="http://schemas.openxmlformats.org/drawingml/2006/main" w="38100">
            <a:solidFill>
              <a:srgbClr val="4B7682"/>
            </a:solidFill>
            <a:prstDash val="solid"/>
          </a:ln>
        </p:spPr>
      </p:cxnSp>
      <p:sp>
        <p:nvSpPr>
          <p:cNvPr id="8" name="">
            <a:extLst xmlns:a="http://schemas.openxmlformats.org/drawingml/2006/main">
              <a:ext uri="{FF2B5EF4-FFF2-40B4-BE49-F238E27FC236}">
                <a16:creationId xmlns:a16="http://schemas.microsoft.com/office/drawing/2014/main" id="{28DCC9E0-72E2-475D-B496-50E91F56F03F}"/>
              </a:ext>
            </a:extLst>
          </p:cNvPr>
          <p:cNvSpPr>
            <a:spLocks xmlns:a="http://schemas.openxmlformats.org/drawingml/2006/main" noGrp="1"/>
          </p:cNvSpPr>
          <p:nvPr/>
        </p:nvSpPr>
        <p:spPr>
          <a:xfrm xmlns:a="http://schemas.openxmlformats.org/drawingml/2006/main">
            <a:off x="742950" y="2381250"/>
            <a:ext cx="2190750" cy="1762125"/>
          </a:xfrm>
          <a:prstGeom xmlns:a="http://schemas.openxmlformats.org/drawingml/2006/main" prst="roundRect">
            <a:avLst>
              <a:gd name="adj" fmla="val 6486"/>
            </a:avLst>
          </a:prstGeom>
          <a:solidFill xmlns:a="http://schemas.openxmlformats.org/drawingml/2006/main">
            <a:srgbClr val="102637"/>
          </a:solidFill>
          <a:ln xmlns:a="http://schemas.openxmlformats.org/drawingml/2006/main" w="19050">
            <a:solidFill>
              <a:srgbClr val="355466"/>
            </a:solidFill>
            <a:prstDash val="solid"/>
          </a:ln>
        </p:spPr>
      </p:sp>
      <p:sp>
        <p:nvSpPr>
          <p:cNvPr id="9" name="">
            <a:extLst xmlns:a="http://schemas.openxmlformats.org/drawingml/2006/main">
              <a:ext uri="{FF2B5EF4-FFF2-40B4-BE49-F238E27FC236}">
                <a16:creationId xmlns:a16="http://schemas.microsoft.com/office/drawing/2014/main" id="{959449A1-CA81-4611-A569-CDCB2833BEA6}"/>
              </a:ext>
            </a:extLst>
          </p:cNvPr>
          <p:cNvSpPr>
            <a:spLocks xmlns:a="http://schemas.openxmlformats.org/drawingml/2006/main" noGrp="1"/>
          </p:cNvSpPr>
          <p:nvPr/>
        </p:nvSpPr>
        <p:spPr>
          <a:xfrm xmlns:a="http://schemas.openxmlformats.org/drawingml/2006/main">
            <a:off x="952500" y="2628900"/>
            <a:ext cx="17716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ctr">
              <a:buNone/>
              <a:defRPr sz="1275" b="1">
                <a:solidFill>
                  <a:srgbClr val="68D9D0"/>
                </a:solidFill>
                <a:latin typeface="Aptos"/>
                <a:ea typeface="Aptos"/>
                <a:cs typeface="Aptos"/>
              </a:defRPr>
            </a:pPr>
            <a:r>
              <a:rPr sz="1275" b="1">
                <a:solidFill>
                  <a:srgbClr val="68D9D0"/>
                </a:solidFill>
                <a:latin typeface="Aptos"/>
                <a:ea typeface="Aptos"/>
                <a:cs typeface="Aptos"/>
              </a:rPr>
              <a:t>CLIENT UI</a:t>
            </a:r>
          </a:p>
        </p:txBody>
      </p:sp>
      <p:sp>
        <p:nvSpPr>
          <p:cNvPr id="10" name="">
            <a:extLst xmlns:a="http://schemas.openxmlformats.org/drawingml/2006/main">
              <a:ext uri="{FF2B5EF4-FFF2-40B4-BE49-F238E27FC236}">
                <a16:creationId xmlns:a16="http://schemas.microsoft.com/office/drawing/2014/main" id="{7654F579-F425-457F-A7D0-AB8F18172F19}"/>
              </a:ext>
            </a:extLst>
          </p:cNvPr>
          <p:cNvSpPr>
            <a:spLocks xmlns:a="http://schemas.openxmlformats.org/drawingml/2006/main" noGrp="1"/>
          </p:cNvSpPr>
          <p:nvPr/>
        </p:nvSpPr>
        <p:spPr>
          <a:xfrm xmlns:a="http://schemas.openxmlformats.org/drawingml/2006/main">
            <a:off x="933450" y="3171825"/>
            <a:ext cx="18097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normAutofit fontScale="95000"/>
          </a:bodyPr>
          <a:lstStyle xmlns:a="http://schemas.openxmlformats.org/drawingml/2006/main"/>
          <a:p xmlns:a="http://schemas.openxmlformats.org/drawingml/2006/main">
            <a:pPr algn="ctr">
              <a:buNone/>
              <a:defRPr sz="1500" b="0">
                <a:solidFill>
                  <a:srgbClr val="FFFFFF"/>
                </a:solidFill>
                <a:latin typeface="Aptos"/>
                <a:ea typeface="Aptos"/>
                <a:cs typeface="Aptos"/>
              </a:defRPr>
            </a:pPr>
            <a:r>
              <a:rPr sz="1500" b="0">
                <a:solidFill>
                  <a:srgbClr val="FFFFFF"/>
                </a:solidFill>
                <a:latin typeface="Aptos"/>
                <a:ea typeface="Aptos"/>
                <a:cs typeface="Aptos"/>
              </a:rPr>
              <a:t>React · TanStack Start</a:t>
            </a:r>
          </a:p>
          <a:p xmlns:a="http://schemas.openxmlformats.org/drawingml/2006/main">
            <a:pPr algn="ctr">
              <a:buNone/>
              <a:defRPr sz="1500" b="0">
                <a:solidFill>
                  <a:srgbClr val="FFFFFF"/>
                </a:solidFill>
                <a:latin typeface="Aptos"/>
                <a:ea typeface="Aptos"/>
                <a:cs typeface="Aptos"/>
              </a:defRPr>
            </a:pPr>
            <a:r>
              <a:rPr sz="1500" b="0">
                <a:solidFill>
                  <a:srgbClr val="FFFFFF"/>
                </a:solidFill>
                <a:latin typeface="Aptos"/>
                <a:ea typeface="Aptos"/>
                <a:cs typeface="Aptos"/>
              </a:rPr>
              <a:t>Voice recorder · TTS</a:t>
            </a:r>
          </a:p>
        </p:txBody>
      </p:sp>
      <p:sp>
        <p:nvSpPr>
          <p:cNvPr id="11" name="">
            <a:extLst xmlns:a="http://schemas.openxmlformats.org/drawingml/2006/main">
              <a:ext uri="{FF2B5EF4-FFF2-40B4-BE49-F238E27FC236}">
                <a16:creationId xmlns:a16="http://schemas.microsoft.com/office/drawing/2014/main" id="{0ECEB208-AFFD-4119-B6F3-5AC0CBE5E3D0}"/>
              </a:ext>
            </a:extLst>
          </p:cNvPr>
          <p:cNvSpPr>
            <a:spLocks xmlns:a="http://schemas.openxmlformats.org/drawingml/2006/main" noGrp="1"/>
          </p:cNvSpPr>
          <p:nvPr/>
        </p:nvSpPr>
        <p:spPr>
          <a:xfrm xmlns:a="http://schemas.openxmlformats.org/drawingml/2006/main">
            <a:off x="3581400" y="2381250"/>
            <a:ext cx="2190750" cy="1762125"/>
          </a:xfrm>
          <a:prstGeom xmlns:a="http://schemas.openxmlformats.org/drawingml/2006/main" prst="roundRect">
            <a:avLst>
              <a:gd name="adj" fmla="val 6486"/>
            </a:avLst>
          </a:prstGeom>
          <a:solidFill xmlns:a="http://schemas.openxmlformats.org/drawingml/2006/main">
            <a:srgbClr val="19B8A5"/>
          </a:solidFill>
          <a:ln xmlns:a="http://schemas.openxmlformats.org/drawingml/2006/main" w="19050">
            <a:solidFill>
              <a:srgbClr val="19B8A5"/>
            </a:solidFill>
            <a:prstDash val="solid"/>
          </a:ln>
        </p:spPr>
      </p:sp>
      <p:sp>
        <p:nvSpPr>
          <p:cNvPr id="12" name="">
            <a:extLst xmlns:a="http://schemas.openxmlformats.org/drawingml/2006/main">
              <a:ext uri="{FF2B5EF4-FFF2-40B4-BE49-F238E27FC236}">
                <a16:creationId xmlns:a16="http://schemas.microsoft.com/office/drawing/2014/main" id="{4C6792BD-5960-4506-B4AC-AC28529CB0D2}"/>
              </a:ext>
            </a:extLst>
          </p:cNvPr>
          <p:cNvSpPr>
            <a:spLocks xmlns:a="http://schemas.openxmlformats.org/drawingml/2006/main" noGrp="1"/>
          </p:cNvSpPr>
          <p:nvPr/>
        </p:nvSpPr>
        <p:spPr>
          <a:xfrm xmlns:a="http://schemas.openxmlformats.org/drawingml/2006/main">
            <a:off x="3790950" y="2628900"/>
            <a:ext cx="17716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ctr">
              <a:buNone/>
              <a:defRPr sz="1275" b="1">
                <a:solidFill>
                  <a:srgbClr val="FFFFFF"/>
                </a:solidFill>
                <a:latin typeface="Aptos"/>
                <a:ea typeface="Aptos"/>
                <a:cs typeface="Aptos"/>
              </a:defRPr>
            </a:pPr>
            <a:r>
              <a:rPr sz="1275" b="1">
                <a:solidFill>
                  <a:srgbClr val="FFFFFF"/>
                </a:solidFill>
                <a:latin typeface="Aptos"/>
                <a:ea typeface="Aptos"/>
                <a:cs typeface="Aptos"/>
              </a:rPr>
              <a:t>SERVER FUNCTIONS</a:t>
            </a:r>
          </a:p>
        </p:txBody>
      </p:sp>
      <p:sp>
        <p:nvSpPr>
          <p:cNvPr id="13" name="">
            <a:extLst xmlns:a="http://schemas.openxmlformats.org/drawingml/2006/main">
              <a:ext uri="{FF2B5EF4-FFF2-40B4-BE49-F238E27FC236}">
                <a16:creationId xmlns:a16="http://schemas.microsoft.com/office/drawing/2014/main" id="{4F65D222-DEEB-48CF-AC97-1C275C31FDF5}"/>
              </a:ext>
            </a:extLst>
          </p:cNvPr>
          <p:cNvSpPr>
            <a:spLocks xmlns:a="http://schemas.openxmlformats.org/drawingml/2006/main" noGrp="1"/>
          </p:cNvSpPr>
          <p:nvPr/>
        </p:nvSpPr>
        <p:spPr>
          <a:xfrm xmlns:a="http://schemas.openxmlformats.org/drawingml/2006/main">
            <a:off x="3771900" y="3171825"/>
            <a:ext cx="18097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normAutofit fontScale="94507"/>
          </a:bodyPr>
          <a:lstStyle xmlns:a="http://schemas.openxmlformats.org/drawingml/2006/main"/>
          <a:p xmlns:a="http://schemas.openxmlformats.org/drawingml/2006/main">
            <a:pPr algn="ctr">
              <a:buNone/>
              <a:defRPr sz="1500" b="0">
                <a:solidFill>
                  <a:srgbClr val="FFFFFF"/>
                </a:solidFill>
                <a:latin typeface="Aptos"/>
                <a:ea typeface="Aptos"/>
                <a:cs typeface="Aptos"/>
              </a:defRPr>
            </a:pPr>
            <a:r>
              <a:rPr sz="1500" b="0">
                <a:solidFill>
                  <a:srgbClr val="FFFFFF"/>
                </a:solidFill>
                <a:latin typeface="Aptos"/>
                <a:ea typeface="Aptos"/>
                <a:cs typeface="Aptos"/>
              </a:rPr>
              <a:t>create · begin · submit · end</a:t>
            </a:r>
          </a:p>
          <a:p xmlns:a="http://schemas.openxmlformats.org/drawingml/2006/main">
            <a:pPr algn="ctr">
              <a:buNone/>
              <a:defRPr sz="1500" b="0">
                <a:solidFill>
                  <a:srgbClr val="FFFFFF"/>
                </a:solidFill>
                <a:latin typeface="Aptos"/>
                <a:ea typeface="Aptos"/>
                <a:cs typeface="Aptos"/>
              </a:defRPr>
            </a:pPr>
            <a:r>
              <a:rPr sz="1500" b="0">
                <a:solidFill>
                  <a:srgbClr val="FFFFFF"/>
                </a:solidFill>
                <a:latin typeface="Aptos"/>
                <a:ea typeface="Aptos"/>
                <a:cs typeface="Aptos"/>
              </a:rPr>
              <a:t>CSRF-protected RPC</a:t>
            </a:r>
          </a:p>
        </p:txBody>
      </p:sp>
      <p:sp>
        <p:nvSpPr>
          <p:cNvPr id="14" name="">
            <a:extLst xmlns:a="http://schemas.openxmlformats.org/drawingml/2006/main">
              <a:ext uri="{FF2B5EF4-FFF2-40B4-BE49-F238E27FC236}">
                <a16:creationId xmlns:a16="http://schemas.microsoft.com/office/drawing/2014/main" id="{1FE26167-228D-431F-8256-F575340BF162}"/>
              </a:ext>
            </a:extLst>
          </p:cNvPr>
          <p:cNvSpPr>
            <a:spLocks xmlns:a="http://schemas.openxmlformats.org/drawingml/2006/main" noGrp="1"/>
          </p:cNvSpPr>
          <p:nvPr/>
        </p:nvSpPr>
        <p:spPr>
          <a:xfrm xmlns:a="http://schemas.openxmlformats.org/drawingml/2006/main">
            <a:off x="6419850" y="2381250"/>
            <a:ext cx="2190750" cy="1762125"/>
          </a:xfrm>
          <a:prstGeom xmlns:a="http://schemas.openxmlformats.org/drawingml/2006/main" prst="roundRect">
            <a:avLst>
              <a:gd name="adj" fmla="val 6486"/>
            </a:avLst>
          </a:prstGeom>
          <a:solidFill xmlns:a="http://schemas.openxmlformats.org/drawingml/2006/main">
            <a:srgbClr val="102637"/>
          </a:solidFill>
          <a:ln xmlns:a="http://schemas.openxmlformats.org/drawingml/2006/main" w="19050">
            <a:solidFill>
              <a:srgbClr val="355466"/>
            </a:solidFill>
            <a:prstDash val="solid"/>
          </a:ln>
        </p:spPr>
      </p:sp>
      <p:sp>
        <p:nvSpPr>
          <p:cNvPr id="15" name="">
            <a:extLst xmlns:a="http://schemas.openxmlformats.org/drawingml/2006/main">
              <a:ext uri="{FF2B5EF4-FFF2-40B4-BE49-F238E27FC236}">
                <a16:creationId xmlns:a16="http://schemas.microsoft.com/office/drawing/2014/main" id="{8B3BBFE4-7573-4175-8AB4-501B45F8E847}"/>
              </a:ext>
            </a:extLst>
          </p:cNvPr>
          <p:cNvSpPr>
            <a:spLocks xmlns:a="http://schemas.openxmlformats.org/drawingml/2006/main" noGrp="1"/>
          </p:cNvSpPr>
          <p:nvPr/>
        </p:nvSpPr>
        <p:spPr>
          <a:xfrm xmlns:a="http://schemas.openxmlformats.org/drawingml/2006/main">
            <a:off x="6629400" y="2628900"/>
            <a:ext cx="17716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ctr">
              <a:buNone/>
              <a:defRPr sz="1275" b="1">
                <a:solidFill>
                  <a:srgbClr val="68D9D0"/>
                </a:solidFill>
                <a:latin typeface="Aptos"/>
                <a:ea typeface="Aptos"/>
                <a:cs typeface="Aptos"/>
              </a:defRPr>
            </a:pPr>
            <a:r>
              <a:rPr sz="1275" b="1">
                <a:solidFill>
                  <a:srgbClr val="68D9D0"/>
                </a:solidFill>
                <a:latin typeface="Aptos"/>
                <a:ea typeface="Aptos"/>
                <a:cs typeface="Aptos"/>
              </a:rPr>
              <a:t>AI PROVIDERS</a:t>
            </a:r>
          </a:p>
        </p:txBody>
      </p:sp>
      <p:sp>
        <p:nvSpPr>
          <p:cNvPr id="16" name="">
            <a:extLst xmlns:a="http://schemas.openxmlformats.org/drawingml/2006/main">
              <a:ext uri="{FF2B5EF4-FFF2-40B4-BE49-F238E27FC236}">
                <a16:creationId xmlns:a16="http://schemas.microsoft.com/office/drawing/2014/main" id="{62939ACA-30C7-4B3A-A370-6B0F0F9D00A4}"/>
              </a:ext>
            </a:extLst>
          </p:cNvPr>
          <p:cNvSpPr>
            <a:spLocks xmlns:a="http://schemas.openxmlformats.org/drawingml/2006/main" noGrp="1"/>
          </p:cNvSpPr>
          <p:nvPr/>
        </p:nvSpPr>
        <p:spPr>
          <a:xfrm xmlns:a="http://schemas.openxmlformats.org/drawingml/2006/main">
            <a:off x="6610350" y="3171825"/>
            <a:ext cx="18097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normAutofit fontScale="95000"/>
          </a:bodyPr>
          <a:lstStyle xmlns:a="http://schemas.openxmlformats.org/drawingml/2006/main"/>
          <a:p xmlns:a="http://schemas.openxmlformats.org/drawingml/2006/main">
            <a:pPr algn="ctr">
              <a:buNone/>
              <a:defRPr sz="1500" b="0">
                <a:solidFill>
                  <a:srgbClr val="FFFFFF"/>
                </a:solidFill>
                <a:latin typeface="Aptos"/>
                <a:ea typeface="Aptos"/>
                <a:cs typeface="Aptos"/>
              </a:defRPr>
            </a:pPr>
            <a:r>
              <a:rPr sz="1500" b="0">
                <a:solidFill>
                  <a:srgbClr val="FFFFFF"/>
                </a:solidFill>
                <a:latin typeface="Aptos"/>
                <a:ea typeface="Aptos"/>
                <a:cs typeface="Aptos"/>
              </a:rPr>
              <a:t>Groq LLM + Whisper STT</a:t>
            </a:r>
          </a:p>
          <a:p xmlns:a="http://schemas.openxmlformats.org/drawingml/2006/main">
            <a:pPr algn="ctr">
              <a:buNone/>
              <a:defRPr sz="1500" b="0">
                <a:solidFill>
                  <a:srgbClr val="FFFFFF"/>
                </a:solidFill>
                <a:latin typeface="Aptos"/>
                <a:ea typeface="Aptos"/>
                <a:cs typeface="Aptos"/>
              </a:defRPr>
            </a:pPr>
            <a:r>
              <a:rPr sz="1500" b="0">
                <a:solidFill>
                  <a:srgbClr val="FFFFFF"/>
                </a:solidFill>
                <a:latin typeface="Aptos"/>
                <a:ea typeface="Aptos"/>
                <a:cs typeface="Aptos"/>
              </a:rPr>
              <a:t>OpenRouter fallback</a:t>
            </a:r>
          </a:p>
        </p:txBody>
      </p:sp>
      <p:sp>
        <p:nvSpPr>
          <p:cNvPr id="17" name="">
            <a:extLst xmlns:a="http://schemas.openxmlformats.org/drawingml/2006/main">
              <a:ext uri="{FF2B5EF4-FFF2-40B4-BE49-F238E27FC236}">
                <a16:creationId xmlns:a16="http://schemas.microsoft.com/office/drawing/2014/main" id="{9DBFA245-E6D4-4F86-A391-3C1941FA4854}"/>
              </a:ext>
            </a:extLst>
          </p:cNvPr>
          <p:cNvSpPr>
            <a:spLocks xmlns:a="http://schemas.openxmlformats.org/drawingml/2006/main" noGrp="1"/>
          </p:cNvSpPr>
          <p:nvPr/>
        </p:nvSpPr>
        <p:spPr>
          <a:xfrm xmlns:a="http://schemas.openxmlformats.org/drawingml/2006/main">
            <a:off x="9258300" y="2381250"/>
            <a:ext cx="2190750" cy="1762125"/>
          </a:xfrm>
          <a:prstGeom xmlns:a="http://schemas.openxmlformats.org/drawingml/2006/main" prst="roundRect">
            <a:avLst>
              <a:gd name="adj" fmla="val 6486"/>
            </a:avLst>
          </a:prstGeom>
          <a:solidFill xmlns:a="http://schemas.openxmlformats.org/drawingml/2006/main">
            <a:srgbClr val="102637"/>
          </a:solidFill>
          <a:ln xmlns:a="http://schemas.openxmlformats.org/drawingml/2006/main" w="19050">
            <a:solidFill>
              <a:srgbClr val="355466"/>
            </a:solidFill>
            <a:prstDash val="solid"/>
          </a:ln>
        </p:spPr>
      </p:sp>
      <p:sp>
        <p:nvSpPr>
          <p:cNvPr id="18" name="">
            <a:extLst xmlns:a="http://schemas.openxmlformats.org/drawingml/2006/main">
              <a:ext uri="{FF2B5EF4-FFF2-40B4-BE49-F238E27FC236}">
                <a16:creationId xmlns:a16="http://schemas.microsoft.com/office/drawing/2014/main" id="{99578FD5-FD4A-47D7-9A9F-A74B191C1E74}"/>
              </a:ext>
            </a:extLst>
          </p:cNvPr>
          <p:cNvSpPr>
            <a:spLocks xmlns:a="http://schemas.openxmlformats.org/drawingml/2006/main" noGrp="1"/>
          </p:cNvSpPr>
          <p:nvPr/>
        </p:nvSpPr>
        <p:spPr>
          <a:xfrm xmlns:a="http://schemas.openxmlformats.org/drawingml/2006/main">
            <a:off x="9467850" y="2628900"/>
            <a:ext cx="17716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ctr">
              <a:buNone/>
              <a:defRPr sz="1275" b="1">
                <a:solidFill>
                  <a:srgbClr val="68D9D0"/>
                </a:solidFill>
                <a:latin typeface="Aptos"/>
                <a:ea typeface="Aptos"/>
                <a:cs typeface="Aptos"/>
              </a:defRPr>
            </a:pPr>
            <a:r>
              <a:rPr sz="1275" b="1">
                <a:solidFill>
                  <a:srgbClr val="68D9D0"/>
                </a:solidFill>
                <a:latin typeface="Aptos"/>
                <a:ea typeface="Aptos"/>
                <a:cs typeface="Aptos"/>
              </a:rPr>
              <a:t>SUPABASE</a:t>
            </a:r>
          </a:p>
        </p:txBody>
      </p:sp>
      <p:sp>
        <p:nvSpPr>
          <p:cNvPr id="19" name="">
            <a:extLst xmlns:a="http://schemas.openxmlformats.org/drawingml/2006/main">
              <a:ext uri="{FF2B5EF4-FFF2-40B4-BE49-F238E27FC236}">
                <a16:creationId xmlns:a16="http://schemas.microsoft.com/office/drawing/2014/main" id="{B1F229CF-8663-4463-AC23-799FFE1023AE}"/>
              </a:ext>
            </a:extLst>
          </p:cNvPr>
          <p:cNvSpPr>
            <a:spLocks xmlns:a="http://schemas.openxmlformats.org/drawingml/2006/main" noGrp="1"/>
          </p:cNvSpPr>
          <p:nvPr/>
        </p:nvSpPr>
        <p:spPr>
          <a:xfrm xmlns:a="http://schemas.openxmlformats.org/drawingml/2006/main">
            <a:off x="9448800" y="3171825"/>
            <a:ext cx="18097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normAutofit fontScale="95000"/>
          </a:bodyPr>
          <a:lstStyle xmlns:a="http://schemas.openxmlformats.org/drawingml/2006/main"/>
          <a:p xmlns:a="http://schemas.openxmlformats.org/drawingml/2006/main">
            <a:pPr algn="ctr">
              <a:buNone/>
              <a:defRPr sz="1500" b="0">
                <a:solidFill>
                  <a:srgbClr val="FFFFFF"/>
                </a:solidFill>
                <a:latin typeface="Aptos"/>
                <a:ea typeface="Aptos"/>
                <a:cs typeface="Aptos"/>
              </a:defRPr>
            </a:pPr>
            <a:r>
              <a:rPr sz="1500" b="0">
                <a:solidFill>
                  <a:srgbClr val="FFFFFF"/>
                </a:solidFill>
                <a:latin typeface="Aptos"/>
                <a:ea typeface="Aptos"/>
                <a:cs typeface="Aptos"/>
              </a:rPr>
              <a:t>Auth · Postgres · private resumes</a:t>
            </a:r>
          </a:p>
          <a:p xmlns:a="http://schemas.openxmlformats.org/drawingml/2006/main">
            <a:pPr algn="ctr">
              <a:buNone/>
              <a:defRPr sz="1500" b="0">
                <a:solidFill>
                  <a:srgbClr val="FFFFFF"/>
                </a:solidFill>
                <a:latin typeface="Aptos"/>
                <a:ea typeface="Aptos"/>
                <a:cs typeface="Aptos"/>
              </a:defRPr>
            </a:pPr>
            <a:r>
              <a:rPr sz="1500" b="0">
                <a:solidFill>
                  <a:srgbClr val="FFFFFF"/>
                </a:solidFill>
                <a:latin typeface="Aptos"/>
                <a:ea typeface="Aptos"/>
                <a:cs typeface="Aptos"/>
              </a:rPr>
              <a:t>RLS per user</a:t>
            </a:r>
          </a:p>
        </p:txBody>
      </p:sp>
      <p:sp>
        <p:nvSpPr>
          <p:cNvPr id="20" name="">
            <a:extLst xmlns:a="http://schemas.openxmlformats.org/drawingml/2006/main">
              <a:ext uri="{FF2B5EF4-FFF2-40B4-BE49-F238E27FC236}">
                <a16:creationId xmlns:a16="http://schemas.microsoft.com/office/drawing/2014/main" id="{B4831715-756A-4976-BB5D-6A0EA4FC7BCD}"/>
              </a:ext>
            </a:extLst>
          </p:cNvPr>
          <p:cNvSpPr>
            <a:spLocks xmlns:a="http://schemas.openxmlformats.org/drawingml/2006/main" noGrp="1"/>
          </p:cNvSpPr>
          <p:nvPr/>
        </p:nvSpPr>
        <p:spPr>
          <a:xfrm xmlns:a="http://schemas.openxmlformats.org/drawingml/2006/main">
            <a:off x="762000" y="5191125"/>
            <a:ext cx="2381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78032"/>
          </a:bodyPr>
          <a:lstStyle xmlns:a="http://schemas.openxmlformats.org/drawingml/2006/main"/>
          <a:p xmlns:a="http://schemas.openxmlformats.org/drawingml/2006/main">
            <a:pPr algn="l">
              <a:buNone/>
              <a:defRPr sz="1500" b="1">
                <a:solidFill>
                  <a:srgbClr val="68D9D0"/>
                </a:solidFill>
                <a:latin typeface="Aptos"/>
                <a:ea typeface="Aptos"/>
                <a:cs typeface="Aptos"/>
              </a:defRPr>
            </a:pPr>
            <a:r>
              <a:rPr sz="1500" b="1">
                <a:solidFill>
                  <a:srgbClr val="68D9D0"/>
                </a:solidFill>
                <a:latin typeface="Aptos"/>
                <a:ea typeface="Aptos"/>
                <a:cs typeface="Aptos"/>
              </a:rPr>
              <a:t>Mode stored in interview context</a:t>
            </a:r>
          </a:p>
        </p:txBody>
      </p:sp>
      <p:sp>
        <p:nvSpPr>
          <p:cNvPr id="21" name="">
            <a:extLst xmlns:a="http://schemas.openxmlformats.org/drawingml/2006/main">
              <a:ext uri="{FF2B5EF4-FFF2-40B4-BE49-F238E27FC236}">
                <a16:creationId xmlns:a16="http://schemas.microsoft.com/office/drawing/2014/main" id="{236C04EB-D46A-4A5C-9E67-B18B58D42C41}"/>
              </a:ext>
            </a:extLst>
          </p:cNvPr>
          <p:cNvSpPr>
            <a:spLocks xmlns:a="http://schemas.openxmlformats.org/drawingml/2006/main" noGrp="1"/>
          </p:cNvSpPr>
          <p:nvPr/>
        </p:nvSpPr>
        <p:spPr>
          <a:xfrm xmlns:a="http://schemas.openxmlformats.org/drawingml/2006/main">
            <a:off x="3657600" y="5191125"/>
            <a:ext cx="3333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93333"/>
          </a:bodyPr>
          <a:lstStyle xmlns:a="http://schemas.openxmlformats.org/drawingml/2006/main"/>
          <a:p xmlns:a="http://schemas.openxmlformats.org/drawingml/2006/main">
            <a:pPr algn="l">
              <a:buNone/>
              <a:defRPr sz="1500" b="1">
                <a:solidFill>
                  <a:srgbClr val="68D9D0"/>
                </a:solidFill>
                <a:latin typeface="Aptos"/>
                <a:ea typeface="Aptos"/>
                <a:cs typeface="Aptos"/>
              </a:defRPr>
            </a:pPr>
            <a:r>
              <a:rPr sz="1500" b="1">
                <a:solidFill>
                  <a:srgbClr val="68D9D0"/>
                </a:solidFill>
                <a:latin typeface="Aptos"/>
                <a:ea typeface="Aptos"/>
                <a:cs typeface="Aptos"/>
              </a:rPr>
              <a:t>Evaluations persisted per answer</a:t>
            </a:r>
          </a:p>
        </p:txBody>
      </p:sp>
      <p:sp>
        <p:nvSpPr>
          <p:cNvPr id="22" name="">
            <a:extLst xmlns:a="http://schemas.openxmlformats.org/drawingml/2006/main">
              <a:ext uri="{FF2B5EF4-FFF2-40B4-BE49-F238E27FC236}">
                <a16:creationId xmlns:a16="http://schemas.microsoft.com/office/drawing/2014/main" id="{FBBFF76A-E3E3-4405-8409-1945F13DF796}"/>
              </a:ext>
            </a:extLst>
          </p:cNvPr>
          <p:cNvSpPr>
            <a:spLocks xmlns:a="http://schemas.openxmlformats.org/drawingml/2006/main" noGrp="1"/>
          </p:cNvSpPr>
          <p:nvPr/>
        </p:nvSpPr>
        <p:spPr>
          <a:xfrm xmlns:a="http://schemas.openxmlformats.org/drawingml/2006/main">
            <a:off x="7677150" y="5191125"/>
            <a:ext cx="3619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93333"/>
          </a:bodyPr>
          <a:lstStyle xmlns:a="http://schemas.openxmlformats.org/drawingml/2006/main"/>
          <a:p xmlns:a="http://schemas.openxmlformats.org/drawingml/2006/main">
            <a:pPr algn="l">
              <a:buNone/>
              <a:defRPr sz="1500" b="1">
                <a:solidFill>
                  <a:srgbClr val="68D9D0"/>
                </a:solidFill>
                <a:latin typeface="Aptos"/>
                <a:ea typeface="Aptos"/>
                <a:cs typeface="Aptos"/>
              </a:defRPr>
            </a:pPr>
            <a:r>
              <a:rPr sz="1500" b="1">
                <a:solidFill>
                  <a:srgbClr val="68D9D0"/>
                </a:solidFill>
                <a:latin typeface="Aptos"/>
                <a:ea typeface="Aptos"/>
                <a:cs typeface="Aptos"/>
              </a:rPr>
              <a:t>Reports + roadmaps persisted</a:t>
            </a:r>
          </a:p>
        </p:txBody>
      </p:sp>
      <p:sp>
        <p:nvSpPr>
          <p:cNvPr id="23" name="">
            <a:extLst xmlns:a="http://schemas.openxmlformats.org/drawingml/2006/main">
              <a:ext uri="{FF2B5EF4-FFF2-40B4-BE49-F238E27FC236}">
                <a16:creationId xmlns:a16="http://schemas.microsoft.com/office/drawing/2014/main" id="{1117A1E6-E9CA-4E29-85BA-C198A535F58F}"/>
              </a:ext>
            </a:extLst>
          </p:cNvPr>
          <p:cNvSpPr>
            <a:spLocks xmlns:a="http://schemas.openxmlformats.org/drawingml/2006/main" noGrp="1"/>
          </p:cNvSpPr>
          <p:nvPr/>
        </p:nvSpPr>
        <p:spPr>
          <a:xfrm xmlns:a="http://schemas.openxmlformats.org/drawingml/2006/main">
            <a:off x="762000" y="5886450"/>
            <a:ext cx="9810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88406"/>
          </a:bodyPr>
          <a:lstStyle xmlns:a="http://schemas.openxmlformats.org/drawingml/2006/main"/>
          <a:p xmlns:a="http://schemas.openxmlformats.org/drawingml/2006/main">
            <a:pPr algn="l">
              <a:buNone/>
              <a:defRPr sz="1725" b="1">
                <a:solidFill>
                  <a:srgbClr val="FFFFFF"/>
                </a:solidFill>
                <a:latin typeface="Aptos"/>
                <a:ea typeface="Aptos"/>
                <a:cs typeface="Aptos"/>
              </a:defRPr>
            </a:pPr>
            <a:r>
              <a:rPr sz="1725" b="1">
                <a:solidFill>
                  <a:srgbClr val="FFFFFF"/>
                </a:solidFill>
                <a:latin typeface="Aptos"/>
                <a:ea typeface="Aptos"/>
                <a:cs typeface="Aptos"/>
              </a:rPr>
              <a:t>Email confirmation, auth-gated routes, private storage and server-only secrets protect candidate data.</a:t>
            </a:r>
          </a:p>
        </p:txBody>
      </p:sp>
    </p:spTree>
    <p:extLst>
      <p:ext uri="{BB962C8B-B14F-4D97-AF65-F5344CB8AC3E}">
        <p14:creationId xmlns:p14="http://schemas.microsoft.com/office/powerpoint/2010/main" val="33433303"/>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7BA1AABC-626C-4244-8AEC-67C05148A201}"/>
              </a:ext>
            </a:extLst>
          </p:cNvPr>
          <p:cNvSpPr>
            <a:spLocks xmlns:a="http://schemas.openxmlformats.org/drawingml/2006/main" noGrp="1"/>
          </p:cNvSpPr>
          <p:nvPr/>
        </p:nvSpPr>
        <p:spPr>
          <a:xfrm xmlns:a="http://schemas.openxmlformats.org/drawingml/2006/main">
            <a:off x="533400" y="333375"/>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buNone/>
              <a:defRPr sz="1200" b="1">
                <a:solidFill>
                  <a:srgbClr val="19B8A5"/>
                </a:solidFill>
                <a:latin typeface="Aptos"/>
                <a:ea typeface="Aptos"/>
                <a:cs typeface="Aptos"/>
              </a:defRPr>
            </a:pPr>
            <a:r>
              <a:rPr sz="1200" b="1">
                <a:solidFill>
                  <a:srgbClr val="19B8A5"/>
                </a:solidFill>
                <a:latin typeface="Aptos"/>
                <a:ea typeface="Aptos"/>
                <a:cs typeface="Aptos"/>
              </a:rPr>
              <a:t>PREPPILOT · TEAM PHANTOM</a:t>
            </a:r>
          </a:p>
        </p:txBody>
      </p:sp>
      <p:sp>
        <p:nvSpPr>
          <p:cNvPr id="2" name="">
            <a:extLst xmlns:a="http://schemas.openxmlformats.org/drawingml/2006/main">
              <a:ext uri="{FF2B5EF4-FFF2-40B4-BE49-F238E27FC236}">
                <a16:creationId xmlns:a16="http://schemas.microsoft.com/office/drawing/2014/main" id="{2726CF46-C4FB-4AE0-A536-453C07299DD1}"/>
              </a:ext>
            </a:extLst>
          </p:cNvPr>
          <p:cNvSpPr>
            <a:spLocks xmlns:a="http://schemas.openxmlformats.org/drawingml/2006/main" noGrp="1"/>
          </p:cNvSpPr>
          <p:nvPr/>
        </p:nvSpPr>
        <p:spPr>
          <a:xfrm xmlns:a="http://schemas.openxmlformats.org/drawingml/2006/main">
            <a:off x="533400" y="72390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buNone/>
              <a:defRPr sz="3600" b="1">
                <a:solidFill>
                  <a:srgbClr val="10212E"/>
                </a:solidFill>
                <a:latin typeface="Aptos"/>
                <a:ea typeface="Aptos"/>
                <a:cs typeface="Aptos"/>
              </a:defRPr>
            </a:pPr>
            <a:r>
              <a:rPr sz="3600" b="1">
                <a:solidFill>
                  <a:srgbClr val="10212E"/>
                </a:solidFill>
                <a:latin typeface="Aptos"/>
                <a:ea typeface="Aptos"/>
                <a:cs typeface="Aptos"/>
              </a:rPr>
              <a:t>Every answer changes questions and feedback</a:t>
            </a:r>
          </a:p>
        </p:txBody>
      </p:sp>
      <p:sp>
        <p:nvSpPr>
          <p:cNvPr id="3" name="">
            <a:extLst xmlns:a="http://schemas.openxmlformats.org/drawingml/2006/main">
              <a:ext uri="{FF2B5EF4-FFF2-40B4-BE49-F238E27FC236}">
                <a16:creationId xmlns:a16="http://schemas.microsoft.com/office/drawing/2014/main" id="{B2B273C2-605D-4B79-879F-BC171B2C03D4}"/>
              </a:ext>
            </a:extLst>
          </p:cNvPr>
          <p:cNvSpPr>
            <a:spLocks xmlns:a="http://schemas.openxmlformats.org/drawingml/2006/main" noGrp="1"/>
          </p:cNvSpPr>
          <p:nvPr/>
        </p:nvSpPr>
        <p:spPr>
          <a:xfrm xmlns:a="http://schemas.openxmlformats.org/drawingml/2006/main">
            <a:off x="11163300" y="381000"/>
            <a:ext cx="495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95833"/>
          </a:bodyPr>
          <a:lstStyle xmlns:a="http://schemas.openxmlformats.org/drawingml/2006/main"/>
          <a:p xmlns:a="http://schemas.openxmlformats.org/drawingml/2006/main">
            <a:pPr algn="r">
              <a:buNone/>
              <a:defRPr sz="1200" b="1">
                <a:solidFill>
                  <a:srgbClr val="5D7080"/>
                </a:solidFill>
                <a:latin typeface="Aptos"/>
                <a:ea typeface="Aptos"/>
                <a:cs typeface="Aptos"/>
              </a:defRPr>
            </a:pPr>
            <a:r>
              <a:rPr sz="1200" b="1">
                <a:solidFill>
                  <a:srgbClr val="5D7080"/>
                </a:solidFill>
                <a:latin typeface="Aptos"/>
                <a:ea typeface="Aptos"/>
                <a:cs typeface="Aptos"/>
              </a:rPr>
              <a:t>06</a:t>
            </a:r>
          </a:p>
        </p:txBody>
      </p:sp>
      <p:cxnSp>
        <p:nvCxnSpPr>
          <p:cNvPr id="32" name=""/>
          <p:cNvCxnSpPr/>
          <p:nvPr/>
        </p:nvCxnSpPr>
        <p:spPr>
          <a:xfrm xmlns:a="http://schemas.openxmlformats.org/drawingml/2006/main">
            <a:off x="6096000" y="1809750"/>
            <a:ext cx="0" cy="3714750"/>
          </a:xfrm>
          <a:prstGeom xmlns:a="http://schemas.openxmlformats.org/drawingml/2006/main" prst="straightConnector1">
            <a:avLst/>
          </a:prstGeom>
          <a:ln xmlns:a="http://schemas.openxmlformats.org/drawingml/2006/main" w="19050">
            <a:solidFill>
              <a:srgbClr val="C9D9DC"/>
            </a:solidFill>
            <a:prstDash val="solid"/>
          </a:ln>
        </p:spPr>
      </p:cxnSp>
      <p:cxnSp>
        <p:nvCxnSpPr>
          <p:cNvPr id="33" name=""/>
          <p:cNvCxnSpPr/>
          <p:nvPr/>
        </p:nvCxnSpPr>
        <p:spPr>
          <a:xfrm xmlns:a="http://schemas.openxmlformats.org/drawingml/2006/main">
            <a:off x="533400" y="3667125"/>
            <a:ext cx="11125200" cy="0"/>
          </a:xfrm>
          <a:prstGeom xmlns:a="http://schemas.openxmlformats.org/drawingml/2006/main" prst="straightConnector1">
            <a:avLst/>
          </a:prstGeom>
          <a:ln xmlns:a="http://schemas.openxmlformats.org/drawingml/2006/main" w="19050">
            <a:solidFill>
              <a:srgbClr val="C9D9DC"/>
            </a:solidFill>
            <a:prstDash val="solid"/>
          </a:ln>
        </p:spPr>
      </p:cxnSp>
      <p:sp>
        <p:nvSpPr>
          <p:cNvPr id="6" name="">
            <a:extLst xmlns:a="http://schemas.openxmlformats.org/drawingml/2006/main">
              <a:ext uri="{FF2B5EF4-FFF2-40B4-BE49-F238E27FC236}">
                <a16:creationId xmlns:a16="http://schemas.microsoft.com/office/drawing/2014/main" id="{8FB49EB9-896A-49B9-8103-D56FCA38FA88}"/>
              </a:ext>
            </a:extLst>
          </p:cNvPr>
          <p:cNvSpPr>
            <a:spLocks xmlns:a="http://schemas.openxmlformats.org/drawingml/2006/main" noGrp="1"/>
          </p:cNvSpPr>
          <p:nvPr/>
        </p:nvSpPr>
        <p:spPr>
          <a:xfrm xmlns:a="http://schemas.openxmlformats.org/drawingml/2006/main">
            <a:off x="533400" y="1809750"/>
            <a:ext cx="571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90196"/>
          </a:bodyPr>
          <a:lstStyle xmlns:a="http://schemas.openxmlformats.org/drawingml/2006/main"/>
          <a:p xmlns:a="http://schemas.openxmlformats.org/drawingml/2006/main">
            <a:pPr algn="l">
              <a:buNone/>
              <a:defRPr sz="1275" b="1">
                <a:solidFill>
                  <a:srgbClr val="19B8A5"/>
                </a:solidFill>
                <a:latin typeface="Aptos"/>
                <a:ea typeface="Aptos"/>
                <a:cs typeface="Aptos"/>
              </a:defRPr>
            </a:pPr>
            <a:r>
              <a:rPr sz="1275" b="1">
                <a:solidFill>
                  <a:srgbClr val="19B8A5"/>
                </a:solidFill>
                <a:latin typeface="Aptos"/>
                <a:ea typeface="Aptos"/>
                <a:cs typeface="Aptos"/>
              </a:rPr>
              <a:t>01</a:t>
            </a:r>
          </a:p>
        </p:txBody>
      </p:sp>
      <p:sp>
        <p:nvSpPr>
          <p:cNvPr id="7" name="">
            <a:extLst xmlns:a="http://schemas.openxmlformats.org/drawingml/2006/main">
              <a:ext uri="{FF2B5EF4-FFF2-40B4-BE49-F238E27FC236}">
                <a16:creationId xmlns:a16="http://schemas.microsoft.com/office/drawing/2014/main" id="{E89F89D8-1855-4ABF-8034-7193B75D0F9F}"/>
              </a:ext>
            </a:extLst>
          </p:cNvPr>
          <p:cNvSpPr>
            <a:spLocks xmlns:a="http://schemas.openxmlformats.org/drawingml/2006/main" noGrp="1"/>
          </p:cNvSpPr>
          <p:nvPr/>
        </p:nvSpPr>
        <p:spPr>
          <a:xfrm xmlns:a="http://schemas.openxmlformats.org/drawingml/2006/main">
            <a:off x="533400" y="2238375"/>
            <a:ext cx="4476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84444"/>
          </a:bodyPr>
          <a:lstStyle xmlns:a="http://schemas.openxmlformats.org/drawingml/2006/main"/>
          <a:p xmlns:a="http://schemas.openxmlformats.org/drawingml/2006/main">
            <a:pPr algn="l">
              <a:buNone/>
              <a:defRPr sz="2250" b="1">
                <a:solidFill>
                  <a:srgbClr val="10212E"/>
                </a:solidFill>
                <a:latin typeface="Aptos"/>
                <a:ea typeface="Aptos"/>
                <a:cs typeface="Aptos"/>
              </a:defRPr>
            </a:pPr>
            <a:r>
              <a:rPr sz="2250" b="1">
                <a:solidFill>
                  <a:srgbClr val="10212E"/>
                </a:solidFill>
                <a:latin typeface="Aptos"/>
                <a:ea typeface="Aptos"/>
                <a:cs typeface="Aptos"/>
              </a:rPr>
              <a:t>Conversational turn</a:t>
            </a:r>
          </a:p>
        </p:txBody>
      </p:sp>
      <p:sp>
        <p:nvSpPr>
          <p:cNvPr id="8" name="">
            <a:extLst xmlns:a="http://schemas.openxmlformats.org/drawingml/2006/main">
              <a:ext uri="{FF2B5EF4-FFF2-40B4-BE49-F238E27FC236}">
                <a16:creationId xmlns:a16="http://schemas.microsoft.com/office/drawing/2014/main" id="{7A7272A9-6A2E-42F9-A3AD-973BDA13E0AB}"/>
              </a:ext>
            </a:extLst>
          </p:cNvPr>
          <p:cNvSpPr>
            <a:spLocks xmlns:a="http://schemas.openxmlformats.org/drawingml/2006/main" noGrp="1"/>
          </p:cNvSpPr>
          <p:nvPr/>
        </p:nvSpPr>
        <p:spPr>
          <a:xfrm xmlns:a="http://schemas.openxmlformats.org/drawingml/2006/main">
            <a:off x="533400" y="2762250"/>
            <a:ext cx="47625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buNone/>
              <a:defRPr sz="1575" b="0">
                <a:solidFill>
                  <a:srgbClr val="5D7080"/>
                </a:solidFill>
                <a:latin typeface="Aptos"/>
                <a:ea typeface="Aptos"/>
                <a:cs typeface="Aptos"/>
              </a:defRPr>
            </a:pPr>
            <a:r>
              <a:rPr sz="1575" b="0">
                <a:solidFill>
                  <a:srgbClr val="5D7080"/>
                </a:solidFill>
                <a:latin typeface="Aptos"/>
                <a:ea typeface="Aptos"/>
                <a:cs typeface="Aptos"/>
              </a:rPr>
              <a:t>AI returns acknowledgement + transition + nextQuestion while avoiding repetition, fake praise and score disclosure.</a:t>
            </a:r>
          </a:p>
        </p:txBody>
      </p:sp>
      <p:sp>
        <p:nvSpPr>
          <p:cNvPr id="9" name="">
            <a:extLst xmlns:a="http://schemas.openxmlformats.org/drawingml/2006/main">
              <a:ext uri="{FF2B5EF4-FFF2-40B4-BE49-F238E27FC236}">
                <a16:creationId xmlns:a16="http://schemas.microsoft.com/office/drawing/2014/main" id="{6405BB4A-655F-4E9D-811E-44D0948B5FEB}"/>
              </a:ext>
            </a:extLst>
          </p:cNvPr>
          <p:cNvSpPr>
            <a:spLocks xmlns:a="http://schemas.openxmlformats.org/drawingml/2006/main" noGrp="1"/>
          </p:cNvSpPr>
          <p:nvPr/>
        </p:nvSpPr>
        <p:spPr>
          <a:xfrm xmlns:a="http://schemas.openxmlformats.org/drawingml/2006/main">
            <a:off x="6534150" y="1809750"/>
            <a:ext cx="571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90196"/>
          </a:bodyPr>
          <a:lstStyle xmlns:a="http://schemas.openxmlformats.org/drawingml/2006/main"/>
          <a:p xmlns:a="http://schemas.openxmlformats.org/drawingml/2006/main">
            <a:pPr algn="l">
              <a:buNone/>
              <a:defRPr sz="1275" b="1">
                <a:solidFill>
                  <a:srgbClr val="19B8A5"/>
                </a:solidFill>
                <a:latin typeface="Aptos"/>
                <a:ea typeface="Aptos"/>
                <a:cs typeface="Aptos"/>
              </a:defRPr>
            </a:pPr>
            <a:r>
              <a:rPr sz="1275" b="1">
                <a:solidFill>
                  <a:srgbClr val="19B8A5"/>
                </a:solidFill>
                <a:latin typeface="Aptos"/>
                <a:ea typeface="Aptos"/>
                <a:cs typeface="Aptos"/>
              </a:rPr>
              <a:t>02</a:t>
            </a:r>
          </a:p>
        </p:txBody>
      </p:sp>
      <p:sp>
        <p:nvSpPr>
          <p:cNvPr id="10" name="">
            <a:extLst xmlns:a="http://schemas.openxmlformats.org/drawingml/2006/main">
              <a:ext uri="{FF2B5EF4-FFF2-40B4-BE49-F238E27FC236}">
                <a16:creationId xmlns:a16="http://schemas.microsoft.com/office/drawing/2014/main" id="{AC5955D4-5FAA-4D04-8AA7-2E98C9FAFCC3}"/>
              </a:ext>
            </a:extLst>
          </p:cNvPr>
          <p:cNvSpPr>
            <a:spLocks xmlns:a="http://schemas.openxmlformats.org/drawingml/2006/main" noGrp="1"/>
          </p:cNvSpPr>
          <p:nvPr/>
        </p:nvSpPr>
        <p:spPr>
          <a:xfrm xmlns:a="http://schemas.openxmlformats.org/drawingml/2006/main">
            <a:off x="6534150" y="2238375"/>
            <a:ext cx="4476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84444"/>
          </a:bodyPr>
          <a:lstStyle xmlns:a="http://schemas.openxmlformats.org/drawingml/2006/main"/>
          <a:p xmlns:a="http://schemas.openxmlformats.org/drawingml/2006/main">
            <a:pPr algn="l">
              <a:buNone/>
              <a:defRPr sz="2250" b="1">
                <a:solidFill>
                  <a:srgbClr val="10212E"/>
                </a:solidFill>
                <a:latin typeface="Aptos"/>
                <a:ea typeface="Aptos"/>
                <a:cs typeface="Aptos"/>
              </a:defRPr>
            </a:pPr>
            <a:r>
              <a:rPr sz="2250" b="1">
                <a:solidFill>
                  <a:srgbClr val="10212E"/>
                </a:solidFill>
                <a:latin typeface="Aptos"/>
                <a:ea typeface="Aptos"/>
                <a:cs typeface="Aptos"/>
              </a:rPr>
              <a:t>Time-aware orchestration</a:t>
            </a:r>
          </a:p>
        </p:txBody>
      </p:sp>
      <p:sp>
        <p:nvSpPr>
          <p:cNvPr id="11" name="">
            <a:extLst xmlns:a="http://schemas.openxmlformats.org/drawingml/2006/main">
              <a:ext uri="{FF2B5EF4-FFF2-40B4-BE49-F238E27FC236}">
                <a16:creationId xmlns:a16="http://schemas.microsoft.com/office/drawing/2014/main" id="{105D33DA-423E-4A7C-89E5-F0A13DAFF863}"/>
              </a:ext>
            </a:extLst>
          </p:cNvPr>
          <p:cNvSpPr>
            <a:spLocks xmlns:a="http://schemas.openxmlformats.org/drawingml/2006/main" noGrp="1"/>
          </p:cNvSpPr>
          <p:nvPr/>
        </p:nvSpPr>
        <p:spPr>
          <a:xfrm xmlns:a="http://schemas.openxmlformats.org/drawingml/2006/main">
            <a:off x="6534150" y="2762250"/>
            <a:ext cx="47625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buNone/>
              <a:defRPr sz="1575" b="0">
                <a:solidFill>
                  <a:srgbClr val="5D7080"/>
                </a:solidFill>
                <a:latin typeface="Aptos"/>
                <a:ea typeface="Aptos"/>
                <a:cs typeface="Aptos"/>
              </a:defRPr>
            </a:pPr>
            <a:r>
              <a:rPr sz="1575" b="0">
                <a:solidFill>
                  <a:srgbClr val="5D7080"/>
                </a:solidFill>
                <a:latin typeface="Aptos"/>
                <a:ea typeface="Aptos"/>
                <a:cs typeface="Aptos"/>
              </a:rPr>
              <a:t>Remaining time and answer depth control follow-ups, topic balance and final-question transitions.</a:t>
            </a:r>
          </a:p>
        </p:txBody>
      </p:sp>
      <p:sp>
        <p:nvSpPr>
          <p:cNvPr id="12" name="">
            <a:extLst xmlns:a="http://schemas.openxmlformats.org/drawingml/2006/main">
              <a:ext uri="{FF2B5EF4-FFF2-40B4-BE49-F238E27FC236}">
                <a16:creationId xmlns:a16="http://schemas.microsoft.com/office/drawing/2014/main" id="{D8F49B0B-0E7E-4F95-814B-E03970F5D140}"/>
              </a:ext>
            </a:extLst>
          </p:cNvPr>
          <p:cNvSpPr>
            <a:spLocks xmlns:a="http://schemas.openxmlformats.org/drawingml/2006/main" noGrp="1"/>
          </p:cNvSpPr>
          <p:nvPr/>
        </p:nvSpPr>
        <p:spPr>
          <a:xfrm xmlns:a="http://schemas.openxmlformats.org/drawingml/2006/main">
            <a:off x="533400" y="4048125"/>
            <a:ext cx="571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90196"/>
          </a:bodyPr>
          <a:lstStyle xmlns:a="http://schemas.openxmlformats.org/drawingml/2006/main"/>
          <a:p xmlns:a="http://schemas.openxmlformats.org/drawingml/2006/main">
            <a:pPr algn="l">
              <a:buNone/>
              <a:defRPr sz="1275" b="1">
                <a:solidFill>
                  <a:srgbClr val="19B8A5"/>
                </a:solidFill>
                <a:latin typeface="Aptos"/>
                <a:ea typeface="Aptos"/>
                <a:cs typeface="Aptos"/>
              </a:defRPr>
            </a:pPr>
            <a:r>
              <a:rPr sz="1275" b="1">
                <a:solidFill>
                  <a:srgbClr val="19B8A5"/>
                </a:solidFill>
                <a:latin typeface="Aptos"/>
                <a:ea typeface="Aptos"/>
                <a:cs typeface="Aptos"/>
              </a:rPr>
              <a:t>03</a:t>
            </a:r>
          </a:p>
        </p:txBody>
      </p:sp>
      <p:sp>
        <p:nvSpPr>
          <p:cNvPr id="13" name="">
            <a:extLst xmlns:a="http://schemas.openxmlformats.org/drawingml/2006/main">
              <a:ext uri="{FF2B5EF4-FFF2-40B4-BE49-F238E27FC236}">
                <a16:creationId xmlns:a16="http://schemas.microsoft.com/office/drawing/2014/main" id="{9C909FA8-7DCA-4594-B335-7ECAFCE45F97}"/>
              </a:ext>
            </a:extLst>
          </p:cNvPr>
          <p:cNvSpPr>
            <a:spLocks xmlns:a="http://schemas.openxmlformats.org/drawingml/2006/main" noGrp="1"/>
          </p:cNvSpPr>
          <p:nvPr/>
        </p:nvSpPr>
        <p:spPr>
          <a:xfrm xmlns:a="http://schemas.openxmlformats.org/drawingml/2006/main">
            <a:off x="533400" y="4476750"/>
            <a:ext cx="4476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84444"/>
          </a:bodyPr>
          <a:lstStyle xmlns:a="http://schemas.openxmlformats.org/drawingml/2006/main"/>
          <a:p xmlns:a="http://schemas.openxmlformats.org/drawingml/2006/main">
            <a:pPr algn="l">
              <a:buNone/>
              <a:defRPr sz="2250" b="1">
                <a:solidFill>
                  <a:srgbClr val="10212E"/>
                </a:solidFill>
                <a:latin typeface="Aptos"/>
                <a:ea typeface="Aptos"/>
                <a:cs typeface="Aptos"/>
              </a:defRPr>
            </a:pPr>
            <a:r>
              <a:rPr sz="2250" b="1">
                <a:solidFill>
                  <a:srgbClr val="10212E"/>
                </a:solidFill>
                <a:latin typeface="Aptos"/>
                <a:ea typeface="Aptos"/>
                <a:cs typeface="Aptos"/>
              </a:rPr>
              <a:t>Five-dimension evaluation</a:t>
            </a:r>
          </a:p>
        </p:txBody>
      </p:sp>
      <p:sp>
        <p:nvSpPr>
          <p:cNvPr id="14" name="">
            <a:extLst xmlns:a="http://schemas.openxmlformats.org/drawingml/2006/main">
              <a:ext uri="{FF2B5EF4-FFF2-40B4-BE49-F238E27FC236}">
                <a16:creationId xmlns:a16="http://schemas.microsoft.com/office/drawing/2014/main" id="{01DE0FCB-B8A0-4974-984D-32C2ED62BAC1}"/>
              </a:ext>
            </a:extLst>
          </p:cNvPr>
          <p:cNvSpPr>
            <a:spLocks xmlns:a="http://schemas.openxmlformats.org/drawingml/2006/main" noGrp="1"/>
          </p:cNvSpPr>
          <p:nvPr/>
        </p:nvSpPr>
        <p:spPr>
          <a:xfrm xmlns:a="http://schemas.openxmlformats.org/drawingml/2006/main">
            <a:off x="533400" y="5000625"/>
            <a:ext cx="47625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buNone/>
              <a:defRPr sz="1575" b="0">
                <a:solidFill>
                  <a:srgbClr val="5D7080"/>
                </a:solidFill>
                <a:latin typeface="Aptos"/>
                <a:ea typeface="Aptos"/>
                <a:cs typeface="Aptos"/>
              </a:defRPr>
            </a:pPr>
            <a:r>
              <a:rPr sz="1575" b="0">
                <a:solidFill>
                  <a:srgbClr val="5D7080"/>
                </a:solidFill>
                <a:latin typeface="Aptos"/>
                <a:ea typeface="Aptos"/>
                <a:cs typeface="Aptos"/>
              </a:rPr>
              <a:t>Technical Accuracy, Clarity, Relevance, Problem Solving and Communication score every answer.</a:t>
            </a:r>
          </a:p>
        </p:txBody>
      </p:sp>
      <p:sp>
        <p:nvSpPr>
          <p:cNvPr id="15" name="">
            <a:extLst xmlns:a="http://schemas.openxmlformats.org/drawingml/2006/main">
              <a:ext uri="{FF2B5EF4-FFF2-40B4-BE49-F238E27FC236}">
                <a16:creationId xmlns:a16="http://schemas.microsoft.com/office/drawing/2014/main" id="{5AA52610-5E47-40E3-BED6-06BBA137CB16}"/>
              </a:ext>
            </a:extLst>
          </p:cNvPr>
          <p:cNvSpPr>
            <a:spLocks xmlns:a="http://schemas.openxmlformats.org/drawingml/2006/main" noGrp="1"/>
          </p:cNvSpPr>
          <p:nvPr/>
        </p:nvSpPr>
        <p:spPr>
          <a:xfrm xmlns:a="http://schemas.openxmlformats.org/drawingml/2006/main">
            <a:off x="6534150" y="4048125"/>
            <a:ext cx="571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90196"/>
          </a:bodyPr>
          <a:lstStyle xmlns:a="http://schemas.openxmlformats.org/drawingml/2006/main"/>
          <a:p xmlns:a="http://schemas.openxmlformats.org/drawingml/2006/main">
            <a:pPr algn="l">
              <a:buNone/>
              <a:defRPr sz="1275" b="1">
                <a:solidFill>
                  <a:srgbClr val="19B8A5"/>
                </a:solidFill>
                <a:latin typeface="Aptos"/>
                <a:ea typeface="Aptos"/>
                <a:cs typeface="Aptos"/>
              </a:defRPr>
            </a:pPr>
            <a:r>
              <a:rPr sz="1275" b="1">
                <a:solidFill>
                  <a:srgbClr val="19B8A5"/>
                </a:solidFill>
                <a:latin typeface="Aptos"/>
                <a:ea typeface="Aptos"/>
                <a:cs typeface="Aptos"/>
              </a:rPr>
              <a:t>04</a:t>
            </a:r>
          </a:p>
        </p:txBody>
      </p:sp>
      <p:sp>
        <p:nvSpPr>
          <p:cNvPr id="16" name="">
            <a:extLst xmlns:a="http://schemas.openxmlformats.org/drawingml/2006/main">
              <a:ext uri="{FF2B5EF4-FFF2-40B4-BE49-F238E27FC236}">
                <a16:creationId xmlns:a16="http://schemas.microsoft.com/office/drawing/2014/main" id="{EAC59123-EE53-4822-AD7C-9EE58F8FD845}"/>
              </a:ext>
            </a:extLst>
          </p:cNvPr>
          <p:cNvSpPr>
            <a:spLocks xmlns:a="http://schemas.openxmlformats.org/drawingml/2006/main" noGrp="1"/>
          </p:cNvSpPr>
          <p:nvPr/>
        </p:nvSpPr>
        <p:spPr>
          <a:xfrm xmlns:a="http://schemas.openxmlformats.org/drawingml/2006/main">
            <a:off x="6534150" y="4476750"/>
            <a:ext cx="4476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84444"/>
          </a:bodyPr>
          <a:lstStyle xmlns:a="http://schemas.openxmlformats.org/drawingml/2006/main"/>
          <a:p xmlns:a="http://schemas.openxmlformats.org/drawingml/2006/main">
            <a:pPr algn="l">
              <a:buNone/>
              <a:defRPr sz="2250" b="1">
                <a:solidFill>
                  <a:srgbClr val="10212E"/>
                </a:solidFill>
                <a:latin typeface="Aptos"/>
                <a:ea typeface="Aptos"/>
                <a:cs typeface="Aptos"/>
              </a:defRPr>
            </a:pPr>
            <a:r>
              <a:rPr sz="2250" b="1">
                <a:solidFill>
                  <a:srgbClr val="10212E"/>
                </a:solidFill>
                <a:latin typeface="Aptos"/>
                <a:ea typeface="Aptos"/>
                <a:cs typeface="Aptos"/>
              </a:rPr>
              <a:t>Report → roadmap</a:t>
            </a:r>
          </a:p>
        </p:txBody>
      </p:sp>
      <p:sp>
        <p:nvSpPr>
          <p:cNvPr id="17" name="">
            <a:extLst xmlns:a="http://schemas.openxmlformats.org/drawingml/2006/main">
              <a:ext uri="{FF2B5EF4-FFF2-40B4-BE49-F238E27FC236}">
                <a16:creationId xmlns:a16="http://schemas.microsoft.com/office/drawing/2014/main" id="{57A26E47-B774-4A54-AF20-D80C58B6BE01}"/>
              </a:ext>
            </a:extLst>
          </p:cNvPr>
          <p:cNvSpPr>
            <a:spLocks xmlns:a="http://schemas.openxmlformats.org/drawingml/2006/main" noGrp="1"/>
          </p:cNvSpPr>
          <p:nvPr/>
        </p:nvSpPr>
        <p:spPr>
          <a:xfrm xmlns:a="http://schemas.openxmlformats.org/drawingml/2006/main">
            <a:off x="6534150" y="5000625"/>
            <a:ext cx="47625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buNone/>
              <a:defRPr sz="1575" b="0">
                <a:solidFill>
                  <a:srgbClr val="5D7080"/>
                </a:solidFill>
                <a:latin typeface="Aptos"/>
                <a:ea typeface="Aptos"/>
                <a:cs typeface="Aptos"/>
              </a:defRPr>
            </a:pPr>
            <a:r>
              <a:rPr sz="1575" b="0">
                <a:solidFill>
                  <a:srgbClr val="5D7080"/>
                </a:solidFill>
                <a:latin typeface="Aptos"/>
                <a:ea typeface="Aptos"/>
                <a:cs typeface="Aptos"/>
              </a:rPr>
              <a:t>Readiness gauge, radar, per-question review, strengths, gaps, priority focus, quick wins and practice prompts.</a:t>
            </a:r>
          </a:p>
        </p:txBody>
      </p:sp>
      <p:sp>
        <p:nvSpPr>
          <p:cNvPr id="18" name="">
            <a:extLst xmlns:a="http://schemas.openxmlformats.org/drawingml/2006/main">
              <a:ext uri="{FF2B5EF4-FFF2-40B4-BE49-F238E27FC236}">
                <a16:creationId xmlns:a16="http://schemas.microsoft.com/office/drawing/2014/main" id="{C02F527B-FD45-4B0E-9124-5FF8D4BB086B}"/>
              </a:ext>
            </a:extLst>
          </p:cNvPr>
          <p:cNvSpPr>
            <a:spLocks xmlns:a="http://schemas.openxmlformats.org/drawingml/2006/main" noGrp="1"/>
          </p:cNvSpPr>
          <p:nvPr/>
        </p:nvSpPr>
        <p:spPr>
          <a:xfrm xmlns:a="http://schemas.openxmlformats.org/drawingml/2006/main">
            <a:off x="533400" y="5953125"/>
            <a:ext cx="9810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94667"/>
          </a:bodyPr>
          <a:lstStyle xmlns:a="http://schemas.openxmlformats.org/drawingml/2006/main"/>
          <a:p xmlns:a="http://schemas.openxmlformats.org/drawingml/2006/main">
            <a:pPr algn="l">
              <a:buNone/>
              <a:defRPr sz="1875" b="1">
                <a:solidFill>
                  <a:srgbClr val="19B8A5"/>
                </a:solidFill>
                <a:latin typeface="Aptos"/>
                <a:ea typeface="Aptos"/>
                <a:cs typeface="Aptos"/>
              </a:defRPr>
            </a:pPr>
            <a:r>
              <a:rPr sz="1875" b="1">
                <a:solidFill>
                  <a:srgbClr val="19B8A5"/>
                </a:solidFill>
                <a:latin typeface="Aptos"/>
                <a:ea typeface="Aptos"/>
                <a:cs typeface="Aptos"/>
              </a:rPr>
              <a:t>Readiness = mean answer score × 10; dashboard and history show real scored sessions only.</a:t>
            </a:r>
          </a:p>
        </p:txBody>
      </p:sp>
    </p:spTree>
    <p:extLst>
      <p:ext uri="{BB962C8B-B14F-4D97-AF65-F5344CB8AC3E}">
        <p14:creationId xmlns:p14="http://schemas.microsoft.com/office/powerpoint/2010/main" val="973948799"/>
      </p:ext>
    </p:extLst>
  </p:cSld>
</p:sld>
</file>

<file path=ppt/slides/slide7.xml><?xml version="1.0" encoding="utf-8"?>
<p:sld xmlns:p="http://schemas.openxmlformats.org/presentationml/2006/main">
  <p:cSld>
    <p:bg>
      <p:bgPr>
        <a:solidFill xmlns:a="http://schemas.openxmlformats.org/drawingml/2006/main">
          <a:srgbClr val="081521"/>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C4DAA86A-BB25-4ED8-BADE-DA0F8ACE33DC}"/>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oundRect">
            <a:avLst>
              <a:gd name="adj" fmla="val 50000"/>
            </a:avLst>
          </a:prstGeom>
          <a:solidFill xmlns:a="http://schemas.openxmlformats.org/drawingml/2006/main">
            <a:srgbClr val="19B8A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A00AA207-3E4E-44DD-BE1D-D5ADEC4029D7}"/>
              </a:ext>
            </a:extLst>
          </p:cNvPr>
          <p:cNvSpPr>
            <a:spLocks xmlns:a="http://schemas.openxmlformats.org/drawingml/2006/main" noGrp="1"/>
          </p:cNvSpPr>
          <p:nvPr/>
        </p:nvSpPr>
        <p:spPr>
          <a:xfrm xmlns:a="http://schemas.openxmlformats.org/drawingml/2006/main">
            <a:off x="666750" y="552450"/>
            <a:ext cx="4381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buNone/>
              <a:defRPr sz="1350" b="1">
                <a:solidFill>
                  <a:srgbClr val="68D9D0"/>
                </a:solidFill>
                <a:latin typeface="Aptos"/>
                <a:ea typeface="Aptos"/>
                <a:cs typeface="Aptos"/>
              </a:defRPr>
            </a:pPr>
            <a:r>
              <a:rPr sz="1350" b="1">
                <a:solidFill>
                  <a:srgbClr val="68D9D0"/>
                </a:solidFill>
                <a:latin typeface="Aptos"/>
                <a:ea typeface="Aptos"/>
                <a:cs typeface="Aptos"/>
              </a:rPr>
              <a:t>TEAM PHANTOM · PREPPILOT</a:t>
            </a:r>
          </a:p>
        </p:txBody>
      </p:sp>
      <p:sp>
        <p:nvSpPr>
          <p:cNvPr id="3" name="">
            <a:extLst xmlns:a="http://schemas.openxmlformats.org/drawingml/2006/main">
              <a:ext uri="{FF2B5EF4-FFF2-40B4-BE49-F238E27FC236}">
                <a16:creationId xmlns:a16="http://schemas.microsoft.com/office/drawing/2014/main" id="{4D55D5B2-4B93-4C10-9972-B8579A248CAF}"/>
              </a:ext>
            </a:extLst>
          </p:cNvPr>
          <p:cNvSpPr>
            <a:spLocks xmlns:a="http://schemas.openxmlformats.org/drawingml/2006/main" noGrp="1"/>
          </p:cNvSpPr>
          <p:nvPr/>
        </p:nvSpPr>
        <p:spPr>
          <a:xfrm xmlns:a="http://schemas.openxmlformats.org/drawingml/2006/main">
            <a:off x="666750" y="1619250"/>
            <a:ext cx="8572500" cy="1905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buNone/>
              <a:defRPr sz="5100" b="1">
                <a:solidFill>
                  <a:srgbClr val="FFFFFF"/>
                </a:solidFill>
                <a:latin typeface="Aptos"/>
                <a:ea typeface="Aptos"/>
                <a:cs typeface="Aptos"/>
              </a:defRPr>
            </a:pPr>
            <a:r>
              <a:rPr sz="5100" b="1">
                <a:solidFill>
                  <a:srgbClr val="FFFFFF"/>
                </a:solidFill>
                <a:latin typeface="Aptos"/>
                <a:ea typeface="Aptos"/>
                <a:cs typeface="Aptos"/>
              </a:rPr>
              <a:t>Adaptive interviews.</a:t>
            </a:r>
          </a:p>
          <a:p xmlns:a="http://schemas.openxmlformats.org/drawingml/2006/main">
            <a:pPr algn="l">
              <a:buNone/>
              <a:defRPr sz="5100" b="1">
                <a:solidFill>
                  <a:srgbClr val="FFFFFF"/>
                </a:solidFill>
                <a:latin typeface="Aptos"/>
                <a:ea typeface="Aptos"/>
                <a:cs typeface="Aptos"/>
              </a:defRPr>
            </a:pPr>
            <a:r>
              <a:rPr sz="5100" b="1">
                <a:solidFill>
                  <a:srgbClr val="FFFFFF"/>
                </a:solidFill>
                <a:latin typeface="Aptos"/>
                <a:ea typeface="Aptos"/>
                <a:cs typeface="Aptos"/>
              </a:rPr>
              <a:t>Actionable improvement.</a:t>
            </a:r>
          </a:p>
        </p:txBody>
      </p:sp>
      <p:sp>
        <p:nvSpPr>
          <p:cNvPr id="4" name="">
            <a:extLst xmlns:a="http://schemas.openxmlformats.org/drawingml/2006/main">
              <a:ext uri="{FF2B5EF4-FFF2-40B4-BE49-F238E27FC236}">
                <a16:creationId xmlns:a16="http://schemas.microsoft.com/office/drawing/2014/main" id="{B280A25E-B052-4F7D-BFE7-4C411D151FCF}"/>
              </a:ext>
            </a:extLst>
          </p:cNvPr>
          <p:cNvSpPr>
            <a:spLocks xmlns:a="http://schemas.openxmlformats.org/drawingml/2006/main" noGrp="1"/>
          </p:cNvSpPr>
          <p:nvPr/>
        </p:nvSpPr>
        <p:spPr>
          <a:xfrm xmlns:a="http://schemas.openxmlformats.org/drawingml/2006/main">
            <a:off x="714375" y="3886200"/>
            <a:ext cx="5715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buNone/>
              <a:defRPr sz="2250" b="0">
                <a:solidFill>
                  <a:srgbClr val="68D9D0"/>
                </a:solidFill>
                <a:latin typeface="Aptos"/>
                <a:ea typeface="Aptos"/>
                <a:cs typeface="Aptos"/>
              </a:defRPr>
            </a:pPr>
            <a:r>
              <a:rPr sz="2250" b="0">
                <a:solidFill>
                  <a:srgbClr val="68D9D0"/>
                </a:solidFill>
                <a:latin typeface="Aptos"/>
                <a:ea typeface="Aptos"/>
                <a:cs typeface="Aptos"/>
              </a:rPr>
              <a:t>Resume-aware · Time-aware · Measurable</a:t>
            </a:r>
          </a:p>
        </p:txBody>
      </p:sp>
      <p:cxnSp>
        <p:nvCxnSpPr>
          <p:cNvPr id="24" name=""/>
          <p:cNvCxnSpPr/>
          <p:nvPr/>
        </p:nvCxnSpPr>
        <p:spPr>
          <a:xfrm xmlns:a="http://schemas.openxmlformats.org/drawingml/2006/main">
            <a:off x="666750" y="4953000"/>
            <a:ext cx="10287000" cy="0"/>
          </a:xfrm>
          <a:prstGeom xmlns:a="http://schemas.openxmlformats.org/drawingml/2006/main" prst="straightConnector1">
            <a:avLst/>
          </a:prstGeom>
          <a:ln xmlns:a="http://schemas.openxmlformats.org/drawingml/2006/main" w="19050">
            <a:solidFill>
              <a:srgbClr val="274557"/>
            </a:solidFill>
            <a:prstDash val="solid"/>
          </a:ln>
        </p:spPr>
      </p:cxnSp>
      <p:sp>
        <p:nvSpPr>
          <p:cNvPr id="6" name="">
            <a:extLst xmlns:a="http://schemas.openxmlformats.org/drawingml/2006/main">
              <a:ext uri="{FF2B5EF4-FFF2-40B4-BE49-F238E27FC236}">
                <a16:creationId xmlns:a16="http://schemas.microsoft.com/office/drawing/2014/main" id="{ACD2F370-36C0-43BA-A0D5-E4BFDF70F1E6}"/>
              </a:ext>
            </a:extLst>
          </p:cNvPr>
          <p:cNvSpPr>
            <a:spLocks xmlns:a="http://schemas.openxmlformats.org/drawingml/2006/main" noGrp="1"/>
          </p:cNvSpPr>
          <p:nvPr/>
        </p:nvSpPr>
        <p:spPr>
          <a:xfrm xmlns:a="http://schemas.openxmlformats.org/drawingml/2006/main">
            <a:off x="714375" y="5334000"/>
            <a:ext cx="4095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92424"/>
          </a:bodyPr>
          <a:lstStyle xmlns:a="http://schemas.openxmlformats.org/drawingml/2006/main"/>
          <a:p xmlns:a="http://schemas.openxmlformats.org/drawingml/2006/main">
            <a:pPr algn="l">
              <a:buNone/>
              <a:defRPr sz="1650" b="0">
                <a:solidFill>
                  <a:srgbClr val="FFFFFF"/>
                </a:solidFill>
                <a:latin typeface="Aptos"/>
                <a:ea typeface="Aptos"/>
                <a:cs typeface="Aptos"/>
              </a:defRPr>
            </a:pPr>
            <a:r>
              <a:rPr sz="1650" b="0">
                <a:solidFill>
                  <a:srgbClr val="FFFFFF"/>
                </a:solidFill>
                <a:latin typeface="Aptos"/>
                <a:ea typeface="Aptos"/>
                <a:cs typeface="Aptos"/>
              </a:rPr>
              <a:t>Suhani Mahajan · Team Leader</a:t>
            </a:r>
          </a:p>
        </p:txBody>
      </p:sp>
      <p:sp>
        <p:nvSpPr>
          <p:cNvPr id="7" name="">
            <a:extLst xmlns:a="http://schemas.openxmlformats.org/drawingml/2006/main">
              <a:ext uri="{FF2B5EF4-FFF2-40B4-BE49-F238E27FC236}">
                <a16:creationId xmlns:a16="http://schemas.microsoft.com/office/drawing/2014/main" id="{EC33361F-DAA4-4C89-A056-1341B662477E}"/>
              </a:ext>
            </a:extLst>
          </p:cNvPr>
          <p:cNvSpPr>
            <a:spLocks xmlns:a="http://schemas.openxmlformats.org/drawingml/2006/main" noGrp="1"/>
          </p:cNvSpPr>
          <p:nvPr/>
        </p:nvSpPr>
        <p:spPr>
          <a:xfrm xmlns:a="http://schemas.openxmlformats.org/drawingml/2006/main">
            <a:off x="714375" y="5762625"/>
            <a:ext cx="4095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92424"/>
          </a:bodyPr>
          <a:lstStyle xmlns:a="http://schemas.openxmlformats.org/drawingml/2006/main"/>
          <a:p xmlns:a="http://schemas.openxmlformats.org/drawingml/2006/main">
            <a:pPr algn="l">
              <a:buNone/>
              <a:defRPr sz="1650" b="0">
                <a:solidFill>
                  <a:srgbClr val="FFFFFF"/>
                </a:solidFill>
                <a:latin typeface="Aptos"/>
                <a:ea typeface="Aptos"/>
                <a:cs typeface="Aptos"/>
              </a:defRPr>
            </a:pPr>
            <a:r>
              <a:rPr sz="1650" b="0">
                <a:solidFill>
                  <a:srgbClr val="FFFFFF"/>
                </a:solidFill>
                <a:latin typeface="Aptos"/>
                <a:ea typeface="Aptos"/>
                <a:cs typeface="Aptos"/>
              </a:rPr>
              <a:t>Divyam Madan · Team Member</a:t>
            </a:r>
          </a:p>
        </p:txBody>
      </p:sp>
      <p:sp>
        <p:nvSpPr>
          <p:cNvPr id="8" name="">
            <a:extLst xmlns:a="http://schemas.openxmlformats.org/drawingml/2006/main">
              <a:ext uri="{FF2B5EF4-FFF2-40B4-BE49-F238E27FC236}">
                <a16:creationId xmlns:a16="http://schemas.microsoft.com/office/drawing/2014/main" id="{515728A9-1DE8-4A77-A115-BC54E1734962}"/>
              </a:ext>
            </a:extLst>
          </p:cNvPr>
          <p:cNvSpPr>
            <a:spLocks xmlns:a="http://schemas.openxmlformats.org/drawingml/2006/main" noGrp="1"/>
          </p:cNvSpPr>
          <p:nvPr/>
        </p:nvSpPr>
        <p:spPr>
          <a:xfrm xmlns:a="http://schemas.openxmlformats.org/drawingml/2006/main">
            <a:off x="7334250" y="5543550"/>
            <a:ext cx="3619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r">
              <a:buNone/>
              <a:defRPr sz="1350" b="1">
                <a:solidFill>
                  <a:srgbClr val="68D9D0"/>
                </a:solidFill>
                <a:latin typeface="Aptos"/>
                <a:ea typeface="Aptos"/>
                <a:cs typeface="Aptos"/>
              </a:defRPr>
            </a:pPr>
            <a:r>
              <a:rPr sz="1350" b="1">
                <a:solidFill>
                  <a:srgbClr val="68D9D0"/>
                </a:solidFill>
                <a:latin typeface="Aptos"/>
                <a:ea typeface="Aptos"/>
                <a:cs typeface="Aptos"/>
              </a:rPr>
              <a:t>GEN AI · PROBLEM STATEMENT 2</a:t>
            </a:r>
          </a:p>
        </p:txBody>
      </p:sp>
      <p:sp>
        <p:nvSpPr>
          <p:cNvPr id="9" name="">
            <a:extLst xmlns:a="http://schemas.openxmlformats.org/drawingml/2006/main">
              <a:ext uri="{FF2B5EF4-FFF2-40B4-BE49-F238E27FC236}">
                <a16:creationId xmlns:a16="http://schemas.microsoft.com/office/drawing/2014/main" id="{C69CFE8F-0958-41C6-ABE2-C66ED26D43E0}"/>
              </a:ext>
            </a:extLst>
          </p:cNvPr>
          <p:cNvSpPr>
            <a:spLocks xmlns:a="http://schemas.openxmlformats.org/drawingml/2006/main" noGrp="1"/>
          </p:cNvSpPr>
          <p:nvPr/>
        </p:nvSpPr>
        <p:spPr>
          <a:xfrm xmlns:a="http://schemas.openxmlformats.org/drawingml/2006/main">
            <a:off x="9334500" y="495300"/>
            <a:ext cx="1905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98611"/>
          </a:bodyPr>
          <a:lstStyle xmlns:a="http://schemas.openxmlformats.org/drawingml/2006/main"/>
          <a:p xmlns:a="http://schemas.openxmlformats.org/drawingml/2006/main">
            <a:pPr algn="r">
              <a:buNone/>
              <a:defRPr sz="1800" b="1">
                <a:solidFill>
                  <a:srgbClr val="68D9D0"/>
                </a:solidFill>
                <a:latin typeface="Aptos"/>
                <a:ea typeface="Aptos"/>
                <a:cs typeface="Aptos"/>
              </a:defRPr>
            </a:pPr>
            <a:r>
              <a:rPr sz="1800" b="1">
                <a:solidFill>
                  <a:srgbClr val="68D9D0"/>
                </a:solidFill>
                <a:latin typeface="Aptos"/>
                <a:ea typeface="Aptos"/>
                <a:cs typeface="Aptos"/>
              </a:rPr>
              <a:t>Questions?</a:t>
            </a:r>
          </a:p>
        </p:txBody>
      </p:sp>
    </p:spTree>
    <p:extLst>
      <p:ext uri="{BB962C8B-B14F-4D97-AF65-F5344CB8AC3E}">
        <p14:creationId xmlns:p14="http://schemas.microsoft.com/office/powerpoint/2010/main" val="191608744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2026-07-25T20:37:27.9180000Z</dcterms:created>
  <dcterms:modified xsi:type="dcterms:W3CDTF">2026-07-25T20:37:27.9180000Z</dcterms:modified>
</coreProperties>
</file>